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8"/>
  </p:notesMasterIdLst>
  <p:sldIdLst>
    <p:sldId id="746" r:id="rId2"/>
    <p:sldId id="747" r:id="rId3"/>
    <p:sldId id="749" r:id="rId4"/>
    <p:sldId id="748" r:id="rId5"/>
    <p:sldId id="750" r:id="rId6"/>
    <p:sldId id="751" r:id="rId7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C0D4"/>
    <a:srgbClr val="5B9BD5"/>
    <a:srgbClr val="0000FF"/>
    <a:srgbClr val="9900CC"/>
    <a:srgbClr val="009900"/>
    <a:srgbClr val="FF00FF"/>
    <a:srgbClr val="00FFFF"/>
    <a:srgbClr val="FFFF00"/>
    <a:srgbClr val="FF0000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6" autoAdjust="0"/>
    <p:restoredTop sz="86439" autoAdjust="0"/>
  </p:normalViewPr>
  <p:slideViewPr>
    <p:cSldViewPr>
      <p:cViewPr varScale="1">
        <p:scale>
          <a:sx n="83" d="100"/>
          <a:sy n="83" d="100"/>
        </p:scale>
        <p:origin x="1376" y="52"/>
      </p:cViewPr>
      <p:guideLst>
        <p:guide orient="horz" pos="2160"/>
        <p:guide pos="2880"/>
      </p:guideLst>
    </p:cSldViewPr>
  </p:slideViewPr>
  <p:outlineViewPr>
    <p:cViewPr>
      <p:scale>
        <a:sx n="25" d="100"/>
        <a:sy n="25" d="100"/>
      </p:scale>
      <p:origin x="0" y="-151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297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D2D9ED-F008-4B5F-9525-3D2B5EB9B0E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5556EB6-77CF-499D-BB6E-2C5024EC1F11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 cap="none" dirty="0"/>
            <a:t>Lecture + Problem Sets</a:t>
          </a:r>
          <a:r>
            <a:rPr lang="en-US" sz="1600" cap="none" dirty="0"/>
            <a:t>: We will discuss algorithms appropriate for different tasks and types of environments. Problem sets will improve the understanding. </a:t>
          </a:r>
        </a:p>
      </dgm:t>
    </dgm:pt>
    <dgm:pt modelId="{A0502F33-FF3E-4CDA-BF79-BFD6A8042CB4}" type="parTrans" cxnId="{2D3F6008-DDCC-40AC-AE52-C234FBC376D5}">
      <dgm:prSet/>
      <dgm:spPr/>
      <dgm:t>
        <a:bodyPr/>
        <a:lstStyle/>
        <a:p>
          <a:endParaRPr lang="en-US"/>
        </a:p>
      </dgm:t>
    </dgm:pt>
    <dgm:pt modelId="{F3A3D373-011E-46F0-BFFD-E173B7E1F018}" type="sibTrans" cxnId="{2D3F6008-DDCC-40AC-AE52-C234FBC376D5}">
      <dgm:prSet/>
      <dgm:spPr/>
      <dgm:t>
        <a:bodyPr/>
        <a:lstStyle/>
        <a:p>
          <a:endParaRPr lang="en-US"/>
        </a:p>
      </dgm:t>
    </dgm:pt>
    <dgm:pt modelId="{FD37932E-AB41-4F9E-B178-8A6DF0D730CD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 cap="none" dirty="0"/>
            <a:t>Projects</a:t>
          </a:r>
          <a:r>
            <a:rPr lang="en-US" sz="1600" cap="none" dirty="0"/>
            <a:t>: You will implement algorithms to solve several tasks and conduct experiments to investigate how well the algorithms work and how they scale with problem size. </a:t>
          </a:r>
        </a:p>
      </dgm:t>
      <dgm:extLst>
        <a:ext uri="{E40237B7-FDA0-4F09-8148-C483321AD2D9}">
          <dgm14:cNvPr xmlns:dgm14="http://schemas.microsoft.com/office/drawing/2010/diagram" id="0" name="" descr="You will implement algorithms to solve several tasks and conduct experiments to investigate how well the algorithms work and how they scale with problem size. "/>
        </a:ext>
      </dgm:extLst>
    </dgm:pt>
    <dgm:pt modelId="{B268A2BD-0C9E-4DCF-91BA-E16A455E029C}" type="parTrans" cxnId="{47E824B7-3212-4E68-B17D-01C286CB2575}">
      <dgm:prSet/>
      <dgm:spPr/>
      <dgm:t>
        <a:bodyPr/>
        <a:lstStyle/>
        <a:p>
          <a:endParaRPr lang="en-US"/>
        </a:p>
      </dgm:t>
    </dgm:pt>
    <dgm:pt modelId="{E5EB9EE9-E9CD-4FDC-9F83-012E5F75DF28}" type="sibTrans" cxnId="{47E824B7-3212-4E68-B17D-01C286CB2575}">
      <dgm:prSet/>
      <dgm:spPr/>
      <dgm:t>
        <a:bodyPr/>
        <a:lstStyle/>
        <a:p>
          <a:endParaRPr lang="en-US"/>
        </a:p>
      </dgm:t>
    </dgm:pt>
    <dgm:pt modelId="{343D494A-2D2E-4876-BC06-03FE2CAE800A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 cap="none" dirty="0"/>
            <a:t>Exams: </a:t>
          </a:r>
          <a:r>
            <a:rPr lang="en-US" sz="1600" b="0" cap="none" dirty="0"/>
            <a:t>Checks knowledge of AI concepts and the ability to apply them.</a:t>
          </a:r>
          <a:endParaRPr lang="en-US" sz="1600" b="1" cap="none" dirty="0"/>
        </a:p>
      </dgm:t>
      <dgm:extLst>
        <a:ext uri="{E40237B7-FDA0-4F09-8148-C483321AD2D9}">
          <dgm14:cNvPr xmlns:dgm14="http://schemas.microsoft.com/office/drawing/2010/diagram" id="0" name="" descr="You will implement algorithms to solve several tasks and conduct experiments to investigate how well the algorithms work and how they scale with problem size. "/>
        </a:ext>
      </dgm:extLst>
    </dgm:pt>
    <dgm:pt modelId="{477F5A59-B38B-457D-A879-B8D83A751434}" type="parTrans" cxnId="{698395C8-DCEE-4D98-952C-CCFDAF0E21BB}">
      <dgm:prSet/>
      <dgm:spPr/>
      <dgm:t>
        <a:bodyPr/>
        <a:lstStyle/>
        <a:p>
          <a:endParaRPr lang="en-US"/>
        </a:p>
      </dgm:t>
    </dgm:pt>
    <dgm:pt modelId="{EA5533A2-E0A4-4FB3-82BC-2C084507BD7D}" type="sibTrans" cxnId="{698395C8-DCEE-4D98-952C-CCFDAF0E21BB}">
      <dgm:prSet/>
      <dgm:spPr/>
      <dgm:t>
        <a:bodyPr/>
        <a:lstStyle/>
        <a:p>
          <a:endParaRPr lang="en-US"/>
        </a:p>
      </dgm:t>
    </dgm:pt>
    <dgm:pt modelId="{691847A3-79DF-4D9A-862B-527494AC6810}" type="pres">
      <dgm:prSet presAssocID="{67D2D9ED-F008-4B5F-9525-3D2B5EB9B0EC}" presName="root" presStyleCnt="0">
        <dgm:presLayoutVars>
          <dgm:dir/>
          <dgm:resizeHandles val="exact"/>
        </dgm:presLayoutVars>
      </dgm:prSet>
      <dgm:spPr/>
    </dgm:pt>
    <dgm:pt modelId="{57AEA7ED-7400-46FB-B788-DC93A6CEA299}" type="pres">
      <dgm:prSet presAssocID="{85556EB6-77CF-499D-BB6E-2C5024EC1F11}" presName="compNode" presStyleCnt="0"/>
      <dgm:spPr/>
    </dgm:pt>
    <dgm:pt modelId="{08A12263-E4A9-4A00-88E6-3846A16416C1}" type="pres">
      <dgm:prSet presAssocID="{85556EB6-77CF-499D-BB6E-2C5024EC1F11}" presName="iconBgRect" presStyleLbl="bgShp" presStyleIdx="0" presStyleCnt="3"/>
      <dgm:spPr/>
    </dgm:pt>
    <dgm:pt modelId="{86982F10-A107-426F-B3DF-5C8430D602FE}" type="pres">
      <dgm:prSet presAssocID="{85556EB6-77CF-499D-BB6E-2C5024EC1F1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6F34AEE-C90C-490B-B05A-0CF8911036E6}" type="pres">
      <dgm:prSet presAssocID="{85556EB6-77CF-499D-BB6E-2C5024EC1F11}" presName="spaceRect" presStyleCnt="0"/>
      <dgm:spPr/>
    </dgm:pt>
    <dgm:pt modelId="{75CDBA54-D425-4D8F-91AD-9709476643B9}" type="pres">
      <dgm:prSet presAssocID="{85556EB6-77CF-499D-BB6E-2C5024EC1F11}" presName="textRect" presStyleLbl="revTx" presStyleIdx="0" presStyleCnt="3" custScaleX="180132">
        <dgm:presLayoutVars>
          <dgm:chMax val="1"/>
          <dgm:chPref val="1"/>
        </dgm:presLayoutVars>
      </dgm:prSet>
      <dgm:spPr/>
    </dgm:pt>
    <dgm:pt modelId="{07FA76DA-9D4B-45C4-AD2E-7CECAF062D28}" type="pres">
      <dgm:prSet presAssocID="{F3A3D373-011E-46F0-BFFD-E173B7E1F018}" presName="sibTrans" presStyleCnt="0"/>
      <dgm:spPr/>
    </dgm:pt>
    <dgm:pt modelId="{6C28C8B4-E0AA-4AA0-989D-A8BA14913931}" type="pres">
      <dgm:prSet presAssocID="{FD37932E-AB41-4F9E-B178-8A6DF0D730CD}" presName="compNode" presStyleCnt="0"/>
      <dgm:spPr/>
    </dgm:pt>
    <dgm:pt modelId="{38F2B982-E76D-43F8-875F-C9F7F87FB6F0}" type="pres">
      <dgm:prSet presAssocID="{FD37932E-AB41-4F9E-B178-8A6DF0D730CD}" presName="iconBgRect" presStyleLbl="bgShp" presStyleIdx="1" presStyleCnt="3"/>
      <dgm:spPr/>
    </dgm:pt>
    <dgm:pt modelId="{4DA6517A-86C8-4E8B-867A-3B85CA151A02}" type="pres">
      <dgm:prSet presAssocID="{FD37932E-AB41-4F9E-B178-8A6DF0D730C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A6481FB-2447-4EBA-8327-1D3DCA8AF792}" type="pres">
      <dgm:prSet presAssocID="{FD37932E-AB41-4F9E-B178-8A6DF0D730CD}" presName="spaceRect" presStyleCnt="0"/>
      <dgm:spPr/>
    </dgm:pt>
    <dgm:pt modelId="{D299793F-65DD-49BB-939C-47011274A408}" type="pres">
      <dgm:prSet presAssocID="{FD37932E-AB41-4F9E-B178-8A6DF0D730CD}" presName="textRect" presStyleLbl="revTx" presStyleIdx="1" presStyleCnt="3" custScaleX="155608">
        <dgm:presLayoutVars>
          <dgm:chMax val="1"/>
          <dgm:chPref val="1"/>
        </dgm:presLayoutVars>
      </dgm:prSet>
      <dgm:spPr/>
    </dgm:pt>
    <dgm:pt modelId="{C86814F7-C00B-4719-A8C6-E88FDD196FE4}" type="pres">
      <dgm:prSet presAssocID="{E5EB9EE9-E9CD-4FDC-9F83-012E5F75DF28}" presName="sibTrans" presStyleCnt="0"/>
      <dgm:spPr/>
    </dgm:pt>
    <dgm:pt modelId="{070C5CC5-EF16-42B0-937B-4090C16771AF}" type="pres">
      <dgm:prSet presAssocID="{343D494A-2D2E-4876-BC06-03FE2CAE800A}" presName="compNode" presStyleCnt="0"/>
      <dgm:spPr/>
    </dgm:pt>
    <dgm:pt modelId="{0A2E255C-A31C-404C-87A9-40118ABC48AC}" type="pres">
      <dgm:prSet presAssocID="{343D494A-2D2E-4876-BC06-03FE2CAE800A}" presName="iconBgRect" presStyleLbl="bgShp" presStyleIdx="2" presStyleCnt="3"/>
      <dgm:spPr/>
    </dgm:pt>
    <dgm:pt modelId="{F968AA62-AAE0-4276-99CD-39211C3E5225}" type="pres">
      <dgm:prSet presAssocID="{343D494A-2D2E-4876-BC06-03FE2CAE800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pboard Mixed with solid fill"/>
        </a:ext>
      </dgm:extLst>
    </dgm:pt>
    <dgm:pt modelId="{89E99985-C245-492C-BB2C-DD6CA619488C}" type="pres">
      <dgm:prSet presAssocID="{343D494A-2D2E-4876-BC06-03FE2CAE800A}" presName="spaceRect" presStyleCnt="0"/>
      <dgm:spPr/>
    </dgm:pt>
    <dgm:pt modelId="{3FA3308A-970F-4619-8880-75C0B3013189}" type="pres">
      <dgm:prSet presAssocID="{343D494A-2D2E-4876-BC06-03FE2CAE800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D3F6008-DDCC-40AC-AE52-C234FBC376D5}" srcId="{67D2D9ED-F008-4B5F-9525-3D2B5EB9B0EC}" destId="{85556EB6-77CF-499D-BB6E-2C5024EC1F11}" srcOrd="0" destOrd="0" parTransId="{A0502F33-FF3E-4CDA-BF79-BFD6A8042CB4}" sibTransId="{F3A3D373-011E-46F0-BFFD-E173B7E1F018}"/>
    <dgm:cxn modelId="{6DB08242-3BE2-4477-9F6B-13CA0CCB8688}" type="presOf" srcId="{85556EB6-77CF-499D-BB6E-2C5024EC1F11}" destId="{75CDBA54-D425-4D8F-91AD-9709476643B9}" srcOrd="0" destOrd="0" presId="urn:microsoft.com/office/officeart/2018/5/layout/IconCircleLabelList"/>
    <dgm:cxn modelId="{5279A052-2419-477D-8F9E-9BB1CFC24018}" type="presOf" srcId="{343D494A-2D2E-4876-BC06-03FE2CAE800A}" destId="{3FA3308A-970F-4619-8880-75C0B3013189}" srcOrd="0" destOrd="0" presId="urn:microsoft.com/office/officeart/2018/5/layout/IconCircleLabelList"/>
    <dgm:cxn modelId="{47E824B7-3212-4E68-B17D-01C286CB2575}" srcId="{67D2D9ED-F008-4B5F-9525-3D2B5EB9B0EC}" destId="{FD37932E-AB41-4F9E-B178-8A6DF0D730CD}" srcOrd="1" destOrd="0" parTransId="{B268A2BD-0C9E-4DCF-91BA-E16A455E029C}" sibTransId="{E5EB9EE9-E9CD-4FDC-9F83-012E5F75DF28}"/>
    <dgm:cxn modelId="{C5BBC8B9-D165-4CAD-B91D-9084CC61E1A0}" type="presOf" srcId="{67D2D9ED-F008-4B5F-9525-3D2B5EB9B0EC}" destId="{691847A3-79DF-4D9A-862B-527494AC6810}" srcOrd="0" destOrd="0" presId="urn:microsoft.com/office/officeart/2018/5/layout/IconCircleLabelList"/>
    <dgm:cxn modelId="{DC9067BD-BB72-4D12-86ED-168745D75E51}" type="presOf" srcId="{FD37932E-AB41-4F9E-B178-8A6DF0D730CD}" destId="{D299793F-65DD-49BB-939C-47011274A408}" srcOrd="0" destOrd="0" presId="urn:microsoft.com/office/officeart/2018/5/layout/IconCircleLabelList"/>
    <dgm:cxn modelId="{698395C8-DCEE-4D98-952C-CCFDAF0E21BB}" srcId="{67D2D9ED-F008-4B5F-9525-3D2B5EB9B0EC}" destId="{343D494A-2D2E-4876-BC06-03FE2CAE800A}" srcOrd="2" destOrd="0" parTransId="{477F5A59-B38B-457D-A879-B8D83A751434}" sibTransId="{EA5533A2-E0A4-4FB3-82BC-2C084507BD7D}"/>
    <dgm:cxn modelId="{CDDD1C15-C97D-4D9C-83CF-C609B3B839CD}" type="presParOf" srcId="{691847A3-79DF-4D9A-862B-527494AC6810}" destId="{57AEA7ED-7400-46FB-B788-DC93A6CEA299}" srcOrd="0" destOrd="0" presId="urn:microsoft.com/office/officeart/2018/5/layout/IconCircleLabelList"/>
    <dgm:cxn modelId="{E29AD60C-6AD7-42FB-854D-857090BE4F4D}" type="presParOf" srcId="{57AEA7ED-7400-46FB-B788-DC93A6CEA299}" destId="{08A12263-E4A9-4A00-88E6-3846A16416C1}" srcOrd="0" destOrd="0" presId="urn:microsoft.com/office/officeart/2018/5/layout/IconCircleLabelList"/>
    <dgm:cxn modelId="{E784C42F-9C15-4137-8499-407E43DB10E5}" type="presParOf" srcId="{57AEA7ED-7400-46FB-B788-DC93A6CEA299}" destId="{86982F10-A107-426F-B3DF-5C8430D602FE}" srcOrd="1" destOrd="0" presId="urn:microsoft.com/office/officeart/2018/5/layout/IconCircleLabelList"/>
    <dgm:cxn modelId="{53E7089E-E975-44E1-BC12-17CAADEE599A}" type="presParOf" srcId="{57AEA7ED-7400-46FB-B788-DC93A6CEA299}" destId="{26F34AEE-C90C-490B-B05A-0CF8911036E6}" srcOrd="2" destOrd="0" presId="urn:microsoft.com/office/officeart/2018/5/layout/IconCircleLabelList"/>
    <dgm:cxn modelId="{B575AF7A-F7B7-4D70-BA51-AF76149EABFA}" type="presParOf" srcId="{57AEA7ED-7400-46FB-B788-DC93A6CEA299}" destId="{75CDBA54-D425-4D8F-91AD-9709476643B9}" srcOrd="3" destOrd="0" presId="urn:microsoft.com/office/officeart/2018/5/layout/IconCircleLabelList"/>
    <dgm:cxn modelId="{E5322F20-EAC7-42A9-8F7C-56AAFF69C35D}" type="presParOf" srcId="{691847A3-79DF-4D9A-862B-527494AC6810}" destId="{07FA76DA-9D4B-45C4-AD2E-7CECAF062D28}" srcOrd="1" destOrd="0" presId="urn:microsoft.com/office/officeart/2018/5/layout/IconCircleLabelList"/>
    <dgm:cxn modelId="{0ABD7810-BDEB-475E-96DA-FDD6DD2F1A6B}" type="presParOf" srcId="{691847A3-79DF-4D9A-862B-527494AC6810}" destId="{6C28C8B4-E0AA-4AA0-989D-A8BA14913931}" srcOrd="2" destOrd="0" presId="urn:microsoft.com/office/officeart/2018/5/layout/IconCircleLabelList"/>
    <dgm:cxn modelId="{68E6A819-38B6-4A62-93FC-C798D8186577}" type="presParOf" srcId="{6C28C8B4-E0AA-4AA0-989D-A8BA14913931}" destId="{38F2B982-E76D-43F8-875F-C9F7F87FB6F0}" srcOrd="0" destOrd="0" presId="urn:microsoft.com/office/officeart/2018/5/layout/IconCircleLabelList"/>
    <dgm:cxn modelId="{5B887014-5565-4FB2-BAFA-03F47B1B293B}" type="presParOf" srcId="{6C28C8B4-E0AA-4AA0-989D-A8BA14913931}" destId="{4DA6517A-86C8-4E8B-867A-3B85CA151A02}" srcOrd="1" destOrd="0" presId="urn:microsoft.com/office/officeart/2018/5/layout/IconCircleLabelList"/>
    <dgm:cxn modelId="{54472C35-071B-4D03-B206-797914BEAC93}" type="presParOf" srcId="{6C28C8B4-E0AA-4AA0-989D-A8BA14913931}" destId="{3A6481FB-2447-4EBA-8327-1D3DCA8AF792}" srcOrd="2" destOrd="0" presId="urn:microsoft.com/office/officeart/2018/5/layout/IconCircleLabelList"/>
    <dgm:cxn modelId="{B669344F-C799-4CE4-AFE6-A42E7294783C}" type="presParOf" srcId="{6C28C8B4-E0AA-4AA0-989D-A8BA14913931}" destId="{D299793F-65DD-49BB-939C-47011274A408}" srcOrd="3" destOrd="0" presId="urn:microsoft.com/office/officeart/2018/5/layout/IconCircleLabelList"/>
    <dgm:cxn modelId="{B6F08270-C0D8-4CE1-B7EE-41800D3BB82E}" type="presParOf" srcId="{691847A3-79DF-4D9A-862B-527494AC6810}" destId="{C86814F7-C00B-4719-A8C6-E88FDD196FE4}" srcOrd="3" destOrd="0" presId="urn:microsoft.com/office/officeart/2018/5/layout/IconCircleLabelList"/>
    <dgm:cxn modelId="{1941B0D9-5FEC-4F5D-81E6-D6CE125C44A5}" type="presParOf" srcId="{691847A3-79DF-4D9A-862B-527494AC6810}" destId="{070C5CC5-EF16-42B0-937B-4090C16771AF}" srcOrd="4" destOrd="0" presId="urn:microsoft.com/office/officeart/2018/5/layout/IconCircleLabelList"/>
    <dgm:cxn modelId="{619AEDDB-5090-493A-AA4C-F125E029C333}" type="presParOf" srcId="{070C5CC5-EF16-42B0-937B-4090C16771AF}" destId="{0A2E255C-A31C-404C-87A9-40118ABC48AC}" srcOrd="0" destOrd="0" presId="urn:microsoft.com/office/officeart/2018/5/layout/IconCircleLabelList"/>
    <dgm:cxn modelId="{72403486-0129-4BC4-A05A-0E65667C33EC}" type="presParOf" srcId="{070C5CC5-EF16-42B0-937B-4090C16771AF}" destId="{F968AA62-AAE0-4276-99CD-39211C3E5225}" srcOrd="1" destOrd="0" presId="urn:microsoft.com/office/officeart/2018/5/layout/IconCircleLabelList"/>
    <dgm:cxn modelId="{71F521FA-AEF9-458C-9A0A-94A63CD24B3F}" type="presParOf" srcId="{070C5CC5-EF16-42B0-937B-4090C16771AF}" destId="{89E99985-C245-492C-BB2C-DD6CA619488C}" srcOrd="2" destOrd="0" presId="urn:microsoft.com/office/officeart/2018/5/layout/IconCircleLabelList"/>
    <dgm:cxn modelId="{0419BCA8-FD45-4529-9F12-0EBE8A2A546F}" type="presParOf" srcId="{070C5CC5-EF16-42B0-937B-4090C16771AF}" destId="{3FA3308A-970F-4619-8880-75C0B301318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A12263-E4A9-4A00-88E6-3846A16416C1}">
      <dsp:nvSpPr>
        <dsp:cNvPr id="0" name=""/>
        <dsp:cNvSpPr/>
      </dsp:nvSpPr>
      <dsp:spPr>
        <a:xfrm>
          <a:off x="1038533" y="731497"/>
          <a:ext cx="1061542" cy="106154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982F10-A107-426F-B3DF-5C8430D602FE}">
      <dsp:nvSpPr>
        <dsp:cNvPr id="0" name=""/>
        <dsp:cNvSpPr/>
      </dsp:nvSpPr>
      <dsp:spPr>
        <a:xfrm>
          <a:off x="1264764" y="957728"/>
          <a:ext cx="609082" cy="6090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DBA54-D425-4D8F-91AD-9709476643B9}">
      <dsp:nvSpPr>
        <dsp:cNvPr id="0" name=""/>
        <dsp:cNvSpPr/>
      </dsp:nvSpPr>
      <dsp:spPr>
        <a:xfrm>
          <a:off x="1945" y="2123685"/>
          <a:ext cx="3134718" cy="82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cap="none" dirty="0"/>
            <a:t>Lecture + Problem Sets</a:t>
          </a:r>
          <a:r>
            <a:rPr lang="en-US" sz="1600" kern="1200" cap="none" dirty="0"/>
            <a:t>: We will discuss algorithms appropriate for different tasks and types of environments. Problem sets will improve the understanding. </a:t>
          </a:r>
        </a:p>
      </dsp:txBody>
      <dsp:txXfrm>
        <a:off x="1945" y="2123685"/>
        <a:ext cx="3134718" cy="823437"/>
      </dsp:txXfrm>
    </dsp:sp>
    <dsp:sp modelId="{38F2B982-E76D-43F8-875F-C9F7F87FB6F0}">
      <dsp:nvSpPr>
        <dsp:cNvPr id="0" name=""/>
        <dsp:cNvSpPr/>
      </dsp:nvSpPr>
      <dsp:spPr>
        <a:xfrm>
          <a:off x="4264406" y="731497"/>
          <a:ext cx="1061542" cy="106154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A6517A-86C8-4E8B-867A-3B85CA151A02}">
      <dsp:nvSpPr>
        <dsp:cNvPr id="0" name=""/>
        <dsp:cNvSpPr/>
      </dsp:nvSpPr>
      <dsp:spPr>
        <a:xfrm>
          <a:off x="4490636" y="957728"/>
          <a:ext cx="609082" cy="6090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9793F-65DD-49BB-939C-47011274A408}">
      <dsp:nvSpPr>
        <dsp:cNvPr id="0" name=""/>
        <dsp:cNvSpPr/>
      </dsp:nvSpPr>
      <dsp:spPr>
        <a:xfrm>
          <a:off x="3441205" y="2123685"/>
          <a:ext cx="2707943" cy="82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cap="none" dirty="0"/>
            <a:t>Projects</a:t>
          </a:r>
          <a:r>
            <a:rPr lang="en-US" sz="1600" kern="1200" cap="none" dirty="0"/>
            <a:t>: You will implement algorithms to solve several tasks and conduct experiments to investigate how well the algorithms work and how they scale with problem size. </a:t>
          </a:r>
        </a:p>
      </dsp:txBody>
      <dsp:txXfrm>
        <a:off x="3441205" y="2123685"/>
        <a:ext cx="2707943" cy="823437"/>
      </dsp:txXfrm>
    </dsp:sp>
    <dsp:sp modelId="{0A2E255C-A31C-404C-87A9-40118ABC48AC}">
      <dsp:nvSpPr>
        <dsp:cNvPr id="0" name=""/>
        <dsp:cNvSpPr/>
      </dsp:nvSpPr>
      <dsp:spPr>
        <a:xfrm>
          <a:off x="6793036" y="731497"/>
          <a:ext cx="1061542" cy="106154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68AA62-AAE0-4276-99CD-39211C3E5225}">
      <dsp:nvSpPr>
        <dsp:cNvPr id="0" name=""/>
        <dsp:cNvSpPr/>
      </dsp:nvSpPr>
      <dsp:spPr>
        <a:xfrm>
          <a:off x="7019266" y="957728"/>
          <a:ext cx="609082" cy="6090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A3308A-970F-4619-8880-75C0B3013189}">
      <dsp:nvSpPr>
        <dsp:cNvPr id="0" name=""/>
        <dsp:cNvSpPr/>
      </dsp:nvSpPr>
      <dsp:spPr>
        <a:xfrm>
          <a:off x="6453690" y="2123685"/>
          <a:ext cx="1740234" cy="82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cap="none" dirty="0"/>
            <a:t>Exams: </a:t>
          </a:r>
          <a:r>
            <a:rPr lang="en-US" sz="1600" b="0" kern="1200" cap="none" dirty="0"/>
            <a:t>Checks knowledge of AI concepts and the ability to apply them.</a:t>
          </a:r>
          <a:endParaRPr lang="en-US" sz="1600" b="1" kern="1200" cap="none" dirty="0"/>
        </a:p>
      </dsp:txBody>
      <dsp:txXfrm>
        <a:off x="6453690" y="2123685"/>
        <a:ext cx="1740234" cy="8234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spcBef>
                <a:spcPct val="0"/>
              </a:spcBef>
              <a:defRPr sz="1300" b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defRPr sz="1300" b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spcBef>
                <a:spcPct val="0"/>
              </a:spcBef>
              <a:defRPr sz="1300" b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defRPr sz="1300" b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fld id="{767FC3A7-0F7B-44C6-ACD4-A5FC741D94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AD7B03-BE14-45DB-B0F7-17EB6D027DC3}" type="slidenum">
              <a:rPr lang="en-US" smtClean="0">
                <a:latin typeface="Arial" pitchFamily="34" charset="0"/>
              </a:rPr>
              <a:pPr/>
              <a:t>1</a:t>
            </a:fld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AC3F58-2633-43B5-944D-9A29CA4A9EC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C49721-C3A1-4425-99EF-30C57743CC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6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76BB52-192B-4E7D-9E15-B5945998B3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66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634D7A-5DE0-40F6-876D-D2AFBCA7647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2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733130-C1C8-4197-ACEE-A73DA10DD2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31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8389DD-3A77-4664-9585-0D0E9A5EB60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9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740A81-9E01-4FD9-8249-D9D456571D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62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06D5C0-30C3-4567-9087-D7285F18DE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37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9245C4-C502-4096-92D6-EC376ED5F3D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2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C7C65B-D709-43A0-BF27-CBEBE59D50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53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2BCF5F-F163-48A3-8709-B31AFB4E6F3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150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DE62156-1480-49ED-B33B-CE1D8F42A3C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2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://creativecommons.org/licenses/by-sa/4.0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71EBC5-8F77-4D05-B52D-24E94DBD9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54" r="9089" b="5987"/>
          <a:stretch/>
        </p:blipFill>
        <p:spPr bwMode="auto">
          <a:xfrm>
            <a:off x="2642616" y="10"/>
            <a:ext cx="650138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/>
            <a:r>
              <a:rPr lang="en-US" sz="2600" b="1" dirty="0"/>
              <a:t>CS 5/7320 </a:t>
            </a:r>
            <a:br>
              <a:rPr lang="en-US" sz="2600" b="1" dirty="0"/>
            </a:br>
            <a:r>
              <a:rPr lang="en-US" sz="2600" b="1" dirty="0"/>
              <a:t>Artificial Intelligence</a:t>
            </a:r>
            <a:br>
              <a:rPr lang="en-US" sz="2600" b="1" dirty="0"/>
            </a:br>
            <a:br>
              <a:rPr lang="en-US" sz="2600" b="1" dirty="0"/>
            </a:br>
            <a:r>
              <a:rPr lang="en-US" sz="2600" b="1" dirty="0"/>
              <a:t>Course Introduction</a:t>
            </a:r>
            <a:br>
              <a:rPr lang="en-US" sz="2600" b="1" dirty="0"/>
            </a:br>
            <a:br>
              <a:rPr lang="en-US" sz="2600" b="1" dirty="0"/>
            </a:br>
            <a:endParaRPr lang="en-US" sz="2600" b="1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1970712-7B6B-FF1B-6B47-BB7A92726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</p:spPr>
        <p:txBody>
          <a:bodyPr>
            <a:normAutofit/>
          </a:bodyPr>
          <a:lstStyle/>
          <a:p>
            <a:pPr algn="l"/>
            <a:r>
              <a:rPr lang="en-US" sz="1700" dirty="0"/>
              <a:t>Slides by Michael Hahsler	</a:t>
            </a:r>
          </a:p>
          <a:p>
            <a:pPr algn="l"/>
            <a:endParaRPr lang="en-US" sz="1700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BC730582-CB30-4505-AAF1-FC128A765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94" y="6433891"/>
            <a:ext cx="83820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0202BD-23F9-4699-B3FD-8AC22A462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19202" y="6324602"/>
            <a:ext cx="30175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</a:rPr>
              <a:t>This work is licensed under a </a:t>
            </a:r>
            <a:r>
              <a:rPr lang="en-US" sz="11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Attribution-ShareAlike 4.0 International License</a:t>
            </a:r>
            <a:r>
              <a:rPr lang="en-US" sz="11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</a:rPr>
              <a:t>.</a:t>
            </a:r>
            <a:endParaRPr 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51EF9FF-12FF-4F03-4D90-E4991E9CA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171961" y="4716889"/>
            <a:ext cx="1676400" cy="1981200"/>
            <a:chOff x="7162800" y="4191000"/>
            <a:chExt cx="1676400" cy="19812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C65A4B-B0A0-AF04-CE85-7D210DDDC3E8}"/>
                </a:ext>
              </a:extLst>
            </p:cNvPr>
            <p:cNvSpPr/>
            <p:nvPr/>
          </p:nvSpPr>
          <p:spPr>
            <a:xfrm>
              <a:off x="7162800" y="4191000"/>
              <a:ext cx="1676400" cy="1981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 descr="A qr code with black dots&#10;&#10;Description automatically generated">
              <a:extLst>
                <a:ext uri="{FF2B5EF4-FFF2-40B4-BE49-F238E27FC236}">
                  <a16:creationId xmlns:a16="http://schemas.microsoft.com/office/drawing/2014/main" id="{475F2505-5B89-1F3A-7D7E-9847C40AA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0900" y="4212771"/>
              <a:ext cx="1600200" cy="160020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43842AC-2A2D-8FD0-3DA1-764F6B0C3100}"/>
                </a:ext>
              </a:extLst>
            </p:cNvPr>
            <p:cNvSpPr/>
            <p:nvPr/>
          </p:nvSpPr>
          <p:spPr>
            <a:xfrm>
              <a:off x="7162800" y="5812971"/>
              <a:ext cx="1676400" cy="35922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Online Material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0C776A0-D1A0-0F6F-303C-0FD60D69B767}"/>
              </a:ext>
            </a:extLst>
          </p:cNvPr>
          <p:cNvSpPr txBox="1"/>
          <p:nvPr/>
        </p:nvSpPr>
        <p:spPr>
          <a:xfrm rot="2099715">
            <a:off x="1208326" y="632636"/>
            <a:ext cx="18288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latin typeface="+mj-lt"/>
                <a:ea typeface="+mj-ea"/>
                <a:cs typeface="+mj-cs"/>
              </a:rPr>
              <a:t>Online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BB6B01-487F-6292-CB4D-621CA3885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Course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DBA7D-9239-27DF-1B7F-39C8C9A8C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1981200"/>
            <a:ext cx="4000647" cy="4258879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400" dirty="0"/>
              <a:t>This course will introduce AI from the viewpoint of </a:t>
            </a:r>
            <a:r>
              <a:rPr lang="en-US" sz="1400" b="1" dirty="0"/>
              <a:t>creating an autonomous intelligent agent </a:t>
            </a:r>
            <a:r>
              <a:rPr lang="en-US" sz="1400" dirty="0"/>
              <a:t>that acts rationally in its environment. </a:t>
            </a:r>
          </a:p>
          <a:p>
            <a:pPr marL="0" indent="0">
              <a:buNone/>
            </a:pPr>
            <a:r>
              <a:rPr lang="en-US" sz="1400" dirty="0"/>
              <a:t>For example, a self-driving car is an intelligent agent with the </a:t>
            </a:r>
            <a:r>
              <a:rPr lang="en-US" sz="1400" b="1" dirty="0"/>
              <a:t>objective</a:t>
            </a:r>
            <a:r>
              <a:rPr lang="en-US" sz="1400" dirty="0"/>
              <a:t> of delivering a passenger to a desired destination. The agent needs </a:t>
            </a:r>
            <a:r>
              <a:rPr lang="en-US" sz="1400" b="1" dirty="0"/>
              <a:t>to make decisions </a:t>
            </a:r>
            <a:r>
              <a:rPr lang="en-US" sz="1400" dirty="0"/>
              <a:t>about stopping, turning, and changing lanes by </a:t>
            </a:r>
            <a:r>
              <a:rPr lang="en-US" sz="1400" b="1" dirty="0"/>
              <a:t>observing its environment</a:t>
            </a:r>
            <a:r>
              <a:rPr lang="en-US" sz="1400" dirty="0"/>
              <a:t>, which consists of roads, other cars, pedestrians, and traffic signals. </a:t>
            </a:r>
          </a:p>
          <a:p>
            <a:pPr marL="0" indent="0">
              <a:buNone/>
            </a:pPr>
            <a:r>
              <a:rPr lang="en-US" sz="1400" dirty="0"/>
              <a:t>We will focus on the algorithms used by the agent to make decisions. We will survey the following important topics: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Searching for a solution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Using knowledge for decision making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Decision-making under uncertainty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Learning from examples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1C013EC-7097-1320-0351-DF3DF48AD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47" r="53091" b="-1"/>
          <a:stretch/>
        </p:blipFill>
        <p:spPr bwMode="auto"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2673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0C5A96-4B7A-E8F3-E069-EDD488A59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Course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2CDE2-EAC3-D86D-779E-D8D74B4B7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CLO 1: </a:t>
            </a:r>
            <a:r>
              <a:rPr lang="en-US" sz="1700" b="1" dirty="0"/>
              <a:t>Define</a:t>
            </a:r>
            <a:r>
              <a:rPr lang="en-US" sz="1700" dirty="0"/>
              <a:t> what </a:t>
            </a:r>
            <a:r>
              <a:rPr lang="en-US" sz="1700" b="1" dirty="0"/>
              <a:t>artificial intelligence </a:t>
            </a:r>
            <a:r>
              <a:rPr lang="en-US" sz="1700" dirty="0"/>
              <a:t>(AI) is and explain how it is used.</a:t>
            </a:r>
          </a:p>
          <a:p>
            <a:r>
              <a:rPr lang="en-US" sz="1700" dirty="0"/>
              <a:t>CLO 2: Identify </a:t>
            </a:r>
            <a:r>
              <a:rPr lang="en-US" sz="1700" b="1" dirty="0"/>
              <a:t>ethical and security issues </a:t>
            </a:r>
            <a:r>
              <a:rPr lang="en-US" sz="1700" dirty="0"/>
              <a:t>with artificial intelligence applications.</a:t>
            </a:r>
          </a:p>
          <a:p>
            <a:r>
              <a:rPr lang="en-US" sz="1700" dirty="0"/>
              <a:t>CLO 3: Define </a:t>
            </a:r>
            <a:r>
              <a:rPr lang="en-US" sz="1700" b="1" dirty="0"/>
              <a:t>intelligent agents </a:t>
            </a:r>
            <a:r>
              <a:rPr lang="en-US" sz="1700" dirty="0"/>
              <a:t>and explain how they interact with their environment.</a:t>
            </a:r>
          </a:p>
          <a:p>
            <a:r>
              <a:rPr lang="en-US" sz="1700" dirty="0"/>
              <a:t>CLO 4: Apply </a:t>
            </a:r>
            <a:r>
              <a:rPr lang="en-US" sz="1700" b="1" dirty="0"/>
              <a:t>search</a:t>
            </a:r>
            <a:r>
              <a:rPr lang="en-US" sz="1700" dirty="0"/>
              <a:t> to create agents that can perform simple tasks.</a:t>
            </a:r>
          </a:p>
          <a:p>
            <a:r>
              <a:rPr lang="en-US" sz="1700" dirty="0"/>
              <a:t>CLO 5: Explain how </a:t>
            </a:r>
            <a:r>
              <a:rPr lang="en-US" sz="1700" b="1" dirty="0"/>
              <a:t>knowledge-based agents </a:t>
            </a:r>
            <a:r>
              <a:rPr lang="en-US" sz="1700" dirty="0"/>
              <a:t>make decisions.</a:t>
            </a:r>
          </a:p>
          <a:p>
            <a:r>
              <a:rPr lang="en-US" sz="1700" dirty="0"/>
              <a:t>CLO 6: Explain how </a:t>
            </a:r>
            <a:r>
              <a:rPr lang="en-US" sz="1700" b="1" dirty="0"/>
              <a:t>probabilistic reasoning </a:t>
            </a:r>
            <a:r>
              <a:rPr lang="en-US" sz="1700" dirty="0"/>
              <a:t>is used by agents to make decisions under uncertainty.</a:t>
            </a:r>
          </a:p>
          <a:p>
            <a:r>
              <a:rPr lang="en-US" sz="1700" dirty="0"/>
              <a:t>CLO 7: Apply </a:t>
            </a:r>
            <a:r>
              <a:rPr lang="en-US" sz="1700" b="1" dirty="0"/>
              <a:t>machine learning </a:t>
            </a:r>
            <a:r>
              <a:rPr lang="en-US" sz="1700" dirty="0"/>
              <a:t>to different components of an intelligent agent.</a:t>
            </a:r>
          </a:p>
        </p:txBody>
      </p:sp>
    </p:spTree>
    <p:extLst>
      <p:ext uri="{BB962C8B-B14F-4D97-AF65-F5344CB8AC3E}">
        <p14:creationId xmlns:p14="http://schemas.microsoft.com/office/powerpoint/2010/main" val="105614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73AEAF-622F-0793-2C47-3E68C728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Learning Method</a:t>
            </a:r>
          </a:p>
        </p:txBody>
      </p:sp>
      <p:graphicFrame>
        <p:nvGraphicFramePr>
          <p:cNvPr id="7" name="Content Placeholder 4" descr="You will implement algorithms to solve several tasks and conduct experiments to investigate how well the algorithms work and how they scale with problem size. ">
            <a:extLst>
              <a:ext uri="{FF2B5EF4-FFF2-40B4-BE49-F238E27FC236}">
                <a16:creationId xmlns:a16="http://schemas.microsoft.com/office/drawing/2014/main" id="{4B09C3CD-93BB-274D-5084-A99FB0645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724119"/>
              </p:ext>
            </p:extLst>
          </p:nvPr>
        </p:nvGraphicFramePr>
        <p:xfrm>
          <a:off x="490929" y="1514749"/>
          <a:ext cx="8195871" cy="3678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828952A-426A-0259-E969-21AB174FD8AD}"/>
              </a:ext>
            </a:extLst>
          </p:cNvPr>
          <p:cNvSpPr txBox="1"/>
          <p:nvPr/>
        </p:nvSpPr>
        <p:spPr>
          <a:xfrm>
            <a:off x="457200" y="6096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Evaluation is based on problem sets, projects, and exams.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8B28DDDE-2B27-FF8F-8810-440CF9679E76}"/>
              </a:ext>
            </a:extLst>
          </p:cNvPr>
          <p:cNvSpPr/>
          <p:nvPr/>
        </p:nvSpPr>
        <p:spPr>
          <a:xfrm rot="5400000">
            <a:off x="4469546" y="1191102"/>
            <a:ext cx="273419" cy="8028317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F948F-B857-4717-F020-49ADE3ADDF37}"/>
              </a:ext>
            </a:extLst>
          </p:cNvPr>
          <p:cNvSpPr txBox="1"/>
          <p:nvPr/>
        </p:nvSpPr>
        <p:spPr>
          <a:xfrm>
            <a:off x="1828800" y="5321519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Sync Session: Guides the student with a review of core concepts, examples and Q&amp;A sessions.</a:t>
            </a:r>
          </a:p>
        </p:txBody>
      </p:sp>
    </p:spTree>
    <p:extLst>
      <p:ext uri="{BB962C8B-B14F-4D97-AF65-F5344CB8AC3E}">
        <p14:creationId xmlns:p14="http://schemas.microsoft.com/office/powerpoint/2010/main" val="193310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71C4C-2324-AB3D-B679-1F56AE703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3B741C-4158-6F7F-5C3D-EF416E78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Course Mechanics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C8F96-FE6A-3011-92DF-7C65CE28F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b="1" dirty="0"/>
              <a:t>Office hours</a:t>
            </a:r>
            <a:r>
              <a:rPr lang="en-US" sz="1700" dirty="0"/>
              <a:t>: </a:t>
            </a:r>
          </a:p>
          <a:p>
            <a:pPr lvl="1"/>
            <a:r>
              <a:rPr lang="en-US" sz="1300" dirty="0"/>
              <a:t>My office hours can be found on my home page.</a:t>
            </a:r>
          </a:p>
          <a:p>
            <a:pPr lvl="1"/>
            <a:r>
              <a:rPr lang="en-US" sz="1300" dirty="0"/>
              <a:t>Weekly TA office hours will be done using Zoom. The time and the link will be on Canvas soon.</a:t>
            </a:r>
          </a:p>
          <a:p>
            <a:r>
              <a:rPr lang="en-US" sz="1700" b="1" dirty="0"/>
              <a:t>Communication</a:t>
            </a:r>
            <a:r>
              <a:rPr lang="en-US" sz="1700" dirty="0"/>
              <a:t>: Use Canvas messages and leave comments for assignments.</a:t>
            </a:r>
          </a:p>
          <a:p>
            <a:r>
              <a:rPr lang="en-US" sz="1700" dirty="0"/>
              <a:t> </a:t>
            </a:r>
            <a:r>
              <a:rPr lang="en-US" sz="1700" b="1" dirty="0"/>
              <a:t>Assignment Grading</a:t>
            </a:r>
            <a:r>
              <a:rPr lang="en-US" sz="1700" dirty="0"/>
              <a:t>: The TA will grade assignments and problem sets. Please contact the TA (e.g., during office hours or by leaving a comment) to discuss your assignment and grade.</a:t>
            </a:r>
          </a:p>
          <a:p>
            <a:r>
              <a:rPr lang="en-US" sz="1700" b="1" dirty="0"/>
              <a:t>Final Grade</a:t>
            </a:r>
            <a:r>
              <a:rPr lang="en-US" sz="1700" dirty="0"/>
              <a:t>: The calculated grade on Canvas serves as a rough guide. I will assign your final grade at the end of the semester.</a:t>
            </a:r>
          </a:p>
        </p:txBody>
      </p:sp>
    </p:spTree>
    <p:extLst>
      <p:ext uri="{BB962C8B-B14F-4D97-AF65-F5344CB8AC3E}">
        <p14:creationId xmlns:p14="http://schemas.microsoft.com/office/powerpoint/2010/main" val="211582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B229DA-48F6-FBBE-3A7E-639C8CF6D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997A4A-88E4-B1ED-B8BC-BD51B93E5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To Be Successful you need…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6DC1A-CAC5-C7FD-FC7E-89F42C75C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Course assignments require substantial advanced </a:t>
            </a:r>
            <a:r>
              <a:rPr lang="en-US" sz="1700" b="1" dirty="0"/>
              <a:t>Python</a:t>
            </a:r>
            <a:r>
              <a:rPr lang="en-US" sz="1700" dirty="0"/>
              <a:t> programming.</a:t>
            </a:r>
          </a:p>
          <a:p>
            <a:r>
              <a:rPr lang="en-US" sz="1700" dirty="0"/>
              <a:t>Students need practical knowledge of how to implement </a:t>
            </a:r>
            <a:r>
              <a:rPr lang="en-US" sz="1700" b="1" dirty="0"/>
              <a:t>data structures and algorithms</a:t>
            </a:r>
            <a:r>
              <a:rPr lang="en-US" sz="1700" dirty="0"/>
              <a:t> (Big-O notation, search trees).</a:t>
            </a:r>
          </a:p>
          <a:p>
            <a:r>
              <a:rPr lang="en-US" sz="1700" dirty="0"/>
              <a:t>Students must have a working knowledge of </a:t>
            </a:r>
            <a:r>
              <a:rPr lang="en-US" sz="1700" b="1" dirty="0"/>
              <a:t>probability theory and combinatorics. </a:t>
            </a:r>
          </a:p>
          <a:p>
            <a:endParaRPr lang="en-US" sz="1700" dirty="0"/>
          </a:p>
          <a:p>
            <a:r>
              <a:rPr lang="en-US" sz="1700" dirty="0"/>
              <a:t>Students are expected to obtain any missing knowledge independently. </a:t>
            </a:r>
          </a:p>
        </p:txBody>
      </p:sp>
    </p:spTree>
    <p:extLst>
      <p:ext uri="{BB962C8B-B14F-4D97-AF65-F5344CB8AC3E}">
        <p14:creationId xmlns:p14="http://schemas.microsoft.com/office/powerpoint/2010/main" val="2942483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AI_high_contrast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BE4D14"/>
      </a:accent2>
      <a:accent3>
        <a:srgbClr val="196B24"/>
      </a:accent3>
      <a:accent4>
        <a:srgbClr val="0F9ED5"/>
      </a:accent4>
      <a:accent5>
        <a:srgbClr val="A02B93"/>
      </a:accent5>
      <a:accent6>
        <a:srgbClr val="377620"/>
      </a:accent6>
      <a:hlink>
        <a:srgbClr val="467886"/>
      </a:hlink>
      <a:folHlink>
        <a:srgbClr val="96607D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4682</TotalTime>
  <Words>521</Words>
  <Application>Microsoft Office PowerPoint</Application>
  <PresentationFormat>On-screen Show (4:3)</PresentationFormat>
  <Paragraphs>41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source sans pro</vt:lpstr>
      <vt:lpstr>Times New Roman</vt:lpstr>
      <vt:lpstr>Office 2013 - 2022 Theme</vt:lpstr>
      <vt:lpstr>CS 5/7320  Artificial Intelligence  Course Introduction  </vt:lpstr>
      <vt:lpstr>Course Goal</vt:lpstr>
      <vt:lpstr>Course Learning Outcomes</vt:lpstr>
      <vt:lpstr>Learning Method</vt:lpstr>
      <vt:lpstr>Course Mechanics</vt:lpstr>
      <vt:lpstr>To Be Successful you need…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5/7320  Artificial Intelligence  Introduction</dc:title>
  <dc:creator>michael</dc:creator>
  <cp:lastModifiedBy>Hahsler, Michael</cp:lastModifiedBy>
  <cp:revision>91</cp:revision>
  <dcterms:created xsi:type="dcterms:W3CDTF">2021-01-29T15:10:36Z</dcterms:created>
  <dcterms:modified xsi:type="dcterms:W3CDTF">2026-01-22T20:41:32Z</dcterms:modified>
</cp:coreProperties>
</file>