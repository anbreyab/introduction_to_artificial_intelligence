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34"/>
  </p:notesMasterIdLst>
  <p:sldIdLst>
    <p:sldId id="257" r:id="rId2"/>
    <p:sldId id="451" r:id="rId3"/>
    <p:sldId id="434" r:id="rId4"/>
    <p:sldId id="331" r:id="rId5"/>
    <p:sldId id="436" r:id="rId6"/>
    <p:sldId id="401" r:id="rId7"/>
    <p:sldId id="274" r:id="rId8"/>
    <p:sldId id="415" r:id="rId9"/>
    <p:sldId id="454" r:id="rId10"/>
    <p:sldId id="449" r:id="rId11"/>
    <p:sldId id="450" r:id="rId12"/>
    <p:sldId id="425" r:id="rId13"/>
    <p:sldId id="428" r:id="rId14"/>
    <p:sldId id="431" r:id="rId15"/>
    <p:sldId id="432" r:id="rId16"/>
    <p:sldId id="433" r:id="rId17"/>
    <p:sldId id="455" r:id="rId18"/>
    <p:sldId id="413" r:id="rId19"/>
    <p:sldId id="407" r:id="rId20"/>
    <p:sldId id="414" r:id="rId21"/>
    <p:sldId id="301" r:id="rId22"/>
    <p:sldId id="405" r:id="rId23"/>
    <p:sldId id="435" r:id="rId24"/>
    <p:sldId id="439" r:id="rId25"/>
    <p:sldId id="453" r:id="rId26"/>
    <p:sldId id="440" r:id="rId27"/>
    <p:sldId id="447" r:id="rId28"/>
    <p:sldId id="417" r:id="rId29"/>
    <p:sldId id="404" r:id="rId30"/>
    <p:sldId id="372" r:id="rId31"/>
    <p:sldId id="387" r:id="rId32"/>
    <p:sldId id="448" r:id="rId33"/>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7F7F"/>
    <a:srgbClr val="FFC000"/>
    <a:srgbClr val="CC0099"/>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072" autoAdjust="0"/>
  </p:normalViewPr>
  <p:slideViewPr>
    <p:cSldViewPr>
      <p:cViewPr varScale="1">
        <p:scale>
          <a:sx n="145" d="100"/>
          <a:sy n="145" d="100"/>
        </p:scale>
        <p:origin x="592" y="9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600" dirty="0"/>
            <a:t>Given a search problem definition</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7830783F-9F12-4D05-BAAA-4021C7065760}">
      <dgm:prSet custT="1"/>
      <dgm:spPr/>
      <dgm:t>
        <a:bodyPr/>
        <a:lstStyle/>
        <a:p>
          <a:r>
            <a:rPr lang="en-US" sz="1600" dirty="0"/>
            <a:t>Initial state</a:t>
          </a:r>
        </a:p>
      </dgm:t>
    </dgm:pt>
    <dgm:pt modelId="{726606B3-11A0-4651-B4CC-860830C1F0EB}" type="parTrans" cxnId="{08CE92E4-9B06-41DE-83CC-15BCC88653FA}">
      <dgm:prSet/>
      <dgm:spPr/>
      <dgm:t>
        <a:bodyPr/>
        <a:lstStyle/>
        <a:p>
          <a:endParaRPr lang="en-US"/>
        </a:p>
      </dgm:t>
    </dgm:pt>
    <dgm:pt modelId="{EC91F9A7-770B-4D17-ACE1-43AD505FAC78}" type="sibTrans" cxnId="{08CE92E4-9B06-41DE-83CC-15BCC88653FA}">
      <dgm:prSet/>
      <dgm:spPr/>
      <dgm:t>
        <a:bodyPr/>
        <a:lstStyle/>
        <a:p>
          <a:endParaRPr lang="en-US"/>
        </a:p>
      </dgm:t>
    </dgm:pt>
    <dgm:pt modelId="{61D9AF60-CC36-477E-88EB-42B03A7530F7}">
      <dgm:prSet custT="1"/>
      <dgm:spPr/>
      <dgm:t>
        <a:bodyPr/>
        <a:lstStyle/>
        <a:p>
          <a:r>
            <a:rPr lang="en-US" sz="1600" dirty="0"/>
            <a:t>Actions</a:t>
          </a:r>
        </a:p>
      </dgm:t>
    </dgm:pt>
    <dgm:pt modelId="{A083548C-B958-42AF-857A-BA52DBA2DEDD}" type="parTrans" cxnId="{FF63512A-B75F-482B-BD9C-09223D0B54CB}">
      <dgm:prSet/>
      <dgm:spPr/>
      <dgm:t>
        <a:bodyPr/>
        <a:lstStyle/>
        <a:p>
          <a:endParaRPr lang="en-US"/>
        </a:p>
      </dgm:t>
    </dgm:pt>
    <dgm:pt modelId="{427F5599-2440-4B96-AC6B-B68DF4D99358}" type="sibTrans" cxnId="{FF63512A-B75F-482B-BD9C-09223D0B54CB}">
      <dgm:prSet/>
      <dgm:spPr/>
      <dgm:t>
        <a:bodyPr/>
        <a:lstStyle/>
        <a:p>
          <a:endParaRPr lang="en-US"/>
        </a:p>
      </dgm:t>
    </dgm:pt>
    <dgm:pt modelId="{A6D83732-67A5-4F7E-9591-F91564075C9F}">
      <dgm:prSet custT="1"/>
      <dgm:spPr/>
      <dgm:t>
        <a:bodyPr/>
        <a:lstStyle/>
        <a:p>
          <a:r>
            <a:rPr lang="en-US" sz="1600" dirty="0"/>
            <a:t>Transition model</a:t>
          </a:r>
        </a:p>
      </dgm:t>
    </dgm:pt>
    <dgm:pt modelId="{F82C7628-CA4F-4405-8BC8-64EAD12D5907}" type="parTrans" cxnId="{AFEA61F9-CDEC-4207-9D8E-9A2BB126CE48}">
      <dgm:prSet/>
      <dgm:spPr/>
      <dgm:t>
        <a:bodyPr/>
        <a:lstStyle/>
        <a:p>
          <a:endParaRPr lang="en-US"/>
        </a:p>
      </dgm:t>
    </dgm:pt>
    <dgm:pt modelId="{75C393A3-9ADF-4939-A2E3-A1407EC30A5E}" type="sibTrans" cxnId="{AFEA61F9-CDEC-4207-9D8E-9A2BB126CE48}">
      <dgm:prSet/>
      <dgm:spPr/>
      <dgm:t>
        <a:bodyPr/>
        <a:lstStyle/>
        <a:p>
          <a:endParaRPr lang="en-US"/>
        </a:p>
      </dgm:t>
    </dgm:pt>
    <dgm:pt modelId="{F0335D94-D374-41AD-8817-3F88B24B6920}">
      <dgm:prSet custT="1"/>
      <dgm:spPr/>
      <dgm:t>
        <a:bodyPr/>
        <a:lstStyle/>
        <a:p>
          <a:r>
            <a:rPr lang="en-US" sz="1600" dirty="0"/>
            <a:t>Goal state</a:t>
          </a:r>
        </a:p>
      </dgm:t>
    </dgm:pt>
    <dgm:pt modelId="{C5C3229C-26EA-4C2B-ADF5-8CE31BFD2B56}" type="parTrans" cxnId="{7C040ABF-F808-4E1A-BCE9-29A065211413}">
      <dgm:prSet/>
      <dgm:spPr/>
      <dgm:t>
        <a:bodyPr/>
        <a:lstStyle/>
        <a:p>
          <a:endParaRPr lang="en-US"/>
        </a:p>
      </dgm:t>
    </dgm:pt>
    <dgm:pt modelId="{DC5FFA83-1564-44FE-A05D-DEC072FB324A}" type="sibTrans" cxnId="{7C040ABF-F808-4E1A-BCE9-29A065211413}">
      <dgm:prSet/>
      <dgm:spPr/>
      <dgm:t>
        <a:bodyPr/>
        <a:lstStyle/>
        <a:p>
          <a:endParaRPr lang="en-US"/>
        </a:p>
      </dgm:t>
    </dgm:pt>
    <dgm:pt modelId="{27D33799-3B04-4365-B080-7CE7041B6744}">
      <dgm:prSet custT="1"/>
      <dgm:spPr/>
      <dgm:t>
        <a:bodyPr/>
        <a:lstStyle/>
        <a:p>
          <a:r>
            <a:rPr lang="en-US" sz="1600" dirty="0"/>
            <a:t>Path cost</a:t>
          </a:r>
        </a:p>
      </dgm:t>
    </dgm:pt>
    <dgm:pt modelId="{9B34E884-74EA-42FF-BD61-5E46FC81D493}" type="parTrans" cxnId="{201E55EB-D9CE-49F4-AD53-991BAF673B02}">
      <dgm:prSet/>
      <dgm:spPr/>
      <dgm:t>
        <a:bodyPr/>
        <a:lstStyle/>
        <a:p>
          <a:endParaRPr lang="en-US"/>
        </a:p>
      </dgm:t>
    </dgm:pt>
    <dgm:pt modelId="{682E82E2-7787-4B51-9E0C-BE9912162640}" type="sibTrans" cxnId="{201E55EB-D9CE-49F4-AD53-991BAF673B02}">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dgm:presLayoutVars>
          <dgm:bulletEnabled val="1"/>
        </dgm:presLayoutVars>
      </dgm:prSet>
      <dgm:spPr/>
    </dgm:pt>
  </dgm:ptLst>
  <dgm:cxnLst>
    <dgm:cxn modelId="{0B13DE07-506D-430A-8094-3CED932A67DF}" type="presOf" srcId="{A6D83732-67A5-4F7E-9591-F91564075C9F}" destId="{75826E61-882F-4E42-B2DE-53BD198C8B82}" srcOrd="0" destOrd="2" presId="urn:microsoft.com/office/officeart/2005/8/layout/hList1"/>
    <dgm:cxn modelId="{9DF7D512-55FA-41AD-8A0A-4993F081FA96}" type="presOf" srcId="{C4CB35F0-DD7C-44B7-A5EE-FA5F074BB79A}" destId="{A474BE47-4AC3-4F4F-A58E-4DCA74DCFC50}" srcOrd="0" destOrd="0" presId="urn:microsoft.com/office/officeart/2005/8/layout/hList1"/>
    <dgm:cxn modelId="{FF63512A-B75F-482B-BD9C-09223D0B54CB}" srcId="{B09331C5-3173-479A-991A-130DE1C12DC1}" destId="{61D9AF60-CC36-477E-88EB-42B03A7530F7}" srcOrd="1" destOrd="0" parTransId="{A083548C-B958-42AF-857A-BA52DBA2DEDD}" sibTransId="{427F5599-2440-4B96-AC6B-B68DF4D99358}"/>
    <dgm:cxn modelId="{F12F0041-9083-4B2F-9479-8A446A63C24E}" type="presOf" srcId="{61D9AF60-CC36-477E-88EB-42B03A7530F7}" destId="{75826E61-882F-4E42-B2DE-53BD198C8B82}" srcOrd="0" destOrd="1" presId="urn:microsoft.com/office/officeart/2005/8/layout/hList1"/>
    <dgm:cxn modelId="{F7199764-38BE-4EE6-979C-5C83910F2A20}" type="presOf" srcId="{B09331C5-3173-479A-991A-130DE1C12DC1}" destId="{7AB49BB4-A94C-41D3-94D4-8DEFEB2DB72C}" srcOrd="0" destOrd="0" presId="urn:microsoft.com/office/officeart/2005/8/layout/hList1"/>
    <dgm:cxn modelId="{1AAA8F4C-BF24-4E52-9000-8B5339ABF60B}" type="presOf" srcId="{27D33799-3B04-4365-B080-7CE7041B6744}" destId="{75826E61-882F-4E42-B2DE-53BD198C8B82}" srcOrd="0" destOrd="4" presId="urn:microsoft.com/office/officeart/2005/8/layout/hList1"/>
    <dgm:cxn modelId="{3B809D72-991F-4357-B1CB-1A73E0D4BC93}" type="presOf" srcId="{7830783F-9F12-4D05-BAAA-4021C7065760}" destId="{75826E61-882F-4E42-B2DE-53BD198C8B82}" srcOrd="0" destOrd="0" presId="urn:microsoft.com/office/officeart/2005/8/layout/hList1"/>
    <dgm:cxn modelId="{64E6F553-7D23-488F-9FAC-DC596BD9BB59}" type="presOf" srcId="{F0335D94-D374-41AD-8817-3F88B24B6920}" destId="{75826E61-882F-4E42-B2DE-53BD198C8B82}" srcOrd="0" destOrd="3" presId="urn:microsoft.com/office/officeart/2005/8/layout/hList1"/>
    <dgm:cxn modelId="{7C040ABF-F808-4E1A-BCE9-29A065211413}" srcId="{B09331C5-3173-479A-991A-130DE1C12DC1}" destId="{F0335D94-D374-41AD-8817-3F88B24B6920}" srcOrd="3" destOrd="0" parTransId="{C5C3229C-26EA-4C2B-ADF5-8CE31BFD2B56}" sibTransId="{DC5FFA83-1564-44FE-A05D-DEC072FB324A}"/>
    <dgm:cxn modelId="{8C2E26C2-0238-4D88-856A-972958EA1005}" srcId="{C4CB35F0-DD7C-44B7-A5EE-FA5F074BB79A}" destId="{B09331C5-3173-479A-991A-130DE1C12DC1}" srcOrd="0" destOrd="0" parTransId="{FB5829C9-BCE3-4442-951E-C2C9542065F6}" sibTransId="{B0DEE2C9-A5A9-485E-AD79-939446786DF5}"/>
    <dgm:cxn modelId="{08CE92E4-9B06-41DE-83CC-15BCC88653FA}" srcId="{B09331C5-3173-479A-991A-130DE1C12DC1}" destId="{7830783F-9F12-4D05-BAAA-4021C7065760}" srcOrd="0" destOrd="0" parTransId="{726606B3-11A0-4651-B4CC-860830C1F0EB}" sibTransId="{EC91F9A7-770B-4D17-ACE1-43AD505FAC78}"/>
    <dgm:cxn modelId="{201E55EB-D9CE-49F4-AD53-991BAF673B02}" srcId="{B09331C5-3173-479A-991A-130DE1C12DC1}" destId="{27D33799-3B04-4365-B080-7CE7041B6744}" srcOrd="4" destOrd="0" parTransId="{9B34E884-74EA-42FF-BD61-5E46FC81D493}" sibTransId="{682E82E2-7787-4B51-9E0C-BE9912162640}"/>
    <dgm:cxn modelId="{AFEA61F9-CDEC-4207-9D8E-9A2BB126CE48}" srcId="{B09331C5-3173-479A-991A-130DE1C12DC1}" destId="{A6D83732-67A5-4F7E-9591-F91564075C9F}" srcOrd="2" destOrd="0" parTransId="{F82C7628-CA4F-4405-8BC8-64EAD12D5907}" sibTransId="{75C393A3-9ADF-4939-A2E3-A1407EC30A5E}"/>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3336"/>
          <a:ext cx="2167520" cy="867008"/>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Given a search problem definition</a:t>
          </a:r>
        </a:p>
      </dsp:txBody>
      <dsp:txXfrm>
        <a:off x="0" y="3336"/>
        <a:ext cx="2167520" cy="867008"/>
      </dsp:txXfrm>
    </dsp:sp>
    <dsp:sp modelId="{75826E61-882F-4E42-B2DE-53BD198C8B82}">
      <dsp:nvSpPr>
        <dsp:cNvPr id="0" name=""/>
        <dsp:cNvSpPr/>
      </dsp:nvSpPr>
      <dsp:spPr>
        <a:xfrm>
          <a:off x="0" y="870344"/>
          <a:ext cx="2167520" cy="149327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Initial state</a:t>
          </a:r>
        </a:p>
        <a:p>
          <a:pPr marL="171450" lvl="1" indent="-171450" algn="l" defTabSz="711200">
            <a:lnSpc>
              <a:spcPct val="90000"/>
            </a:lnSpc>
            <a:spcBef>
              <a:spcPct val="0"/>
            </a:spcBef>
            <a:spcAft>
              <a:spcPct val="15000"/>
            </a:spcAft>
            <a:buChar char="•"/>
          </a:pPr>
          <a:r>
            <a:rPr lang="en-US" sz="1600" kern="1200" dirty="0"/>
            <a:t>Actions</a:t>
          </a:r>
        </a:p>
        <a:p>
          <a:pPr marL="171450" lvl="1" indent="-171450" algn="l" defTabSz="711200">
            <a:lnSpc>
              <a:spcPct val="90000"/>
            </a:lnSpc>
            <a:spcBef>
              <a:spcPct val="0"/>
            </a:spcBef>
            <a:spcAft>
              <a:spcPct val="15000"/>
            </a:spcAft>
            <a:buChar char="•"/>
          </a:pPr>
          <a:r>
            <a:rPr lang="en-US" sz="1600" kern="1200" dirty="0"/>
            <a:t>Transition model</a:t>
          </a:r>
        </a:p>
        <a:p>
          <a:pPr marL="171450" lvl="1" indent="-171450" algn="l" defTabSz="711200">
            <a:lnSpc>
              <a:spcPct val="90000"/>
            </a:lnSpc>
            <a:spcBef>
              <a:spcPct val="0"/>
            </a:spcBef>
            <a:spcAft>
              <a:spcPct val="15000"/>
            </a:spcAft>
            <a:buChar char="•"/>
          </a:pPr>
          <a:r>
            <a:rPr lang="en-US" sz="1600" kern="1200" dirty="0"/>
            <a:t>Goal state</a:t>
          </a:r>
        </a:p>
        <a:p>
          <a:pPr marL="171450" lvl="1" indent="-171450" algn="l" defTabSz="711200">
            <a:lnSpc>
              <a:spcPct val="90000"/>
            </a:lnSpc>
            <a:spcBef>
              <a:spcPct val="0"/>
            </a:spcBef>
            <a:spcAft>
              <a:spcPct val="15000"/>
            </a:spcAft>
            <a:buChar char="•"/>
          </a:pPr>
          <a:r>
            <a:rPr lang="en-US" sz="1600" kern="1200" dirty="0"/>
            <a:t>Path cost</a:t>
          </a:r>
        </a:p>
      </dsp:txBody>
      <dsp:txXfrm>
        <a:off x="0" y="870344"/>
        <a:ext cx="2167520" cy="1493279"/>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21.432"/>
    </inkml:context>
    <inkml:brush xml:id="br0">
      <inkml:brushProperty name="width" value="0.1" units="cm"/>
      <inkml:brushProperty name="height" value="0.1" units="cm"/>
      <inkml:brushProperty name="color" value="#E71224"/>
    </inkml:brush>
  </inkml:definitions>
  <inkml:trace contextRef="#ctx0" brushRef="#br0">105 76 2136,'-6'3'396,"0"0"-1,0 0 0,0 0 0,1 1 0,-1 0 0,1 0 0,0 0 0,0 1 0,0-1 1,1 1-1,0 1 0,0-1 0,0 0 0,1 1 0,-1 0 0,1 0 0,1 0 0,-1 0 1,-2 11-1,1-1 110,1 0 0,0 0 1,1-1-1,1 1 1,1 0-1,0 0 0,3 18 1,-2-25-393,1-1 0,0 1 1,0-1-1,1 0 0,0 0 0,1 0 1,-1-1-1,2 1 0,-1-1 1,1 0-1,0 0 0,0 0 1,1-1-1,0 0 0,0 0 0,0 0 1,1-1-1,7 5 0,-8-6-41,-1-1-1,1 0 0,0 0 0,0-1 1,0 1-1,1-1 0,-1-1 0,1 1 0,-1-1 1,1 0-1,-1 0 0,1-1 0,-1 0 1,1 0-1,-1-1 0,1 0 0,-1 0 0,1 0 1,-1-1-1,1 0 0,-1 0 0,0-1 1,10-5-1,-5 1 75,0-1 0,-1 0 0,0-1 0,0 0 0,-1-1 0,0 0 0,-1 0 0,0-1 0,10-19 0,-8 13 73,-1-2 0,-1 1 0,-1-1 0,0 0 0,6-33 0,-12 43-85,1-1 0,-2 0-1,1 1 1,-1-1 0,-1 0 0,1 0 0,-2 1 0,-2-12 0,3 15-79,-1 1 0,0-1-1,-1 1 1,1-1 0,-1 1 0,0 0 0,0 0-1,-1 0 1,1 0 0,-1 1 0,0-1-1,-1 1 1,1 0 0,-8-5 0,3 3-69,-1 1 1,0 1-1,0 0 0,0 0 1,0 0-1,-1 2 0,0-1 1,1 1-1,-1 1 0,-20-1 1,5 2-532,-1 1 1,1 2-1,-35 7 0,-20 11-467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06.440"/>
    </inkml:context>
    <inkml:brush xml:id="br0">
      <inkml:brushProperty name="width" value="0.1" units="cm"/>
      <inkml:brushProperty name="height" value="0.1" units="cm"/>
      <inkml:brushProperty name="color" value="#E71224"/>
    </inkml:brush>
  </inkml:definitions>
  <inkml:trace contextRef="#ctx0" brushRef="#br0">94 8 2425,'-1'0'277,"1"-1"1,-1 0 0,0 1 0,0-1 0,0 0 0,0 1 0,0-1 0,0 1 0,0-1-1,0 1 1,0 0 0,0-1 0,0 1 0,0 0 0,0 0 0,0 0 0,0 0 0,0 0-1,0 0 1,0 0 0,0 0 0,0 0 0,0 0 0,0 0 0,0 1 0,0-1 0,-2 1-1,-5 14 4697,5 0-4983,-16 224 4302,10 122-2638,6-184-847,-2 395 556,4-254-846,-9-43 83,4 155 90,8-384-651,1 20 69,16 102-1,-18-166-104,7 26 31,-8-27-33,0 0 1,0 0 0,1 0-1,-1-1 1,0 1 0,1 0 0,-1 0-1,1-1 1,-1 1 0,1 0 0,-1-1-1,1 1 1,0 0 0,-1-1 0,1 1-1,0-1 1,-1 1 0,1-1 0,0 1-1,0-1 1,0 0 0,-1 1-1,1-1 1,0 0 0,0 1 0,0-1-1,1 0 1,-1-1 0,0 1-1,0-1 0,0 1 1,0-1-1,0 0 1,0 0-1,-1 0 1,1 1-1,0-1 0,-1 0 1,1 0-1,0 0 1,-1 0-1,1 0 1,-1 0-1,0 0 0,1 0 1,-1 0-1,0 0 1,1 0-1,-1-1 1,0 1-1,0-1 0,4-35-300,-4 28 109,4-33-571,0-11 226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07.267"/>
    </inkml:context>
    <inkml:brush xml:id="br0">
      <inkml:brushProperty name="width" value="0.1" units="cm"/>
      <inkml:brushProperty name="height" value="0.1" units="cm"/>
      <inkml:brushProperty name="color" value="#E71224"/>
    </inkml:brush>
  </inkml:definitions>
  <inkml:trace contextRef="#ctx0" brushRef="#br0">87 5 3425,'-1'-1'266,"-1"0"-1,1 1 1,-1-1 0,1 1 0,-1 0-1,0-1 1,1 1 0,-1 0 0,1 0 0,-1 0-1,0 0 1,1 0 0,-1 0 0,1 0 0,-1 1-1,0-1 1,1 1 0,-1-1 0,1 1 0,-1 0-1,1-1 1,0 1 0,-1 0 0,1 0-1,0 0 1,-1 0 0,1 0 0,0 0 0,0 0-1,0 0 1,0 1 0,0-1 0,0 0 0,0 1-1,0-1 1,1 1 0,-2 2 0,-1 5 280,1 1 1,0 0 0,0 0 0,1-1-1,0 13 1,0-15-415,-3 327 4270,4-84-3076,-5-92-782,-8 556 1132,46 1-643,45-222-293,-76-489-1079,-2-5-121,0-14-634,-1-13-214,6-30 80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08.316"/>
    </inkml:context>
    <inkml:brush xml:id="br0">
      <inkml:brushProperty name="width" value="0.1" units="cm"/>
      <inkml:brushProperty name="height" value="0.1" units="cm"/>
      <inkml:brushProperty name="color" value="#E71224"/>
    </inkml:brush>
  </inkml:definitions>
  <inkml:trace contextRef="#ctx0" brushRef="#br0">13 531 5401,'-4'-15'678,"2"11"457,0-1 1,1 1-1,0-1 1,0 1-1,0-6 1,1 9-966,0 0 1,0 0-1,0 0 1,0 0-1,0 1 1,0-1-1,0 0 1,0 0-1,1 0 1,-1 0-1,0 1 1,1-1-1,-1 0 1,1 0-1,-1 1 1,1-1-1,-1 0 1,1 1-1,-1-1 1,1 0 0,0 1-1,-1-1 1,1 1-1,0-1 1,-1 1-1,1-1 1,0 1-1,0 0 1,0-1-1,-1 1 1,1 0-1,2-1 1,21-3 713,0 1 0,27-1 0,8 0-372,452-96 1529,-62 8-1290,376 26-259,-443 44-390,378-65 93,-330 31 343,-401 53-466,134-13 313,-127 14-161,0 2-1,53 7 1,-70-4 26,-18-3-61,-4 0-7,-34-5-286,-83-2-3270,35 6 1850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09.018"/>
    </inkml:context>
    <inkml:brush xml:id="br0">
      <inkml:brushProperty name="width" value="0.1" units="cm"/>
      <inkml:brushProperty name="height" value="0.1" units="cm"/>
      <inkml:brushProperty name="color" value="#E71224"/>
    </inkml:brush>
  </inkml:definitions>
  <inkml:trace contextRef="#ctx0" brushRef="#br0">8 867 8010,'-1'-1'162,"0"1"1,1-1-1,-1 0 1,0 0-1,1 0 1,-1 1-1,1-1 1,-1 0-1,1 0 1,0 0-1,-1 0 1,1 0-1,0 0 1,0 0-1,-1 0 1,1 0-1,0 0 1,0 0-1,0 0 1,0 0-1,0 0 1,1 0-1,-1 0 1,0-1-1,1 0 39,0 0 0,0 1 0,0-1 0,0 1 0,1-1 0,-1 1 0,0 0 0,1 0 0,-1-1 0,1 1 0,-1 0 0,3-1 0,7-3 390,0 0 0,0 0 1,17-3-1,-24 6-476,97-26 1344,183-61 779,-69 15-1143,2 10 1,273-45 0,459-24-520,-691 101-420,274-43 161,-12-44 343,-508 115-638,12-3 62,0-1 0,34-16 0,-53 21-54,-4 3-18,1-1 0,-1 0 0,1 1-1,-1-1 1,1 0 0,-1 0 0,1 0 0,-1 0 0,0 0 0,0 0-1,1 0 1,-1 0 0,0 0 0,0-1 0,0 1 0,0 0-1,0-1 1,-1 1 0,2-3 0,-2 4-15,0 0 0,0-1 1,0 1-1,0 0 0,0 0 0,0 0 0,0-1 1,0 1-1,0 0 0,0 0 0,-1-1 0,1 1 0,0 0 1,0 0-1,0 0 0,0-1 0,0 1 0,0 0 1,-1 0-1,1 0 0,0 0 0,0-1 0,0 1 1,-1 0-1,1 0 0,0 0 0,0 0 0,0 0 1,-1 0-1,1 0 0,0-1 0,0 1 0,-1 0 0,1 0 1,0 0-1,0 0 0,-1 0 0,-8 0-463,0 0-1,0 0 1,0 0-1,0 1 1,-14 4-1,-43 8-885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16.564"/>
    </inkml:context>
    <inkml:brush xml:id="br0">
      <inkml:brushProperty name="width" value="0.1" units="cm"/>
      <inkml:brushProperty name="height" value="0.1" units="cm"/>
      <inkml:brushProperty name="color" value="#E71224"/>
    </inkml:brush>
  </inkml:definitions>
  <inkml:trace contextRef="#ctx0" brushRef="#br0">48 8 4745,'-7'-2'578,"-34"-4"7068,58 25-3653,48 67-725,-44-56-2793,1-2 0,1 0 0,1-2 0,33 30 0,-21-30-9,39 21 0,-50-33-261,-1 1-1,0 1 0,-1 1 0,40 39 1,-55-50-870,-18-21-3737</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16.786"/>
    </inkml:context>
    <inkml:brush xml:id="br0">
      <inkml:brushProperty name="width" value="0.1" units="cm"/>
      <inkml:brushProperty name="height" value="0.1" units="cm"/>
      <inkml:brushProperty name="color" value="#E71224"/>
    </inkml:brush>
  </inkml:definitions>
  <inkml:trace contextRef="#ctx0" brushRef="#br0">1 528 13139,'17'-27'2016,"7"0"529,9-2-849,0-5-15,6-3-633,3-3-256,3-7-352,5-3-152,8-3-176,-4 0-24,-1 3-608,2 4-912,-13 12 816</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18.077"/>
    </inkml:context>
    <inkml:brush xml:id="br0">
      <inkml:brushProperty name="width" value="0.1" units="cm"/>
      <inkml:brushProperty name="height" value="0.1" units="cm"/>
      <inkml:brushProperty name="color" value="#E71224"/>
    </inkml:brush>
  </inkml:definitions>
  <inkml:trace contextRef="#ctx0" brushRef="#br0">0 1 1448,'5'18'14563,"4"-9"-13841,0 1-250,-1 1 1,-1 0-1,0 0 0,0 0 1,-1 1-1,-1 0 0,0 0 1,4 18-1,-2-11-349,0-1 0,17 32 0,-8-22-41,2-2 0,0 0 1,2-2-1,1 0 1,42 38-1,-53-57-2766,-14-8 1597</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18.314"/>
    </inkml:context>
    <inkml:brush xml:id="br0">
      <inkml:brushProperty name="width" value="0.1" units="cm"/>
      <inkml:brushProperty name="height" value="0.1" units="cm"/>
      <inkml:brushProperty name="color" value="#E71224"/>
    </inkml:brush>
  </inkml:definitions>
  <inkml:trace contextRef="#ctx0" brushRef="#br0">0 446 9874,'42'-29'1544,"-8"-5"1833,-2 0-1416,-3-3 39,2-3-664,-6-2-720,6-1-127,-5-1-257,-1 2-112,-2 4-512,-1 4-737,2 5 649</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36.381"/>
    </inkml:context>
    <inkml:brush xml:id="br0">
      <inkml:brushProperty name="width" value="0.1" units="cm"/>
      <inkml:brushProperty name="height" value="0.1" units="cm"/>
      <inkml:brushProperty name="color" value="#E71224"/>
    </inkml:brush>
  </inkml:definitions>
  <inkml:trace contextRef="#ctx0" brushRef="#br0">277 34 1712,'-6'-2'425,"0"1"-1,0 0 0,0 0 0,0 1 0,0-1 1,0 1-1,-1 1 0,1-1 0,0 1 0,0 0 1,0 0-1,0 1 0,1 0 0,-1 0 0,0 0 1,1 1-1,-1-1 0,1 1 0,0 1 0,0-1 1,0 1-1,0 0 0,1 0 0,0 0 0,-1 1 1,1-1-1,-5 9 0,0 1-128,1-1-1,0 1 1,1 1-1,1-1 1,0 1 0,1 0-1,1 0 1,0 1 0,-3 23-1,4-8 158,1 1-1,1-1 1,4 33 0,-2-54-329,0 0 0,1 0 0,0 0 1,0 0-1,1-1 0,1 1 0,-1-1 1,2 1-1,-1-1 0,1 0 0,1-1 1,-1 1-1,10 9 0,-9-12-56,0-1 0,0-1 0,1 1 0,-1-1-1,1 0 1,0-1 0,0 1 0,1-1 0,-1-1-1,1 1 1,-1-1 0,1-1 0,-1 0 0,1 0 0,0 0-1,0-1 1,0 0 0,0 0 0,-1-1 0,1 0-1,9-3 1,5-1 20,0-1 1,-1-2-1,0 0 0,-1-1 1,0-1-1,24-16 0,-18 9 15,-2 0-1,0-2 1,-1-1 0,37-40-1,-52 52-19,-1-1 0,0 0 0,0-1 0,-1 0 0,0 0 0,-1 0 0,0 0 0,-1-1 0,0 0 0,0 0 0,-1 0 0,-1 0 0,0-1 0,0 1 0,-1-20-1,-2 24-16,0 1 0,0-1 0,0 0 0,-1 1 0,0-1 0,-1 1 0,1 0 0,-1 0 0,0 0 0,-1 0 0,-4-6 0,1 3-10,-1 1 0,0 0-1,0 0 1,0 1 0,-1 0 0,-12-8-1,2 4-30,0 2 0,0-1 0,-1 2 0,0 1 0,-1 0 0,-31-5 0,34 9-37,1 1 1,0 1 0,0 0 0,-1 1-1,1 1 1,-1 1 0,1 1-1,0 0 1,-32 10 0,38-8-111,0-1 0,0 1 0,1 1 0,-1 0 0,1 0 0,1 1-1,-1 0 1,1 1 0,0 0 0,1 0 0,0 1 0,1 0 0,-1 1 0,2 0 0,-10 15 0,9-8-548,0 0 0,1 0 1,-3 18-1,-12 62-1096</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39.504"/>
    </inkml:context>
    <inkml:brush xml:id="br0">
      <inkml:brushProperty name="width" value="0.1" units="cm"/>
      <inkml:brushProperty name="height" value="0.1" units="cm"/>
      <inkml:brushProperty name="color" value="#E71224"/>
    </inkml:brush>
  </inkml:definitions>
  <inkml:trace contextRef="#ctx0" brushRef="#br0">206 54 2369,'-4'-4'341,"1"1"0,-1 0 0,1-1 0,0 1 0,0-1 0,0 0 1,0 0-1,1 0 0,0 0 0,-8-12 3907,9 16-4147,-4 6 2014,-1 13-311,0 20-697,1 1-1,3 0 1,1 48-1,1 3-336,-65 842 4055,52-824-4466,-46 568 1137,58-568-1313,0 121-773,0-258-692,3-24 356</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40.148"/>
    </inkml:context>
    <inkml:brush xml:id="br0">
      <inkml:brushProperty name="width" value="0.1" units="cm"/>
      <inkml:brushProperty name="height" value="0.1" units="cm"/>
      <inkml:brushProperty name="color" value="#E71224"/>
    </inkml:brush>
  </inkml:definitions>
  <inkml:trace contextRef="#ctx0" brushRef="#br0">254 24 2473,'0'0'58,"0"-1"0,1 0 0,-1 1 0,1-1 0,-1 0 0,0 0 1,0 1-1,1-1 0,-1 0 0,0 0 0,0 1 0,0-1 0,0 0 1,0 0-1,0 0 0,0 1 0,0-1 0,0 0 0,0 0 1,0 0-1,-1 1 0,1-1 0,0-1 0,-1 2 116,0-1-1,1 1 1,-1 0-1,1-1 1,-1 1-1,0-1 1,1 1-1,-1 0 1,0 0-1,1-1 1,-1 1-1,0 0 1,1 0 0,-1 0-1,0 0 1,0 0-1,1 0 1,-1 0-1,0 0 1,0 0-1,-2 0 333,0 1 0,0-1-1,0 1 1,0 0-1,0 0 1,1 0 0,-1 0-1,0 0 1,1 1 0,-1-1-1,1 1 1,-4 2 0,2 1-79,0 0 0,0 0 0,0 1 0,1 0 0,0-1 0,0 1 0,0 0 0,1 1 0,-3 11 0,-1 7 337,-2 30 0,6-41-506,-21 280 2299,15-158-1823,-37 428 1385,-17 266-429,62-824-1685,-12 295 383,21-3-414,-8-294-1203,0-14 654,0 3 261,3-43-572</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40.965"/>
    </inkml:context>
    <inkml:brush xml:id="br0">
      <inkml:brushProperty name="width" value="0.1" units="cm"/>
      <inkml:brushProperty name="height" value="0.1" units="cm"/>
      <inkml:brushProperty name="color" value="#E71224"/>
    </inkml:brush>
  </inkml:definitions>
  <inkml:trace contextRef="#ctx0" brushRef="#br0">33 121 3017,'-32'-18'9124,"39"16"-6767,11 0-617,134-11 2817,75-20-2021,96-8-1026,88 29-391,3 27-646,-184-6-354,-136-5-73,1003 55 1029,-782-10-620,-276-41-369,-37-8-112,1 1 0,-1-1-1,1 1 1,-1-1 0,1 0-1,-1 0 1,0 0 0,1-1 0,3 0-1,-6 1 2,1 0 0,-1 0 0,0 0-1,0 0 1,1-1 0,-1 1-1,0 0 1,0 0 0,1 0 0,-1 0-1,0-1 1,0 1 0,0 0-1,0 0 1,1-1 0,-1 1 0,0 0-1,0 0 1,0-1 0,0 1-1,0 0 1,0 0 0,0-1 0,1 1-1,-1 0 1,0-1 0,0 1-1,0-1 1,-7-13-1053,-10-3 359</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41.574"/>
    </inkml:context>
    <inkml:brush xml:id="br0">
      <inkml:brushProperty name="width" value="0.1" units="cm"/>
      <inkml:brushProperty name="height" value="0.1" units="cm"/>
      <inkml:brushProperty name="color" value="#E71224"/>
    </inkml:brush>
  </inkml:definitions>
  <inkml:trace contextRef="#ctx0" brushRef="#br0">16 223 5425,'-15'-18'5720,"15"17"-5448,1 1 0,0 0 1,-1-1-1,1 1 0,0 0 0,-1 0 0,1-1 1,0 1-1,0 0 0,-1 0 0,1 0 0,0 0 1,0 0-1,-1 0 0,1 0 0,0 0 0,1 1 1,20-3 560,262-22 5019,149 2-3335,522-16-791,-354 13-1162,-82 1-220,265-8 188,-767 32-535,32-2-47,-46 2-8,-1 0 0,1-1 0,0 1 0,0-1 0,-1 0 0,1 0 0,-1 0 0,1 0 0,0 0 0,-1 0 0,0-1 0,1 1 0,1-3 1,-4 4 37,1 0-1,-1 0 1,0-1 0,0 1 0,0 0 0,0 0 0,0-1 0,0 1 0,0 0 0,1 0 0,-1-1 0,0 1 0,0 0 0,0 0 0,0-1 0,0 1 0,0 0 0,0-1 0,0 1 0,0 0 0,-1 0 0,1-1 0,0 1 0,0 0 0,0 0 0,0-1 0,0 1 0,0 0 0,0 0 0,-1-1-1,1 1 1,0 0 0,0 0 0,0 0 0,-1-1 0,1 1 0,0 0 0,0 0 0,0 0 0,-1 0 0,1 0 0,0-1 0,0 1 0,-1 0 0,-22-8-645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44.458"/>
    </inkml:context>
    <inkml:brush xml:id="br0">
      <inkml:brushProperty name="width" value="0.1" units="cm"/>
      <inkml:brushProperty name="height" value="0.1" units="cm"/>
      <inkml:brushProperty name="color" value="#E71224"/>
    </inkml:brush>
  </inkml:definitions>
  <inkml:trace contextRef="#ctx0" brushRef="#br0">38 5 7098,'-1'-1'184,"1"1"1,-1-1 0,0 1 0,0 0-1,0-1 1,0 1 0,0 0 0,0-1 0,0 1-1,0 0 1,0 0 0,0 0 0,0 0 0,0 0-1,0 0 1,0 0 0,0 0 0,0 0-1,0 0 1,0 1 0,0-1 0,0 0 0,0 1-1,0-1 1,1 1 0,-1-1 0,0 1 0,0-1-1,0 1 1,1 0 0,-1-1 0,0 1-1,0 0 1,1-1 0,-1 1 0,1 0 0,-1 0-1,1 0 1,-1 0 0,1 0 0,-1 1-1,0 1 82,1 0-1,-1-1 0,1 1 0,0 0 0,-1-1 0,1 1 0,1 0 0,-1-1 0,0 1 0,1 0 1,-1-1-1,1 1 0,0 0 0,0-1 0,2 4 0,4 7 15,1-1-1,0-1 0,1 0 1,17 18-1,47 35 321,-37-34-246,-13-10-130,14 12 343,45 49 0,-72-68-477,0-1 0,0 2 0,-1-1 0,-1 1 0,0 1 0,-1 0 0,10 30 0,1 30 73,-22-91-4216,-3-1 2378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44.710"/>
    </inkml:context>
    <inkml:brush xml:id="br0">
      <inkml:brushProperty name="width" value="0.1" units="cm"/>
      <inkml:brushProperty name="height" value="0.1" units="cm"/>
      <inkml:brushProperty name="color" value="#E71224"/>
    </inkml:brush>
  </inkml:definitions>
  <inkml:trace contextRef="#ctx0" brushRef="#br0">1 469 12811,'1'-13'1696,"12"-5"337,2-1-41,6-8-312,-1-2-407,6-7-497,3 1-136,5-7-352,1 2-144,1-2-88,-3 2 0,-2 3-152,-2 3-264,-5 8-1112,2 5-1225,-2 12 1145</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6T16:41:46.853"/>
    </inkml:context>
    <inkml:brush xml:id="br0">
      <inkml:brushProperty name="width" value="0.1" units="cm"/>
      <inkml:brushProperty name="height" value="0.1" units="cm"/>
      <inkml:brushProperty name="color" value="#E71224"/>
    </inkml:brush>
  </inkml:definitions>
  <inkml:trace contextRef="#ctx0" brushRef="#br0">76 272 3113,'0'2'154,"1"-1"0,0 1 0,-1 0 1,1-1-1,-1 1 0,0 0 0,1 0 0,-1 0 1,0-1-1,0 1 0,0 0 0,0 0 0,0-1 1,-1 1-1,0 3 0,-11 30 1978,3-8-867,6-15-859,1 0 0,0 0 1,0 0-1,2 0 0,-1 1 1,3 19-1,-2-28-344,1 0 1,0-1 0,-1 1-1,1-1 1,0 1-1,1-1 1,-1 1 0,1-1-1,-1 0 1,1 0-1,0 0 1,0 0 0,1 0-1,-1 0 1,1 0-1,-1-1 1,1 1 0,0-1-1,0 0 1,0 0-1,0 0 1,0 0 0,0 0-1,1-1 1,-1 1-1,7 1 1,-3-2 91,0 0-1,0-1 1,0 0 0,0 0-1,0 0 1,0-1 0,0 0-1,0-1 1,0 1 0,0-1-1,0-1 1,-1 1 0,1-1-1,-1 0 1,0 0 0,0-1-1,0 0 1,0 0 0,6-6 0,4-5 194,0 0 0,-1 0 0,-1-2 0,-1 0 0,12-19 0,-11 14 71,0 0 0,-2-2 0,-1 1-1,12-39 1,-20 52-259,0 0 1,-1 0-1,0 0 1,0 0-1,-1-1 0,-1 1 1,0 0-1,0-1 1,-1 1-1,0 0 0,0 0 1,-1 0-1,-1 0 1,-4-13-1,5 19-115,-1-1 0,1 1 0,-1 0 0,0 0 0,0 0 0,0 0 0,0 0 0,-1 0 0,1 1 0,-1 0 0,0 0 0,0 0 0,0 0 0,-9-4 0,6 4-18,1 1 0,-1 0 0,0 0 0,0 1 0,0 0 0,0 0 0,0 1 0,0-1 0,-12 2 0,2 2-127,1 0-1,-1 1 0,0 0 1,1 1-1,0 1 0,0 1 1,-27 16-1,29-15-203,1 1 1,0 0-1,-19 19 0,18-13 30,1 1 0,-14 22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9570"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1" name="Rectangle 3"/>
          <p:cNvSpPr>
            <a:spLocks noGrp="1" noChangeArrowheads="1"/>
          </p:cNvSpPr>
          <p:nvPr>
            <p:ph type="dt" idx="1"/>
          </p:nvPr>
        </p:nvSpPr>
        <p:spPr bwMode="auto">
          <a:xfrm>
            <a:off x="4143587"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eaLnBrk="1" hangingPunct="1">
              <a:defRPr sz="1300">
                <a:latin typeface="Calibri" panose="020F0502020204030204" pitchFamily="34" charset="0"/>
              </a:defRPr>
            </a:lvl1pPr>
          </a:lstStyle>
          <a:p>
            <a:endParaRPr lang="en-US" dirty="0"/>
          </a:p>
        </p:txBody>
      </p:sp>
      <p:sp>
        <p:nvSpPr>
          <p:cNvPr id="109572"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09573" name="Rectangle 5"/>
          <p:cNvSpPr>
            <a:spLocks noGrp="1" noChangeArrowheads="1"/>
          </p:cNvSpPr>
          <p:nvPr>
            <p:ph type="body" sz="quarter" idx="3"/>
          </p:nvPr>
        </p:nvSpPr>
        <p:spPr bwMode="auto">
          <a:xfrm>
            <a:off x="731520" y="4560570"/>
            <a:ext cx="5852160" cy="432054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9574" name="Rectangle 6"/>
          <p:cNvSpPr>
            <a:spLocks noGrp="1" noChangeArrowheads="1"/>
          </p:cNvSpPr>
          <p:nvPr>
            <p:ph type="ftr" sz="quarter" idx="4"/>
          </p:nvPr>
        </p:nvSpPr>
        <p:spPr bwMode="auto">
          <a:xfrm>
            <a:off x="0"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5" name="Rectangle 7"/>
          <p:cNvSpPr>
            <a:spLocks noGrp="1" noChangeArrowheads="1"/>
          </p:cNvSpPr>
          <p:nvPr>
            <p:ph type="sldNum" sz="quarter" idx="5"/>
          </p:nvPr>
        </p:nvSpPr>
        <p:spPr bwMode="auto">
          <a:xfrm>
            <a:off x="4143587"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eaLnBrk="1" hangingPunct="1">
              <a:defRPr sz="1300">
                <a:latin typeface="Calibri" panose="020F0502020204030204" pitchFamily="34" charset="0"/>
              </a:defRPr>
            </a:lvl1pPr>
          </a:lstStyle>
          <a:p>
            <a:fld id="{3AED0B83-FA1E-482D-AD89-4E224F76AB55}"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fontAlgn="base">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fontAlgn="base">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fontAlgn="base">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fontAlgn="base">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6</a:t>
            </a:fld>
            <a:endParaRPr lang="en-US"/>
          </a:p>
        </p:txBody>
      </p:sp>
    </p:spTree>
    <p:extLst>
      <p:ext uri="{BB962C8B-B14F-4D97-AF65-F5344CB8AC3E}">
        <p14:creationId xmlns:p14="http://schemas.microsoft.com/office/powerpoint/2010/main" val="5522182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10</a:t>
            </a:fld>
            <a:endParaRPr lang="en-US"/>
          </a:p>
        </p:txBody>
      </p:sp>
    </p:spTree>
    <p:extLst>
      <p:ext uri="{BB962C8B-B14F-4D97-AF65-F5344CB8AC3E}">
        <p14:creationId xmlns:p14="http://schemas.microsoft.com/office/powerpoint/2010/main" val="40702550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18</a:t>
            </a:fld>
            <a:endParaRPr lang="en-US"/>
          </a:p>
        </p:txBody>
      </p:sp>
    </p:spTree>
    <p:extLst>
      <p:ext uri="{BB962C8B-B14F-4D97-AF65-F5344CB8AC3E}">
        <p14:creationId xmlns:p14="http://schemas.microsoft.com/office/powerpoint/2010/main" val="1423660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23</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5F686-6E56-03C7-C2BD-83EF6CCF8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7BC9A-3E80-A983-3378-A7D5CB2BA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6B7F0-4F63-A189-E736-80CA7A396C29}"/>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44C44AE-B217-BE24-48B2-1627739124F3}"/>
              </a:ext>
            </a:extLst>
          </p:cNvPr>
          <p:cNvSpPr>
            <a:spLocks noGrp="1"/>
          </p:cNvSpPr>
          <p:nvPr>
            <p:ph type="sldNum" sz="quarter" idx="10"/>
          </p:nvPr>
        </p:nvSpPr>
        <p:spPr/>
        <p:txBody>
          <a:bodyPr/>
          <a:lstStyle/>
          <a:p>
            <a:fld id="{3AED0B83-FA1E-482D-AD89-4E224F76AB55}" type="slidenum">
              <a:rPr lang="en-US" smtClean="0"/>
              <a:pPr/>
              <a:t>26</a:t>
            </a:fld>
            <a:endParaRPr lang="en-US"/>
          </a:p>
        </p:txBody>
      </p:sp>
    </p:spTree>
    <p:extLst>
      <p:ext uri="{BB962C8B-B14F-4D97-AF65-F5344CB8AC3E}">
        <p14:creationId xmlns:p14="http://schemas.microsoft.com/office/powerpoint/2010/main" val="19084781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28</a:t>
            </a:fld>
            <a:endParaRPr lang="en-US"/>
          </a:p>
        </p:txBody>
      </p:sp>
    </p:spTree>
    <p:extLst>
      <p:ext uri="{BB962C8B-B14F-4D97-AF65-F5344CB8AC3E}">
        <p14:creationId xmlns:p14="http://schemas.microsoft.com/office/powerpoint/2010/main" val="24898962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29</a:t>
            </a:fld>
            <a:endParaRPr lang="en-US"/>
          </a:p>
        </p:txBody>
      </p:sp>
    </p:spTree>
    <p:extLst>
      <p:ext uri="{BB962C8B-B14F-4D97-AF65-F5344CB8AC3E}">
        <p14:creationId xmlns:p14="http://schemas.microsoft.com/office/powerpoint/2010/main" val="836876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30</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2/13/2026</a:t>
            </a:fld>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2016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4426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3783512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9058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9886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53371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3504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11733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11188140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06831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E97C47EE-1537-423B-A9B2-96D7BC867AC1}" type="slidenum">
              <a:rPr lang="en-US" smtClean="0"/>
              <a:t>‹#›</a:t>
            </a:fld>
            <a:endParaRPr lang="en-US"/>
          </a:p>
        </p:txBody>
      </p:sp>
    </p:spTree>
    <p:extLst>
      <p:ext uri="{BB962C8B-B14F-4D97-AF65-F5344CB8AC3E}">
        <p14:creationId xmlns:p14="http://schemas.microsoft.com/office/powerpoint/2010/main" val="4010628792"/>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7.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00.png"/><Relationship Id="rId4" Type="http://schemas.openxmlformats.org/officeDocument/2006/relationships/image" Target="../media/image190.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7.png"/><Relationship Id="rId7" Type="http://schemas.openxmlformats.org/officeDocument/2006/relationships/image" Target="../media/image140.png"/><Relationship Id="rId2" Type="http://schemas.openxmlformats.org/officeDocument/2006/relationships/image" Target="../media/image6.png"/><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60.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0.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7.png"/><Relationship Id="rId7" Type="http://schemas.openxmlformats.org/officeDocument/2006/relationships/image" Target="../media/image191.png"/><Relationship Id="rId2" Type="http://schemas.openxmlformats.org/officeDocument/2006/relationships/image" Target="../media/image6.png"/><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7.png"/><Relationship Id="rId7" Type="http://schemas.openxmlformats.org/officeDocument/2006/relationships/image" Target="../media/image220.png"/><Relationship Id="rId2" Type="http://schemas.openxmlformats.org/officeDocument/2006/relationships/image" Target="../media/image6.png"/><Relationship Id="rId1" Type="http://schemas.openxmlformats.org/officeDocument/2006/relationships/slideLayout" Target="../slideLayouts/slideLayout6.xml"/><Relationship Id="rId6" Type="http://schemas.microsoft.com/office/2007/relationships/hdphoto" Target="../media/hdphoto2.wdp"/><Relationship Id="rId11" Type="http://schemas.openxmlformats.org/officeDocument/2006/relationships/image" Target="../media/image26.png"/><Relationship Id="rId5" Type="http://schemas.openxmlformats.org/officeDocument/2006/relationships/image" Target="../media/image9.png"/><Relationship Id="rId10" Type="http://schemas.openxmlformats.org/officeDocument/2006/relationships/image" Target="../media/image25.png"/><Relationship Id="rId4" Type="http://schemas.openxmlformats.org/officeDocument/2006/relationships/image" Target="../media/image8.png"/><Relationship Id="rId9" Type="http://schemas.openxmlformats.org/officeDocument/2006/relationships/image" Target="../media/image2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390.png"/></Relationships>
</file>

<file path=ppt/slides/_rels/slide23.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microsoft.com/office/2007/relationships/hdphoto" Target="../media/hdphoto1.wdp"/></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9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820.png"/><Relationship Id="rId4" Type="http://schemas.openxmlformats.org/officeDocument/2006/relationships/image" Target="../media/image830.png"/></Relationships>
</file>

<file path=ppt/slides/_rels/slide32.xml.rels><?xml version="1.0" encoding="UTF-8" standalone="yes"?>
<Relationships xmlns="http://schemas.openxmlformats.org/package/2006/relationships"><Relationship Id="rId13" Type="http://schemas.openxmlformats.org/officeDocument/2006/relationships/customXml" Target="../ink/ink6.xml"/><Relationship Id="rId18" Type="http://schemas.openxmlformats.org/officeDocument/2006/relationships/image" Target="../media/image38.png"/><Relationship Id="rId26" Type="http://schemas.openxmlformats.org/officeDocument/2006/relationships/image" Target="../media/image42.png"/><Relationship Id="rId3" Type="http://schemas.openxmlformats.org/officeDocument/2006/relationships/customXml" Target="../ink/ink1.xml"/><Relationship Id="rId21" Type="http://schemas.openxmlformats.org/officeDocument/2006/relationships/customXml" Target="../ink/ink10.xml"/><Relationship Id="rId34" Type="http://schemas.openxmlformats.org/officeDocument/2006/relationships/image" Target="../media/image46.png"/><Relationship Id="rId7" Type="http://schemas.openxmlformats.org/officeDocument/2006/relationships/customXml" Target="../ink/ink3.xml"/><Relationship Id="rId12" Type="http://schemas.openxmlformats.org/officeDocument/2006/relationships/image" Target="../media/image35.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customXml" Target="../ink/ink16.xml"/><Relationship Id="rId2" Type="http://schemas.openxmlformats.org/officeDocument/2006/relationships/image" Target="../media/image18.png"/><Relationship Id="rId16" Type="http://schemas.openxmlformats.org/officeDocument/2006/relationships/image" Target="../media/image37.png"/><Relationship Id="rId20" Type="http://schemas.openxmlformats.org/officeDocument/2006/relationships/image" Target="../media/image39.png"/><Relationship Id="rId29" Type="http://schemas.openxmlformats.org/officeDocument/2006/relationships/customXml" Target="../ink/ink14.xml"/><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customXml" Target="../ink/ink5.xml"/><Relationship Id="rId24" Type="http://schemas.openxmlformats.org/officeDocument/2006/relationships/image" Target="../media/image41.png"/><Relationship Id="rId32" Type="http://schemas.openxmlformats.org/officeDocument/2006/relationships/image" Target="../media/image45.png"/><Relationship Id="rId5" Type="http://schemas.openxmlformats.org/officeDocument/2006/relationships/customXml" Target="../ink/ink2.xml"/><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image" Target="../media/image43.png"/><Relationship Id="rId36" Type="http://schemas.openxmlformats.org/officeDocument/2006/relationships/image" Target="../media/image47.png"/><Relationship Id="rId10" Type="http://schemas.openxmlformats.org/officeDocument/2006/relationships/image" Target="../media/image34.png"/><Relationship Id="rId19" Type="http://schemas.openxmlformats.org/officeDocument/2006/relationships/customXml" Target="../ink/ink9.xml"/><Relationship Id="rId31" Type="http://schemas.openxmlformats.org/officeDocument/2006/relationships/customXml" Target="../ink/ink15.xml"/><Relationship Id="rId4" Type="http://schemas.openxmlformats.org/officeDocument/2006/relationships/image" Target="../media/image31.png"/><Relationship Id="rId9" Type="http://schemas.openxmlformats.org/officeDocument/2006/relationships/customXml" Target="../ink/ink4.xml"/><Relationship Id="rId14" Type="http://schemas.openxmlformats.org/officeDocument/2006/relationships/image" Target="../media/image36.png"/><Relationship Id="rId22" Type="http://schemas.openxmlformats.org/officeDocument/2006/relationships/image" Target="../media/image40.png"/><Relationship Id="rId27" Type="http://schemas.openxmlformats.org/officeDocument/2006/relationships/customXml" Target="../ink/ink13.xml"/><Relationship Id="rId30" Type="http://schemas.openxmlformats.org/officeDocument/2006/relationships/image" Target="../media/image44.png"/><Relationship Id="rId35" Type="http://schemas.openxmlformats.org/officeDocument/2006/relationships/customXml" Target="../ink/ink17.xml"/><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7" name="Picture 5"/>
          <p:cNvPicPr>
            <a:picLocks noChangeAspect="1" noChangeArrowheads="1"/>
          </p:cNvPicPr>
          <p:nvPr/>
        </p:nvPicPr>
        <p:blipFill rotWithShape="1">
          <a:blip r:embed="rId3" cstate="print"/>
          <a:srcRect r="5200"/>
          <a:stretch/>
        </p:blipFill>
        <p:spPr bwMode="auto">
          <a:xfrm>
            <a:off x="2642616" y="10"/>
            <a:ext cx="6501384" cy="6857990"/>
          </a:xfrm>
          <a:prstGeom prst="rect">
            <a:avLst/>
          </a:prstGeom>
          <a:noFill/>
        </p:spPr>
      </p:pic>
      <p:sp>
        <p:nvSpPr>
          <p:cNvPr id="76" name="Rectangle 75">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Autofit/>
          </a:bodyPr>
          <a:lstStyle/>
          <a:p>
            <a:pPr algn="l"/>
            <a:r>
              <a:rPr lang="en-US" sz="2400" dirty="0"/>
              <a:t>CS 5/7320 </a:t>
            </a:r>
            <a:br>
              <a:rPr lang="en-US" sz="2400" dirty="0"/>
            </a:br>
            <a:r>
              <a:rPr lang="en-US" sz="2400" dirty="0"/>
              <a:t>Artificial Intelligence</a:t>
            </a:r>
            <a:br>
              <a:rPr lang="en-US" sz="3200" dirty="0"/>
            </a:br>
            <a:br>
              <a:rPr lang="en-US" sz="3200" dirty="0"/>
            </a:br>
            <a:r>
              <a:rPr lang="en-US" sz="3200" dirty="0"/>
              <a:t>Solving problems by searching</a:t>
            </a:r>
            <a:br>
              <a:rPr lang="en-US" sz="3200" dirty="0"/>
            </a:br>
            <a:r>
              <a:rPr lang="en-US" sz="2000" dirty="0"/>
              <a:t>AIMA Chapter 3</a:t>
            </a:r>
            <a:endParaRPr lang="en-US" sz="3200" dirty="0"/>
          </a:p>
        </p:txBody>
      </p:sp>
      <p:sp>
        <p:nvSpPr>
          <p:cNvPr id="3075" name="Rectangle 3"/>
          <p:cNvSpPr>
            <a:spLocks noGrp="1" noChangeArrowheads="1"/>
          </p:cNvSpPr>
          <p:nvPr>
            <p:ph type="subTitle" idx="1"/>
          </p:nvPr>
        </p:nvSpPr>
        <p:spPr>
          <a:xfrm>
            <a:off x="259081" y="4872922"/>
            <a:ext cx="3017519" cy="1208141"/>
          </a:xfrm>
        </p:spPr>
        <p:txBody>
          <a:bodyPr>
            <a:normAutofit/>
          </a:bodyPr>
          <a:lstStyle/>
          <a:p>
            <a:pPr algn="l"/>
            <a:r>
              <a:rPr lang="en-US" dirty="0"/>
              <a:t>Slides by Michael Hahsler</a:t>
            </a:r>
            <a:br>
              <a:rPr lang="en-US" dirty="0"/>
            </a:br>
            <a:r>
              <a:rPr lang="en-US" sz="1400" dirty="0"/>
              <a:t>based on slides by Svetlana </a:t>
            </a:r>
            <a:r>
              <a:rPr lang="en-US" sz="1400" dirty="0" err="1"/>
              <a:t>Lazepnik</a:t>
            </a:r>
            <a:r>
              <a:rPr lang="en-US" sz="1400" dirty="0"/>
              <a:t> with figures from the AIMA textbook.</a:t>
            </a:r>
          </a:p>
        </p:txBody>
      </p:sp>
      <p:sp>
        <p:nvSpPr>
          <p:cNvPr id="78" name="Rectangle 7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0" name="Rectangle 7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 name="Picture 4" descr="Creative Commons License">
            <a:extLst>
              <a:ext uri="{FF2B5EF4-FFF2-40B4-BE49-F238E27FC236}">
                <a16:creationId xmlns:a16="http://schemas.microsoft.com/office/drawing/2014/main" id="{DD0046E9-1953-4A65-8AFE-6A01CBC5CF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5785788"/>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E6ABB877-EDDD-49CF-96C5-57C1990E3D8A}"/>
              </a:ext>
            </a:extLst>
          </p:cNvPr>
          <p:cNvSpPr txBox="1"/>
          <p:nvPr/>
        </p:nvSpPr>
        <p:spPr>
          <a:xfrm>
            <a:off x="296569" y="6196601"/>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sp>
        <p:nvSpPr>
          <p:cNvPr id="2" name="TextBox 1">
            <a:extLst>
              <a:ext uri="{FF2B5EF4-FFF2-40B4-BE49-F238E27FC236}">
                <a16:creationId xmlns:a16="http://schemas.microsoft.com/office/drawing/2014/main" id="{4A748FB9-A7E3-19CC-D5CD-D5DAAA1E10AA}"/>
              </a:ext>
            </a:extLst>
          </p:cNvPr>
          <p:cNvSpPr txBox="1"/>
          <p:nvPr/>
        </p:nvSpPr>
        <p:spPr>
          <a:xfrm rot="2099715">
            <a:off x="1208326" y="632636"/>
            <a:ext cx="1828800" cy="538609"/>
          </a:xfrm>
          <a:prstGeom prst="rect">
            <a:avLst/>
          </a:prstGeom>
          <a:noFill/>
        </p:spPr>
        <p:txBody>
          <a:bodyPr wrap="square" rtlCol="0">
            <a:spAutoFit/>
          </a:bodyPr>
          <a:lstStyle/>
          <a:p>
            <a:pPr algn="ctr"/>
            <a:r>
              <a:rPr lang="en-US" sz="2900" b="1" dirty="0">
                <a:latin typeface="+mj-lt"/>
                <a:ea typeface="+mj-ea"/>
                <a:cs typeface="+mj-cs"/>
              </a:rPr>
              <a:t>Discussion</a:t>
            </a:r>
          </a:p>
        </p:txBody>
      </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17C69-A2C4-0867-A088-E66A81F55D64}"/>
              </a:ext>
            </a:extLst>
          </p:cNvPr>
          <p:cNvSpPr>
            <a:spLocks noGrp="1"/>
          </p:cNvSpPr>
          <p:nvPr>
            <p:ph type="title"/>
          </p:nvPr>
        </p:nvSpPr>
        <p:spPr/>
        <p:txBody>
          <a:bodyPr/>
          <a:lstStyle/>
          <a:p>
            <a:r>
              <a:rPr lang="en-US" dirty="0"/>
              <a:t>Assignment 1</a:t>
            </a:r>
          </a:p>
        </p:txBody>
      </p:sp>
      <p:sp>
        <p:nvSpPr>
          <p:cNvPr id="3" name="Content Placeholder 2">
            <a:extLst>
              <a:ext uri="{FF2B5EF4-FFF2-40B4-BE49-F238E27FC236}">
                <a16:creationId xmlns:a16="http://schemas.microsoft.com/office/drawing/2014/main" id="{27D3CF98-8492-4A0D-B176-1A71345E62D1}"/>
              </a:ext>
            </a:extLst>
          </p:cNvPr>
          <p:cNvSpPr>
            <a:spLocks noGrp="1"/>
          </p:cNvSpPr>
          <p:nvPr>
            <p:ph type="body" idx="1"/>
          </p:nvPr>
        </p:nvSpPr>
        <p:spPr/>
        <p:txBody>
          <a:bodyPr/>
          <a:lstStyle/>
          <a:p>
            <a:pPr marL="0" indent="0">
              <a:buNone/>
            </a:pPr>
            <a:r>
              <a:rPr lang="en-US" dirty="0"/>
              <a:t>Discuss:</a:t>
            </a:r>
          </a:p>
          <a:p>
            <a:r>
              <a:rPr lang="en-US" dirty="0"/>
              <a:t>	Battery size and </a:t>
            </a:r>
            <a:r>
              <a:rPr lang="en-US" dirty="0" err="1"/>
              <a:t>max_steps</a:t>
            </a:r>
            <a:endParaRPr lang="en-US" dirty="0"/>
          </a:p>
          <a:p>
            <a:r>
              <a:rPr lang="en-US" dirty="0"/>
              <a:t>	Robustness (Obstacles)</a:t>
            </a:r>
          </a:p>
          <a:p>
            <a:r>
              <a:rPr lang="en-US" dirty="0"/>
              <a:t>	Noisy sensors</a:t>
            </a:r>
          </a:p>
        </p:txBody>
      </p:sp>
    </p:spTree>
    <p:extLst>
      <p:ext uri="{BB962C8B-B14F-4D97-AF65-F5344CB8AC3E}">
        <p14:creationId xmlns:p14="http://schemas.microsoft.com/office/powerpoint/2010/main" val="3874391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D402B73-8D2B-AC4D-B9C2-27A0302D2288}"/>
              </a:ext>
            </a:extLst>
          </p:cNvPr>
          <p:cNvSpPr>
            <a:spLocks noGrp="1"/>
          </p:cNvSpPr>
          <p:nvPr>
            <p:ph type="title"/>
          </p:nvPr>
        </p:nvSpPr>
        <p:spPr>
          <a:xfrm>
            <a:off x="482601" y="643467"/>
            <a:ext cx="3465438" cy="4567137"/>
          </a:xfrm>
        </p:spPr>
        <p:txBody>
          <a:bodyPr vert="horz" lIns="91440" tIns="45720" rIns="91440" bIns="45720" rtlCol="0" anchor="b">
            <a:normAutofit/>
          </a:bodyPr>
          <a:lstStyle/>
          <a:p>
            <a:pPr defTabSz="914400"/>
            <a:r>
              <a:rPr lang="en-US" sz="3800" dirty="0"/>
              <a:t>Module Review</a:t>
            </a:r>
          </a:p>
        </p:txBody>
      </p:sp>
      <p:sp>
        <p:nvSpPr>
          <p:cNvPr id="5" name="Text Placeholder 4">
            <a:extLst>
              <a:ext uri="{FF2B5EF4-FFF2-40B4-BE49-F238E27FC236}">
                <a16:creationId xmlns:a16="http://schemas.microsoft.com/office/drawing/2014/main" id="{E6A1CD9E-883B-FB15-C98C-03915A3DBBFF}"/>
              </a:ext>
            </a:extLst>
          </p:cNvPr>
          <p:cNvSpPr>
            <a:spLocks noGrp="1"/>
          </p:cNvSpPr>
          <p:nvPr>
            <p:ph type="body" idx="1"/>
          </p:nvPr>
        </p:nvSpPr>
        <p:spPr>
          <a:xfrm>
            <a:off x="482600" y="5277684"/>
            <a:ext cx="3465438" cy="775494"/>
          </a:xfrm>
        </p:spPr>
        <p:txBody>
          <a:bodyPr vert="horz" lIns="91440" tIns="45720" rIns="91440" bIns="45720" rtlCol="0">
            <a:normAutofit fontScale="85000" lnSpcReduction="10000"/>
          </a:bodyPr>
          <a:lstStyle/>
          <a:p>
            <a:pPr defTabSz="914400">
              <a:spcBef>
                <a:spcPts val="1000"/>
              </a:spcBef>
            </a:pPr>
            <a:r>
              <a:rPr lang="en-US" sz="2400" dirty="0">
                <a:solidFill>
                  <a:schemeClr val="tx1"/>
                </a:solidFill>
              </a:rPr>
              <a:t>Problem Definition, State Space, and Uninformed Search</a:t>
            </a:r>
          </a:p>
        </p:txBody>
      </p:sp>
      <p:pic>
        <p:nvPicPr>
          <p:cNvPr id="6" name="Picture 5">
            <a:extLst>
              <a:ext uri="{FF2B5EF4-FFF2-40B4-BE49-F238E27FC236}">
                <a16:creationId xmlns:a16="http://schemas.microsoft.com/office/drawing/2014/main" id="{6098F7EC-70BD-266C-082F-62F6A9522A1D}"/>
              </a:ext>
            </a:extLst>
          </p:cNvPr>
          <p:cNvPicPr>
            <a:picLocks noChangeAspect="1" noChangeArrowheads="1"/>
          </p:cNvPicPr>
          <p:nvPr/>
        </p:nvPicPr>
        <p:blipFill rotWithShape="1">
          <a:blip r:embed="rId2" cstate="print"/>
          <a:srcRect l="14795" r="19995"/>
          <a:stretch>
            <a:fillRect/>
          </a:stretch>
        </p:blipFill>
        <p:spPr bwMode="auto">
          <a:xfrm>
            <a:off x="4671911" y="10"/>
            <a:ext cx="4472089"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p:spPr>
      </p:pic>
    </p:spTree>
    <p:extLst>
      <p:ext uri="{BB962C8B-B14F-4D97-AF65-F5344CB8AC3E}">
        <p14:creationId xmlns:p14="http://schemas.microsoft.com/office/powerpoint/2010/main" val="406631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33600"/>
            <a:ext cx="2667000" cy="270657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Definition of a Search Problem</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70689" y="2172243"/>
                <a:ext cx="4508847" cy="2722802"/>
              </a:xfrm>
            </p:spPr>
            <p:txBody>
              <a:bodyPr>
                <a:normAutofit lnSpcReduction="10000"/>
              </a:bodyPr>
              <a:lstStyle/>
              <a:p>
                <a:r>
                  <a:rPr lang="en-US" sz="2400" b="1" dirty="0">
                    <a:solidFill>
                      <a:srgbClr val="FF0000"/>
                    </a:solidFill>
                  </a:rPr>
                  <a:t>Initial state: </a:t>
                </a:r>
                <a:r>
                  <a:rPr lang="en-US" dirty="0"/>
                  <a:t>state description</a:t>
                </a:r>
                <a:endParaRPr lang="en-US" sz="2400" b="1" dirty="0">
                  <a:solidFill>
                    <a:srgbClr val="CC0099"/>
                  </a:solidFill>
                </a:endParaRPr>
              </a:p>
              <a:p>
                <a:r>
                  <a:rPr lang="en-US" sz="2400" b="1" dirty="0">
                    <a:solidFill>
                      <a:srgbClr val="FF0000"/>
                    </a:solidFill>
                  </a:rPr>
                  <a:t>Actions: </a:t>
                </a:r>
                <a:r>
                  <a:rPr lang="en-US" dirty="0"/>
                  <a:t>set of possible actions </a:t>
                </a:r>
                <a14:m>
                  <m:oMath xmlns:m="http://schemas.openxmlformats.org/officeDocument/2006/math">
                    <m:r>
                      <a:rPr lang="en-US" b="0" i="1" smtClean="0">
                        <a:latin typeface="Cambria Math" panose="02040503050406030204" pitchFamily="18" charset="0"/>
                      </a:rPr>
                      <m:t>𝐴</m:t>
                    </m:r>
                  </m:oMath>
                </a14:m>
                <a:endParaRPr lang="en-US" dirty="0"/>
              </a:p>
              <a:p>
                <a:r>
                  <a:rPr lang="en-US" sz="2400" b="1" dirty="0">
                    <a:solidFill>
                      <a:srgbClr val="FF0000"/>
                    </a:solidFill>
                  </a:rPr>
                  <a:t>Transition model: </a:t>
                </a:r>
                <a:r>
                  <a:rPr lang="en-US" sz="2000" dirty="0"/>
                  <a:t>a function that defines the new state resulting from performing an action in the current state</a:t>
                </a:r>
              </a:p>
              <a:p>
                <a:r>
                  <a:rPr lang="en-US" sz="2400" b="1" dirty="0">
                    <a:solidFill>
                      <a:srgbClr val="FF0000"/>
                    </a:solidFill>
                  </a:rPr>
                  <a:t>Goal state: </a:t>
                </a:r>
                <a:r>
                  <a:rPr lang="en-US" dirty="0"/>
                  <a:t>state description</a:t>
                </a:r>
                <a:endParaRPr lang="en-US" sz="2400" b="1" dirty="0">
                  <a:solidFill>
                    <a:srgbClr val="CC0099"/>
                  </a:solidFill>
                </a:endParaRPr>
              </a:p>
              <a:p>
                <a:r>
                  <a:rPr lang="en-US" sz="2400" b="1" dirty="0">
                    <a:solidFill>
                      <a:srgbClr val="FF0000"/>
                    </a:solidFill>
                  </a:rPr>
                  <a:t>Path cost: </a:t>
                </a:r>
                <a:r>
                  <a:rPr lang="en-US" sz="2000" dirty="0"/>
                  <a:t>the sum of </a:t>
                </a:r>
                <a:r>
                  <a:rPr lang="en-US" sz="2000" i="1" dirty="0"/>
                  <a:t>step costs</a:t>
                </a: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70689" y="2172243"/>
                <a:ext cx="4508847" cy="2722802"/>
              </a:xfrm>
              <a:blipFill>
                <a:blip r:embed="rId5"/>
                <a:stretch>
                  <a:fillRect l="-1757" t="-4251" b="-4251"/>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FF089EAF-5603-4020-A011-DB456AC78F44}"/>
              </a:ext>
            </a:extLst>
          </p:cNvPr>
          <p:cNvSpPr/>
          <p:nvPr/>
        </p:nvSpPr>
        <p:spPr>
          <a:xfrm>
            <a:off x="628650" y="5492564"/>
            <a:ext cx="8153400" cy="923330"/>
          </a:xfrm>
          <a:prstGeom prst="rect">
            <a:avLst/>
          </a:prstGeom>
        </p:spPr>
        <p:txBody>
          <a:bodyPr wrap="square">
            <a:spAutoFit/>
          </a:bodyPr>
          <a:lstStyle/>
          <a:p>
            <a:r>
              <a:rPr lang="en-US" b="1" dirty="0"/>
              <a:t>Important</a:t>
            </a:r>
            <a:r>
              <a:rPr lang="en-US" dirty="0"/>
              <a:t>: The</a:t>
            </a:r>
            <a:r>
              <a:rPr lang="en-US" b="1" dirty="0"/>
              <a:t> </a:t>
            </a:r>
            <a:r>
              <a:rPr lang="en-US" b="1" dirty="0">
                <a:solidFill>
                  <a:srgbClr val="FF0000"/>
                </a:solidFill>
              </a:rPr>
              <a:t>state space </a:t>
            </a:r>
            <a:r>
              <a:rPr lang="en-US" dirty="0"/>
              <a:t>is typically too large to </a:t>
            </a:r>
            <a:r>
              <a:rPr lang="en-US"/>
              <a:t>be enumerated, </a:t>
            </a:r>
            <a:r>
              <a:rPr lang="en-US" dirty="0"/>
              <a:t>or it is continuous. Therefore, the problem is defined by initial state, actions and the transition model and not the set of all possible states.</a:t>
            </a:r>
          </a:p>
        </p:txBody>
      </p:sp>
      <p:sp>
        <p:nvSpPr>
          <p:cNvPr id="20" name="Oval 19">
            <a:extLst>
              <a:ext uri="{FF2B5EF4-FFF2-40B4-BE49-F238E27FC236}">
                <a16:creationId xmlns:a16="http://schemas.microsoft.com/office/drawing/2014/main" id="{631C85B5-5EBA-401A-B072-48103AE4F82C}"/>
              </a:ext>
            </a:extLst>
          </p:cNvPr>
          <p:cNvSpPr/>
          <p:nvPr/>
        </p:nvSpPr>
        <p:spPr>
          <a:xfrm>
            <a:off x="6414984" y="225976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cxnSp>
        <p:nvCxnSpPr>
          <p:cNvPr id="23" name="Straight Arrow Connector 22">
            <a:extLst>
              <a:ext uri="{FF2B5EF4-FFF2-40B4-BE49-F238E27FC236}">
                <a16:creationId xmlns:a16="http://schemas.microsoft.com/office/drawing/2014/main" id="{A5906607-DFD0-4CA7-A1C8-A23F69CF93E6}"/>
              </a:ext>
            </a:extLst>
          </p:cNvPr>
          <p:cNvCxnSpPr>
            <a:cxnSpLocks/>
          </p:cNvCxnSpPr>
          <p:nvPr/>
        </p:nvCxnSpPr>
        <p:spPr>
          <a:xfrm>
            <a:off x="5922537" y="3258332"/>
            <a:ext cx="0" cy="152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C7DA1FB-0A25-44FA-821F-8ADD503ABA32}"/>
              </a:ext>
            </a:extLst>
          </p:cNvPr>
          <p:cNvSpPr/>
          <p:nvPr/>
        </p:nvSpPr>
        <p:spPr>
          <a:xfrm>
            <a:off x="6676013" y="2281768"/>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612532" y="1737879"/>
            <a:ext cx="1459863" cy="369332"/>
            <a:chOff x="6759181" y="1447800"/>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977811" y="1634580"/>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759181" y="1447800"/>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609471" y="1435194"/>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22597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24121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25502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27026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28550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129368"/>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09307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014074"/>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4879970"/>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255792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846337" y="34107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cxnSp>
        <p:nvCxnSpPr>
          <p:cNvPr id="47" name="Straight Arrow Connector 46">
            <a:extLst>
              <a:ext uri="{FF2B5EF4-FFF2-40B4-BE49-F238E27FC236}">
                <a16:creationId xmlns:a16="http://schemas.microsoft.com/office/drawing/2014/main" id="{2E4ED78A-43EA-4C5D-81B3-EE4117FDC788}"/>
              </a:ext>
            </a:extLst>
          </p:cNvPr>
          <p:cNvCxnSpPr>
            <a:cxnSpLocks/>
          </p:cNvCxnSpPr>
          <p:nvPr/>
        </p:nvCxnSpPr>
        <p:spPr>
          <a:xfrm>
            <a:off x="5629733" y="2259510"/>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5234026-4A72-40D5-A45D-467527A6F844}"/>
              </a:ext>
            </a:extLst>
          </p:cNvPr>
          <p:cNvCxnSpPr>
            <a:cxnSpLocks/>
          </p:cNvCxnSpPr>
          <p:nvPr/>
        </p:nvCxnSpPr>
        <p:spPr>
          <a:xfrm>
            <a:off x="5628996" y="27677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63CF492-00EA-448F-8BF3-26C164A7AD88}"/>
              </a:ext>
            </a:extLst>
          </p:cNvPr>
          <p:cNvCxnSpPr>
            <a:cxnSpLocks/>
          </p:cNvCxnSpPr>
          <p:nvPr/>
        </p:nvCxnSpPr>
        <p:spPr>
          <a:xfrm>
            <a:off x="5619745" y="3200400"/>
            <a:ext cx="1905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Down Arrow 6">
            <a:extLst>
              <a:ext uri="{FF2B5EF4-FFF2-40B4-BE49-F238E27FC236}">
                <a16:creationId xmlns:a16="http://schemas.microsoft.com/office/drawing/2014/main" id="{56072883-650A-4C0E-80EC-F512D4DB22FD}"/>
              </a:ext>
            </a:extLst>
          </p:cNvPr>
          <p:cNvSpPr/>
          <p:nvPr/>
        </p:nvSpPr>
        <p:spPr>
          <a:xfrm rot="5400000">
            <a:off x="8190663" y="4497989"/>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8463130" y="4346958"/>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453608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4" name="Freeform: Shape 3">
            <a:extLst>
              <a:ext uri="{FF2B5EF4-FFF2-40B4-BE49-F238E27FC236}">
                <a16:creationId xmlns:a16="http://schemas.microsoft.com/office/drawing/2014/main" id="{283C8E63-C221-496D-3FD8-F7E9C8FB4B3A}"/>
              </a:ext>
            </a:extLst>
          </p:cNvPr>
          <p:cNvSpPr/>
          <p:nvPr/>
        </p:nvSpPr>
        <p:spPr>
          <a:xfrm>
            <a:off x="5596420" y="2286000"/>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8F475D2A-AF34-6688-6C09-D1F0D640DB67}"/>
              </a:ext>
            </a:extLst>
          </p:cNvPr>
          <p:cNvCxnSpPr>
            <a:cxnSpLocks/>
          </p:cNvCxnSpPr>
          <p:nvPr/>
        </p:nvCxnSpPr>
        <p:spPr>
          <a:xfrm>
            <a:off x="5628996" y="2357968"/>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2B9670E-D744-66E0-8741-906EBFC92A5A}"/>
              </a:ext>
            </a:extLst>
          </p:cNvPr>
          <p:cNvCxnSpPr>
            <a:cxnSpLocks/>
          </p:cNvCxnSpPr>
          <p:nvPr/>
        </p:nvCxnSpPr>
        <p:spPr>
          <a:xfrm>
            <a:off x="5628996" y="29963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46D190C-E2C5-EF90-53AC-89D4D0B11A5D}"/>
              </a:ext>
            </a:extLst>
          </p:cNvPr>
          <p:cNvCxnSpPr>
            <a:cxnSpLocks/>
          </p:cNvCxnSpPr>
          <p:nvPr/>
        </p:nvCxnSpPr>
        <p:spPr>
          <a:xfrm>
            <a:off x="5792539" y="3200400"/>
            <a:ext cx="14211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6A6517F-3FB9-C86B-8B20-EE453B10B6A9}"/>
              </a:ext>
            </a:extLst>
          </p:cNvPr>
          <p:cNvSpPr/>
          <p:nvPr/>
        </p:nvSpPr>
        <p:spPr>
          <a:xfrm>
            <a:off x="575434" y="2057400"/>
            <a:ext cx="4479551" cy="2956669"/>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A8D72-99B9-A207-E474-95FE2AEE3379}"/>
              </a:ext>
            </a:extLst>
          </p:cNvPr>
          <p:cNvSpPr>
            <a:spLocks noGrp="1"/>
          </p:cNvSpPr>
          <p:nvPr>
            <p:ph type="title"/>
          </p:nvPr>
        </p:nvSpPr>
        <p:spPr>
          <a:xfrm>
            <a:off x="628650" y="365127"/>
            <a:ext cx="7886700" cy="1035110"/>
          </a:xfrm>
        </p:spPr>
        <p:txBody>
          <a:bodyPr>
            <a:normAutofit/>
          </a:bodyPr>
          <a:lstStyle/>
          <a:p>
            <a:r>
              <a:rPr lang="en-US" sz="2800" dirty="0"/>
              <a:t>Complete Planning Agent to Solve a Maze</a:t>
            </a:r>
          </a:p>
        </p:txBody>
      </p:sp>
      <p:sp>
        <p:nvSpPr>
          <p:cNvPr id="81" name="TextBox 80">
            <a:extLst>
              <a:ext uri="{FF2B5EF4-FFF2-40B4-BE49-F238E27FC236}">
                <a16:creationId xmlns:a16="http://schemas.microsoft.com/office/drawing/2014/main" id="{13822271-07B3-F1D4-8308-615D8DE88316}"/>
              </a:ext>
            </a:extLst>
          </p:cNvPr>
          <p:cNvSpPr txBox="1"/>
          <p:nvPr/>
        </p:nvSpPr>
        <p:spPr>
          <a:xfrm>
            <a:off x="432690" y="5856889"/>
            <a:ext cx="8413577" cy="830997"/>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event loop calls the agent function for the next action.</a:t>
            </a:r>
          </a:p>
          <a:p>
            <a:pPr marL="285750" indent="-285750">
              <a:buFont typeface="Arial" panose="020B0604020202020204" pitchFamily="34" charset="0"/>
              <a:buChar char="•"/>
            </a:pPr>
            <a:r>
              <a:rPr lang="en-US" sz="1600" dirty="0"/>
              <a:t>The agent function follows the plan or calls the planning function if there is no plan yet or it thinks the current plan does not work based on the percepts (replanning).</a:t>
            </a:r>
          </a:p>
        </p:txBody>
      </p:sp>
      <p:grpSp>
        <p:nvGrpSpPr>
          <p:cNvPr id="6" name="Group 5">
            <a:extLst>
              <a:ext uri="{FF2B5EF4-FFF2-40B4-BE49-F238E27FC236}">
                <a16:creationId xmlns:a16="http://schemas.microsoft.com/office/drawing/2014/main" id="{B35FBD37-E1A8-6E2B-5B8B-42EA3697236B}"/>
              </a:ext>
            </a:extLst>
          </p:cNvPr>
          <p:cNvGrpSpPr/>
          <p:nvPr/>
        </p:nvGrpSpPr>
        <p:grpSpPr>
          <a:xfrm>
            <a:off x="914400" y="1371600"/>
            <a:ext cx="7086600" cy="4453794"/>
            <a:chOff x="838200" y="1371600"/>
            <a:chExt cx="7086600" cy="4453794"/>
          </a:xfrm>
        </p:grpSpPr>
        <p:sp>
          <p:nvSpPr>
            <p:cNvPr id="4" name="Rectangle 3">
              <a:extLst>
                <a:ext uri="{FF2B5EF4-FFF2-40B4-BE49-F238E27FC236}">
                  <a16:creationId xmlns:a16="http://schemas.microsoft.com/office/drawing/2014/main" id="{47EE04EB-FDAD-F984-D610-9EC783632DAA}"/>
                </a:ext>
              </a:extLst>
            </p:cNvPr>
            <p:cNvSpPr/>
            <p:nvPr/>
          </p:nvSpPr>
          <p:spPr>
            <a:xfrm>
              <a:off x="838200" y="2260852"/>
              <a:ext cx="4565477"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32F070FF-4D65-E7C9-1ACB-B36EF1F4C786}"/>
                </a:ext>
              </a:extLst>
            </p:cNvPr>
            <p:cNvSpPr/>
            <p:nvPr/>
          </p:nvSpPr>
          <p:spPr>
            <a:xfrm>
              <a:off x="6477000" y="2260852"/>
              <a:ext cx="1447800"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solidFill>
                    <a:schemeClr val="tx1"/>
                  </a:solidFill>
                </a:rPr>
                <a:t>Environment</a:t>
              </a: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Physical Maze</a:t>
              </a:r>
            </a:p>
          </p:txBody>
        </p:sp>
        <p:sp>
          <p:nvSpPr>
            <p:cNvPr id="12" name="TextBox 11">
              <a:extLst>
                <a:ext uri="{FF2B5EF4-FFF2-40B4-BE49-F238E27FC236}">
                  <a16:creationId xmlns:a16="http://schemas.microsoft.com/office/drawing/2014/main" id="{A79A5B77-0753-3C80-0701-85ED846E29E5}"/>
                </a:ext>
              </a:extLst>
            </p:cNvPr>
            <p:cNvSpPr txBox="1"/>
            <p:nvPr/>
          </p:nvSpPr>
          <p:spPr>
            <a:xfrm>
              <a:off x="3388701" y="1371600"/>
              <a:ext cx="1898478" cy="738664"/>
            </a:xfrm>
            <a:prstGeom prst="rect">
              <a:avLst/>
            </a:prstGeom>
            <a:noFill/>
          </p:spPr>
          <p:txBody>
            <a:bodyPr wrap="square" rtlCol="0">
              <a:spAutoFit/>
            </a:bodyPr>
            <a:lstStyle/>
            <a:p>
              <a:r>
                <a:rPr lang="en-US" sz="1400" dirty="0"/>
                <a:t>Map </a:t>
              </a:r>
              <a:br>
                <a:rPr lang="en-US" sz="1400" dirty="0"/>
              </a:br>
              <a:r>
                <a:rPr lang="en-US" sz="1400" dirty="0"/>
                <a:t>= Transition function + initial and goal state</a:t>
              </a:r>
            </a:p>
          </p:txBody>
        </p:sp>
        <p:cxnSp>
          <p:nvCxnSpPr>
            <p:cNvPr id="14" name="Straight Arrow Connector 13">
              <a:extLst>
                <a:ext uri="{FF2B5EF4-FFF2-40B4-BE49-F238E27FC236}">
                  <a16:creationId xmlns:a16="http://schemas.microsoft.com/office/drawing/2014/main" id="{00F7312F-513F-182C-CCBF-62BEAC8F8370}"/>
                </a:ext>
              </a:extLst>
            </p:cNvPr>
            <p:cNvCxnSpPr>
              <a:cxnSpLocks/>
              <a:endCxn id="24" idx="3"/>
            </p:cNvCxnSpPr>
            <p:nvPr/>
          </p:nvCxnSpPr>
          <p:spPr>
            <a:xfrm flipH="1">
              <a:off x="5098877" y="2700477"/>
              <a:ext cx="1530523"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2" name="Straight Arrow Connector 21">
              <a:extLst>
                <a:ext uri="{FF2B5EF4-FFF2-40B4-BE49-F238E27FC236}">
                  <a16:creationId xmlns:a16="http://schemas.microsoft.com/office/drawing/2014/main" id="{D078E14E-CE8B-4CAA-DD9E-B4F589A9AB0D}"/>
                </a:ext>
              </a:extLst>
            </p:cNvPr>
            <p:cNvCxnSpPr>
              <a:cxnSpLocks/>
              <a:stCxn id="25" idx="3"/>
            </p:cNvCxnSpPr>
            <p:nvPr/>
          </p:nvCxnSpPr>
          <p:spPr>
            <a:xfrm>
              <a:off x="5201581" y="4991775"/>
              <a:ext cx="158021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4" name="TextBox 23">
              <a:extLst>
                <a:ext uri="{FF2B5EF4-FFF2-40B4-BE49-F238E27FC236}">
                  <a16:creationId xmlns:a16="http://schemas.microsoft.com/office/drawing/2014/main" id="{4AA1C588-96F1-EE94-0BDE-75EB05E5E306}"/>
                </a:ext>
              </a:extLst>
            </p:cNvPr>
            <p:cNvSpPr txBox="1"/>
            <p:nvPr/>
          </p:nvSpPr>
          <p:spPr>
            <a:xfrm>
              <a:off x="4184477" y="2515811"/>
              <a:ext cx="914400" cy="369332"/>
            </a:xfrm>
            <a:prstGeom prst="rect">
              <a:avLst/>
            </a:prstGeom>
            <a:noFill/>
          </p:spPr>
          <p:txBody>
            <a:bodyPr wrap="square" rtlCol="0">
              <a:spAutoFit/>
            </a:bodyPr>
            <a:lstStyle/>
            <a:p>
              <a:r>
                <a:rPr lang="en-US" dirty="0"/>
                <a:t>Sensors</a:t>
              </a:r>
            </a:p>
          </p:txBody>
        </p:sp>
        <p:sp>
          <p:nvSpPr>
            <p:cNvPr id="25" name="TextBox 24">
              <a:extLst>
                <a:ext uri="{FF2B5EF4-FFF2-40B4-BE49-F238E27FC236}">
                  <a16:creationId xmlns:a16="http://schemas.microsoft.com/office/drawing/2014/main" id="{EA083DFE-4C36-0C94-8302-313F526159A3}"/>
                </a:ext>
              </a:extLst>
            </p:cNvPr>
            <p:cNvSpPr txBox="1"/>
            <p:nvPr/>
          </p:nvSpPr>
          <p:spPr>
            <a:xfrm>
              <a:off x="4081772" y="4807109"/>
              <a:ext cx="1119809" cy="369332"/>
            </a:xfrm>
            <a:prstGeom prst="rect">
              <a:avLst/>
            </a:prstGeom>
            <a:noFill/>
          </p:spPr>
          <p:txBody>
            <a:bodyPr wrap="square" rtlCol="0">
              <a:spAutoFit/>
            </a:bodyPr>
            <a:lstStyle/>
            <a:p>
              <a:r>
                <a:rPr lang="en-US" dirty="0"/>
                <a:t>Actuators</a:t>
              </a:r>
            </a:p>
          </p:txBody>
        </p:sp>
        <p:sp>
          <p:nvSpPr>
            <p:cNvPr id="26" name="Flowchart: Document 25">
              <a:extLst>
                <a:ext uri="{FF2B5EF4-FFF2-40B4-BE49-F238E27FC236}">
                  <a16:creationId xmlns:a16="http://schemas.microsoft.com/office/drawing/2014/main" id="{A1D0D1DE-2930-B85A-AEA6-1BA5C797D282}"/>
                </a:ext>
              </a:extLst>
            </p:cNvPr>
            <p:cNvSpPr/>
            <p:nvPr/>
          </p:nvSpPr>
          <p:spPr>
            <a:xfrm>
              <a:off x="2671633" y="3634091"/>
              <a:ext cx="609600" cy="937591"/>
            </a:xfrm>
            <a:prstGeom prst="flowChartDocumen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Plan</a:t>
              </a:r>
            </a:p>
          </p:txBody>
        </p:sp>
        <p:sp>
          <p:nvSpPr>
            <p:cNvPr id="27" name="Rectangle 26">
              <a:extLst>
                <a:ext uri="{FF2B5EF4-FFF2-40B4-BE49-F238E27FC236}">
                  <a16:creationId xmlns:a16="http://schemas.microsoft.com/office/drawing/2014/main" id="{4B335A07-30C7-7F2F-6DE2-F2603A478600}"/>
                </a:ext>
              </a:extLst>
            </p:cNvPr>
            <p:cNvSpPr/>
            <p:nvPr/>
          </p:nvSpPr>
          <p:spPr>
            <a:xfrm>
              <a:off x="2328733" y="2476546"/>
              <a:ext cx="1295400" cy="63541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Planning function</a:t>
              </a:r>
            </a:p>
          </p:txBody>
        </p:sp>
        <p:sp>
          <p:nvSpPr>
            <p:cNvPr id="29" name="Rectangle 28">
              <a:extLst>
                <a:ext uri="{FF2B5EF4-FFF2-40B4-BE49-F238E27FC236}">
                  <a16:creationId xmlns:a16="http://schemas.microsoft.com/office/drawing/2014/main" id="{8B8FE497-FD5A-414F-B390-B1A3A187D04A}"/>
                </a:ext>
              </a:extLst>
            </p:cNvPr>
            <p:cNvSpPr/>
            <p:nvPr/>
          </p:nvSpPr>
          <p:spPr>
            <a:xfrm>
              <a:off x="3991779" y="3569242"/>
              <a:ext cx="1295400" cy="63541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Agent function</a:t>
              </a:r>
            </a:p>
          </p:txBody>
        </p:sp>
        <p:cxnSp>
          <p:nvCxnSpPr>
            <p:cNvPr id="30" name="Straight Arrow Connector 29">
              <a:extLst>
                <a:ext uri="{FF2B5EF4-FFF2-40B4-BE49-F238E27FC236}">
                  <a16:creationId xmlns:a16="http://schemas.microsoft.com/office/drawing/2014/main" id="{A148EE61-3EA1-E3B4-4B55-BEEC9867BF7E}"/>
                </a:ext>
              </a:extLst>
            </p:cNvPr>
            <p:cNvCxnSpPr>
              <a:cxnSpLocks/>
              <a:stCxn id="75" idx="2"/>
              <a:endCxn id="27" idx="0"/>
            </p:cNvCxnSpPr>
            <p:nvPr/>
          </p:nvCxnSpPr>
          <p:spPr>
            <a:xfrm>
              <a:off x="2976433" y="2155611"/>
              <a:ext cx="0" cy="3209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0AEBF7BB-9215-C0AF-2072-EF71F603943A}"/>
                </a:ext>
              </a:extLst>
            </p:cNvPr>
            <p:cNvCxnSpPr>
              <a:stCxn id="24" idx="2"/>
              <a:endCxn id="29" idx="0"/>
            </p:cNvCxnSpPr>
            <p:nvPr/>
          </p:nvCxnSpPr>
          <p:spPr>
            <a:xfrm flipH="1">
              <a:off x="4639479" y="2885143"/>
              <a:ext cx="2198" cy="68409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0" name="Straight Arrow Connector 39">
              <a:extLst>
                <a:ext uri="{FF2B5EF4-FFF2-40B4-BE49-F238E27FC236}">
                  <a16:creationId xmlns:a16="http://schemas.microsoft.com/office/drawing/2014/main" id="{CB43D0F8-D6D4-A99A-BDBD-1CB85F0EF0AB}"/>
                </a:ext>
              </a:extLst>
            </p:cNvPr>
            <p:cNvCxnSpPr>
              <a:cxnSpLocks/>
              <a:stCxn id="29" idx="2"/>
              <a:endCxn id="25" idx="0"/>
            </p:cNvCxnSpPr>
            <p:nvPr/>
          </p:nvCxnSpPr>
          <p:spPr>
            <a:xfrm>
              <a:off x="4639479" y="4204653"/>
              <a:ext cx="2198" cy="6024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50" name="Straight Arrow Connector 49">
              <a:extLst>
                <a:ext uri="{FF2B5EF4-FFF2-40B4-BE49-F238E27FC236}">
                  <a16:creationId xmlns:a16="http://schemas.microsoft.com/office/drawing/2014/main" id="{4EFB613D-1690-C492-C50D-D118275F3CAF}"/>
                </a:ext>
              </a:extLst>
            </p:cNvPr>
            <p:cNvCxnSpPr>
              <a:cxnSpLocks/>
              <a:stCxn id="27" idx="2"/>
              <a:endCxn id="26" idx="0"/>
            </p:cNvCxnSpPr>
            <p:nvPr/>
          </p:nvCxnSpPr>
          <p:spPr>
            <a:xfrm>
              <a:off x="2976433" y="3111957"/>
              <a:ext cx="0" cy="52213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54" name="Rectangle 53">
              <a:extLst>
                <a:ext uri="{FF2B5EF4-FFF2-40B4-BE49-F238E27FC236}">
                  <a16:creationId xmlns:a16="http://schemas.microsoft.com/office/drawing/2014/main" id="{0B7C1EE7-71F7-6B4F-D34C-379DCC7C376F}"/>
                </a:ext>
              </a:extLst>
            </p:cNvPr>
            <p:cNvSpPr/>
            <p:nvPr/>
          </p:nvSpPr>
          <p:spPr>
            <a:xfrm>
              <a:off x="2471120" y="4673049"/>
              <a:ext cx="898563" cy="41347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Current step in plan</a:t>
              </a:r>
            </a:p>
          </p:txBody>
        </p:sp>
        <p:cxnSp>
          <p:nvCxnSpPr>
            <p:cNvPr id="58" name="Straight Arrow Connector 57">
              <a:extLst>
                <a:ext uri="{FF2B5EF4-FFF2-40B4-BE49-F238E27FC236}">
                  <a16:creationId xmlns:a16="http://schemas.microsoft.com/office/drawing/2014/main" id="{153297F0-3177-04CD-16C2-36C9AB8FDEB0}"/>
                </a:ext>
              </a:extLst>
            </p:cNvPr>
            <p:cNvCxnSpPr>
              <a:cxnSpLocks/>
            </p:cNvCxnSpPr>
            <p:nvPr/>
          </p:nvCxnSpPr>
          <p:spPr>
            <a:xfrm flipH="1" flipV="1">
              <a:off x="3624133" y="2794251"/>
              <a:ext cx="384261" cy="79164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1" name="Straight Arrow Connector 60">
              <a:extLst>
                <a:ext uri="{FF2B5EF4-FFF2-40B4-BE49-F238E27FC236}">
                  <a16:creationId xmlns:a16="http://schemas.microsoft.com/office/drawing/2014/main" id="{2AC11F8C-0F28-1F74-A8AC-B78E269513FC}"/>
                </a:ext>
              </a:extLst>
            </p:cNvPr>
            <p:cNvCxnSpPr>
              <a:stCxn id="26" idx="3"/>
              <a:endCxn id="29" idx="1"/>
            </p:cNvCxnSpPr>
            <p:nvPr/>
          </p:nvCxnSpPr>
          <p:spPr>
            <a:xfrm flipV="1">
              <a:off x="3281233" y="3886948"/>
              <a:ext cx="710546" cy="21593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5" name="Straight Arrow Connector 64">
              <a:extLst>
                <a:ext uri="{FF2B5EF4-FFF2-40B4-BE49-F238E27FC236}">
                  <a16:creationId xmlns:a16="http://schemas.microsoft.com/office/drawing/2014/main" id="{C2DC9E51-BDEE-14E6-1A5F-B87C11A51AD9}"/>
                </a:ext>
              </a:extLst>
            </p:cNvPr>
            <p:cNvCxnSpPr>
              <a:cxnSpLocks/>
              <a:stCxn id="54" idx="3"/>
              <a:endCxn id="29" idx="1"/>
            </p:cNvCxnSpPr>
            <p:nvPr/>
          </p:nvCxnSpPr>
          <p:spPr>
            <a:xfrm flipV="1">
              <a:off x="3369683" y="3886948"/>
              <a:ext cx="622096" cy="992841"/>
            </a:xfrm>
            <a:prstGeom prst="straightConnector1">
              <a:avLst/>
            </a:prstGeom>
            <a:ln>
              <a:headEnd type="triangl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66" name="TextBox 65">
              <a:extLst>
                <a:ext uri="{FF2B5EF4-FFF2-40B4-BE49-F238E27FC236}">
                  <a16:creationId xmlns:a16="http://schemas.microsoft.com/office/drawing/2014/main" id="{A832D720-62A7-875A-50E7-2D1B1CF429F3}"/>
                </a:ext>
              </a:extLst>
            </p:cNvPr>
            <p:cNvSpPr txBox="1"/>
            <p:nvPr/>
          </p:nvSpPr>
          <p:spPr>
            <a:xfrm>
              <a:off x="903192" y="2428726"/>
              <a:ext cx="1495996" cy="2000548"/>
            </a:xfrm>
            <a:prstGeom prst="rect">
              <a:avLst/>
            </a:prstGeom>
            <a:noFill/>
          </p:spPr>
          <p:txBody>
            <a:bodyPr wrap="square" rtlCol="0">
              <a:spAutoFit/>
            </a:bodyPr>
            <a:lstStyle/>
            <a:p>
              <a:r>
                <a:rPr lang="en-US" sz="1600" b="1" dirty="0"/>
                <a:t>Physical agent </a:t>
              </a:r>
            </a:p>
            <a:p>
              <a:endParaRPr lang="en-US" sz="1200" dirty="0"/>
            </a:p>
            <a:p>
              <a:r>
                <a:rPr lang="en-US" sz="1200" dirty="0"/>
                <a:t>has an event loop:</a:t>
              </a:r>
            </a:p>
            <a:p>
              <a:pPr marL="285750" indent="-285750">
                <a:buFont typeface="Arial" panose="020B0604020202020204" pitchFamily="34" charset="0"/>
                <a:buChar char="•"/>
              </a:pPr>
              <a:r>
                <a:rPr lang="en-US" sz="1200" dirty="0"/>
                <a:t>Read sensors</a:t>
              </a:r>
            </a:p>
            <a:p>
              <a:pPr marL="285750" indent="-285750">
                <a:buFont typeface="Arial" panose="020B0604020202020204" pitchFamily="34" charset="0"/>
                <a:buChar char="•"/>
              </a:pPr>
              <a:r>
                <a:rPr lang="en-US" sz="1200" dirty="0"/>
                <a:t>Call agent function</a:t>
              </a:r>
            </a:p>
            <a:p>
              <a:pPr marL="285750" indent="-285750">
                <a:buFont typeface="Arial" panose="020B0604020202020204" pitchFamily="34" charset="0"/>
                <a:buChar char="•"/>
              </a:pPr>
              <a:r>
                <a:rPr lang="en-US" sz="1200" dirty="0"/>
                <a:t>Execute action in the physical environment</a:t>
              </a:r>
            </a:p>
            <a:p>
              <a:pPr marL="285750" indent="-285750">
                <a:buFont typeface="Arial" panose="020B0604020202020204" pitchFamily="34" charset="0"/>
                <a:buChar char="•"/>
              </a:pPr>
              <a:r>
                <a:rPr lang="en-US" sz="1200" dirty="0"/>
                <a:t>Repeat</a:t>
              </a:r>
            </a:p>
          </p:txBody>
        </p:sp>
        <p:sp>
          <p:nvSpPr>
            <p:cNvPr id="67" name="TextBox 66">
              <a:extLst>
                <a:ext uri="{FF2B5EF4-FFF2-40B4-BE49-F238E27FC236}">
                  <a16:creationId xmlns:a16="http://schemas.microsoft.com/office/drawing/2014/main" id="{E2D8A0B5-2575-659B-3EB2-DB7A163D7D89}"/>
                </a:ext>
              </a:extLst>
            </p:cNvPr>
            <p:cNvSpPr txBox="1"/>
            <p:nvPr/>
          </p:nvSpPr>
          <p:spPr>
            <a:xfrm rot="3894451">
              <a:off x="3599472" y="2892076"/>
              <a:ext cx="912202" cy="415498"/>
            </a:xfrm>
            <a:prstGeom prst="rect">
              <a:avLst/>
            </a:prstGeom>
            <a:noFill/>
          </p:spPr>
          <p:txBody>
            <a:bodyPr wrap="square" rtlCol="0">
              <a:spAutoFit/>
            </a:bodyPr>
            <a:lstStyle/>
            <a:p>
              <a:pPr algn="ctr"/>
              <a:r>
                <a:rPr lang="en-US" sz="1050" dirty="0"/>
                <a:t>Need  to plan or replan</a:t>
              </a:r>
            </a:p>
          </p:txBody>
        </p:sp>
        <p:sp>
          <p:nvSpPr>
            <p:cNvPr id="68" name="TextBox 67">
              <a:extLst>
                <a:ext uri="{FF2B5EF4-FFF2-40B4-BE49-F238E27FC236}">
                  <a16:creationId xmlns:a16="http://schemas.microsoft.com/office/drawing/2014/main" id="{A03AB979-D3AE-7A42-908A-FCE005D22F76}"/>
                </a:ext>
              </a:extLst>
            </p:cNvPr>
            <p:cNvSpPr txBox="1"/>
            <p:nvPr/>
          </p:nvSpPr>
          <p:spPr>
            <a:xfrm rot="18182195">
              <a:off x="3389483" y="4406195"/>
              <a:ext cx="912202" cy="415498"/>
            </a:xfrm>
            <a:prstGeom prst="rect">
              <a:avLst/>
            </a:prstGeom>
            <a:noFill/>
          </p:spPr>
          <p:txBody>
            <a:bodyPr wrap="square" rtlCol="0">
              <a:spAutoFit/>
            </a:bodyPr>
            <a:lstStyle/>
            <a:p>
              <a:pPr algn="ctr"/>
              <a:r>
                <a:rPr lang="en-US" sz="1050" dirty="0"/>
                <a:t>Follow the plan</a:t>
              </a:r>
            </a:p>
          </p:txBody>
        </p:sp>
        <p:sp>
          <p:nvSpPr>
            <p:cNvPr id="69" name="TextBox 68">
              <a:extLst>
                <a:ext uri="{FF2B5EF4-FFF2-40B4-BE49-F238E27FC236}">
                  <a16:creationId xmlns:a16="http://schemas.microsoft.com/office/drawing/2014/main" id="{375EE33E-FB2C-721F-EF76-2A3EC3DE72A8}"/>
                </a:ext>
              </a:extLst>
            </p:cNvPr>
            <p:cNvSpPr txBox="1"/>
            <p:nvPr/>
          </p:nvSpPr>
          <p:spPr>
            <a:xfrm>
              <a:off x="4607549" y="3001602"/>
              <a:ext cx="726737" cy="276999"/>
            </a:xfrm>
            <a:prstGeom prst="rect">
              <a:avLst/>
            </a:prstGeom>
            <a:noFill/>
          </p:spPr>
          <p:txBody>
            <a:bodyPr wrap="none" rtlCol="0">
              <a:spAutoFit/>
            </a:bodyPr>
            <a:lstStyle/>
            <a:p>
              <a:r>
                <a:rPr lang="en-US" sz="1200" dirty="0"/>
                <a:t>percepts</a:t>
              </a:r>
            </a:p>
          </p:txBody>
        </p:sp>
        <p:sp>
          <p:nvSpPr>
            <p:cNvPr id="70" name="TextBox 69">
              <a:extLst>
                <a:ext uri="{FF2B5EF4-FFF2-40B4-BE49-F238E27FC236}">
                  <a16:creationId xmlns:a16="http://schemas.microsoft.com/office/drawing/2014/main" id="{E3E2FC15-F2AD-3226-002B-6DD69A27664D}"/>
                </a:ext>
              </a:extLst>
            </p:cNvPr>
            <p:cNvSpPr txBox="1"/>
            <p:nvPr/>
          </p:nvSpPr>
          <p:spPr>
            <a:xfrm>
              <a:off x="4591957" y="4237669"/>
              <a:ext cx="572593" cy="461665"/>
            </a:xfrm>
            <a:prstGeom prst="rect">
              <a:avLst/>
            </a:prstGeom>
            <a:noFill/>
          </p:spPr>
          <p:txBody>
            <a:bodyPr wrap="none" rtlCol="0">
              <a:spAutoFit/>
            </a:bodyPr>
            <a:lstStyle/>
            <a:p>
              <a:pPr algn="ctr"/>
              <a:r>
                <a:rPr lang="en-US" sz="1200" dirty="0"/>
                <a:t>next </a:t>
              </a:r>
              <a:br>
                <a:rPr lang="en-US" sz="1200" dirty="0"/>
              </a:br>
              <a:r>
                <a:rPr lang="en-US" sz="1200" dirty="0"/>
                <a:t>action</a:t>
              </a:r>
            </a:p>
          </p:txBody>
        </p:sp>
        <p:sp>
          <p:nvSpPr>
            <p:cNvPr id="71" name="TextBox 70">
              <a:extLst>
                <a:ext uri="{FF2B5EF4-FFF2-40B4-BE49-F238E27FC236}">
                  <a16:creationId xmlns:a16="http://schemas.microsoft.com/office/drawing/2014/main" id="{75455819-E475-3473-AEA6-95B408637968}"/>
                </a:ext>
              </a:extLst>
            </p:cNvPr>
            <p:cNvSpPr txBox="1"/>
            <p:nvPr/>
          </p:nvSpPr>
          <p:spPr>
            <a:xfrm>
              <a:off x="5456762" y="2423478"/>
              <a:ext cx="970137" cy="276999"/>
            </a:xfrm>
            <a:prstGeom prst="rect">
              <a:avLst/>
            </a:prstGeom>
            <a:noFill/>
          </p:spPr>
          <p:txBody>
            <a:bodyPr wrap="none" rtlCol="0">
              <a:spAutoFit/>
            </a:bodyPr>
            <a:lstStyle/>
            <a:p>
              <a:r>
                <a:rPr lang="en-US" sz="1200" dirty="0"/>
                <a:t>Sensor input</a:t>
              </a:r>
            </a:p>
          </p:txBody>
        </p:sp>
        <p:sp>
          <p:nvSpPr>
            <p:cNvPr id="72" name="TextBox 71">
              <a:extLst>
                <a:ext uri="{FF2B5EF4-FFF2-40B4-BE49-F238E27FC236}">
                  <a16:creationId xmlns:a16="http://schemas.microsoft.com/office/drawing/2014/main" id="{2614B56B-CD77-296C-B1E6-448390DE68FC}"/>
                </a:ext>
              </a:extLst>
            </p:cNvPr>
            <p:cNvSpPr txBox="1"/>
            <p:nvPr/>
          </p:nvSpPr>
          <p:spPr>
            <a:xfrm>
              <a:off x="5423878" y="4994397"/>
              <a:ext cx="1045502" cy="830997"/>
            </a:xfrm>
            <a:prstGeom prst="rect">
              <a:avLst/>
            </a:prstGeom>
            <a:noFill/>
          </p:spPr>
          <p:txBody>
            <a:bodyPr wrap="square" rtlCol="0">
              <a:spAutoFit/>
            </a:bodyPr>
            <a:lstStyle/>
            <a:p>
              <a:pPr algn="ctr"/>
              <a:r>
                <a:rPr lang="en-US" sz="1200" dirty="0"/>
                <a:t>Execute action in the physical environment</a:t>
              </a:r>
            </a:p>
          </p:txBody>
        </p:sp>
        <p:sp>
          <p:nvSpPr>
            <p:cNvPr id="73" name="Rectangle 72">
              <a:extLst>
                <a:ext uri="{FF2B5EF4-FFF2-40B4-BE49-F238E27FC236}">
                  <a16:creationId xmlns:a16="http://schemas.microsoft.com/office/drawing/2014/main" id="{8D4F1B72-E637-F0D7-7C26-AC6CB57F21D9}"/>
                </a:ext>
              </a:extLst>
            </p:cNvPr>
            <p:cNvSpPr/>
            <p:nvPr/>
          </p:nvSpPr>
          <p:spPr>
            <a:xfrm>
              <a:off x="2388085" y="3347702"/>
              <a:ext cx="1073323" cy="1828740"/>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4" name="TextBox 73">
              <a:extLst>
                <a:ext uri="{FF2B5EF4-FFF2-40B4-BE49-F238E27FC236}">
                  <a16:creationId xmlns:a16="http://schemas.microsoft.com/office/drawing/2014/main" id="{FEF9495C-D846-7623-5728-7AED271C7AC4}"/>
                </a:ext>
              </a:extLst>
            </p:cNvPr>
            <p:cNvSpPr txBox="1"/>
            <p:nvPr/>
          </p:nvSpPr>
          <p:spPr>
            <a:xfrm>
              <a:off x="2376361" y="3336782"/>
              <a:ext cx="795466" cy="307777"/>
            </a:xfrm>
            <a:prstGeom prst="rect">
              <a:avLst/>
            </a:prstGeom>
            <a:noFill/>
          </p:spPr>
          <p:txBody>
            <a:bodyPr wrap="square" rtlCol="0">
              <a:spAutoFit/>
            </a:bodyPr>
            <a:lstStyle/>
            <a:p>
              <a:r>
                <a:rPr lang="en-US" sz="1400" dirty="0"/>
                <a:t>State</a:t>
              </a:r>
            </a:p>
          </p:txBody>
        </p:sp>
        <p:grpSp>
          <p:nvGrpSpPr>
            <p:cNvPr id="78" name="Group 77">
              <a:extLst>
                <a:ext uri="{FF2B5EF4-FFF2-40B4-BE49-F238E27FC236}">
                  <a16:creationId xmlns:a16="http://schemas.microsoft.com/office/drawing/2014/main" id="{66D5FF0F-4FBC-B030-AAAE-0C75628DC924}"/>
                </a:ext>
              </a:extLst>
            </p:cNvPr>
            <p:cNvGrpSpPr/>
            <p:nvPr/>
          </p:nvGrpSpPr>
          <p:grpSpPr>
            <a:xfrm>
              <a:off x="2627138" y="1395210"/>
              <a:ext cx="698589" cy="814231"/>
              <a:chOff x="1359385" y="1371600"/>
              <a:chExt cx="1022177" cy="1209520"/>
            </a:xfrm>
          </p:grpSpPr>
          <p:pic>
            <p:nvPicPr>
              <p:cNvPr id="7" name="Picture 2">
                <a:extLst>
                  <a:ext uri="{FF2B5EF4-FFF2-40B4-BE49-F238E27FC236}">
                    <a16:creationId xmlns:a16="http://schemas.microsoft.com/office/drawing/2014/main" id="{FC0755DE-063C-ECDE-1711-46875EE34DEB}"/>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1505352" y="1462344"/>
                <a:ext cx="746844" cy="746844"/>
              </a:xfrm>
              <a:prstGeom prst="rect">
                <a:avLst/>
              </a:prstGeom>
              <a:noFill/>
              <a:ln w="9525">
                <a:noFill/>
                <a:miter lim="800000"/>
                <a:headEnd/>
                <a:tailEnd/>
              </a:ln>
            </p:spPr>
          </p:pic>
          <p:sp>
            <p:nvSpPr>
              <p:cNvPr id="75" name="Flowchart: Document 74">
                <a:extLst>
                  <a:ext uri="{FF2B5EF4-FFF2-40B4-BE49-F238E27FC236}">
                    <a16:creationId xmlns:a16="http://schemas.microsoft.com/office/drawing/2014/main" id="{A964E517-F8C7-5FEE-1FFC-CA4C4093CD32}"/>
                  </a:ext>
                </a:extLst>
              </p:cNvPr>
              <p:cNvSpPr/>
              <p:nvPr/>
            </p:nvSpPr>
            <p:spPr>
              <a:xfrm>
                <a:off x="1359385" y="1371600"/>
                <a:ext cx="1022177" cy="1209520"/>
              </a:xfrm>
              <a:prstGeom prst="flowChartDocumen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DC28649C-EF41-DD3B-A5E5-3F6A9950446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715161" y="3179744"/>
              <a:ext cx="971478" cy="956912"/>
            </a:xfrm>
            <a:prstGeom prst="rect">
              <a:avLst/>
            </a:prstGeom>
            <a:noFill/>
            <a:ln w="9525">
              <a:noFill/>
              <a:miter lim="800000"/>
              <a:headEnd/>
              <a:tailEnd/>
            </a:ln>
          </p:spPr>
        </p:pic>
      </p:grpSp>
    </p:spTree>
    <p:extLst>
      <p:ext uri="{BB962C8B-B14F-4D97-AF65-F5344CB8AC3E}">
        <p14:creationId xmlns:p14="http://schemas.microsoft.com/office/powerpoint/2010/main" val="39282930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Solving Search Problems</a:t>
            </a:r>
          </a:p>
        </p:txBody>
      </p:sp>
      <p:graphicFrame>
        <p:nvGraphicFramePr>
          <p:cNvPr id="8" name="Content Placeholder 7">
            <a:extLst>
              <a:ext uri="{FF2B5EF4-FFF2-40B4-BE49-F238E27FC236}">
                <a16:creationId xmlns:a16="http://schemas.microsoft.com/office/drawing/2014/main" id="{1A6D5AF7-114F-4BD9-9A5D-050071A97E56}"/>
              </a:ext>
            </a:extLst>
          </p:cNvPr>
          <p:cNvGraphicFramePr>
            <a:graphicFrameLocks noGrp="1"/>
          </p:cNvGraphicFramePr>
          <p:nvPr>
            <p:ph idx="4294967295"/>
          </p:nvPr>
        </p:nvGraphicFramePr>
        <p:xfrm>
          <a:off x="735014" y="1455829"/>
          <a:ext cx="2167520" cy="23669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Rectangle 8">
            <a:extLst>
              <a:ext uri="{FF2B5EF4-FFF2-40B4-BE49-F238E27FC236}">
                <a16:creationId xmlns:a16="http://schemas.microsoft.com/office/drawing/2014/main" id="{35909678-34B1-4086-BE16-74D3C62031C2}"/>
              </a:ext>
            </a:extLst>
          </p:cNvPr>
          <p:cNvSpPr/>
          <p:nvPr/>
        </p:nvSpPr>
        <p:spPr>
          <a:xfrm>
            <a:off x="3249906" y="1876713"/>
            <a:ext cx="2332169" cy="1323439"/>
          </a:xfrm>
          <a:prstGeom prst="rect">
            <a:avLst/>
          </a:prstGeom>
        </p:spPr>
        <p:txBody>
          <a:bodyPr wrap="square">
            <a:spAutoFit/>
          </a:bodyPr>
          <a:lstStyle/>
          <a:p>
            <a:r>
              <a:rPr lang="en-US" sz="2000" dirty="0"/>
              <a:t>How do we find the optimal solution (sequence of actions/states)?</a:t>
            </a:r>
          </a:p>
        </p:txBody>
      </p:sp>
      <p:sp>
        <p:nvSpPr>
          <p:cNvPr id="3" name="TextBox 2">
            <a:extLst>
              <a:ext uri="{FF2B5EF4-FFF2-40B4-BE49-F238E27FC236}">
                <a16:creationId xmlns:a16="http://schemas.microsoft.com/office/drawing/2014/main" id="{75C77B91-470E-4D83-B04D-01194B871D1C}"/>
              </a:ext>
            </a:extLst>
          </p:cNvPr>
          <p:cNvSpPr txBox="1"/>
          <p:nvPr/>
        </p:nvSpPr>
        <p:spPr>
          <a:xfrm>
            <a:off x="6827837" y="1748989"/>
            <a:ext cx="1581149" cy="132343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2000" dirty="0"/>
              <a:t>Construct a search tree for the state space graph!</a:t>
            </a:r>
          </a:p>
        </p:txBody>
      </p:sp>
      <p:sp>
        <p:nvSpPr>
          <p:cNvPr id="4" name="Arrow: Right 3">
            <a:extLst>
              <a:ext uri="{FF2B5EF4-FFF2-40B4-BE49-F238E27FC236}">
                <a16:creationId xmlns:a16="http://schemas.microsoft.com/office/drawing/2014/main" id="{8E275448-7194-49A8-9718-B24D47A51189}"/>
              </a:ext>
            </a:extLst>
          </p:cNvPr>
          <p:cNvSpPr/>
          <p:nvPr/>
        </p:nvSpPr>
        <p:spPr>
          <a:xfrm>
            <a:off x="5614687" y="2182109"/>
            <a:ext cx="629520" cy="457200"/>
          </a:xfrm>
          <a:prstGeom prst="right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F18EA982-9CB9-BAED-368B-97D2222517D5}"/>
              </a:ext>
            </a:extLst>
          </p:cNvPr>
          <p:cNvGrpSpPr/>
          <p:nvPr/>
        </p:nvGrpSpPr>
        <p:grpSpPr>
          <a:xfrm>
            <a:off x="1721672" y="3657849"/>
            <a:ext cx="5700655" cy="3071394"/>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8" cstate="print"/>
            <a:srcRect/>
            <a:stretch>
              <a:fillRect/>
            </a:stretch>
          </p:blipFill>
          <p:spPr bwMode="auto">
            <a:xfrm>
              <a:off x="3443345" y="4142196"/>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976745" y="4588005"/>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510145" y="5328854"/>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386445" y="5500098"/>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7" name="Rectangle 16">
              <a:extLst>
                <a:ext uri="{FF2B5EF4-FFF2-40B4-BE49-F238E27FC236}">
                  <a16:creationId xmlns:a16="http://schemas.microsoft.com/office/drawing/2014/main" id="{0A3F790A-73EE-4E53-B55A-5BE346E6B01C}"/>
                </a:ext>
              </a:extLst>
            </p:cNvPr>
            <p:cNvSpPr/>
            <p:nvPr/>
          </p:nvSpPr>
          <p:spPr>
            <a:xfrm>
              <a:off x="5195947" y="4180435"/>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grpSp>
      <p:sp>
        <p:nvSpPr>
          <p:cNvPr id="19" name="TextBox 18">
            <a:extLst>
              <a:ext uri="{FF2B5EF4-FFF2-40B4-BE49-F238E27FC236}">
                <a16:creationId xmlns:a16="http://schemas.microsoft.com/office/drawing/2014/main" id="{BB1FA59E-D51B-462E-80A8-BBD43C78A614}"/>
              </a:ext>
            </a:extLst>
          </p:cNvPr>
          <p:cNvSpPr txBox="1"/>
          <p:nvPr/>
        </p:nvSpPr>
        <p:spPr>
          <a:xfrm>
            <a:off x="1397483" y="4070442"/>
            <a:ext cx="1752600" cy="400110"/>
          </a:xfrm>
          <a:prstGeom prst="rect">
            <a:avLst/>
          </a:prstGeom>
          <a:noFill/>
        </p:spPr>
        <p:txBody>
          <a:bodyPr wrap="square" rtlCol="0">
            <a:spAutoFit/>
          </a:bodyPr>
          <a:lstStyle/>
          <a:p>
            <a:pPr algn="ctr"/>
            <a:r>
              <a:rPr lang="en-US" sz="2000" b="1" dirty="0"/>
              <a:t>State space</a:t>
            </a:r>
          </a:p>
        </p:txBody>
      </p:sp>
      <p:sp>
        <p:nvSpPr>
          <p:cNvPr id="7" name="TextBox 6">
            <a:extLst>
              <a:ext uri="{FF2B5EF4-FFF2-40B4-BE49-F238E27FC236}">
                <a16:creationId xmlns:a16="http://schemas.microsoft.com/office/drawing/2014/main" id="{3E55CB6B-D195-EB3C-B015-2B175D0AF6EC}"/>
              </a:ext>
            </a:extLst>
          </p:cNvPr>
          <p:cNvSpPr txBox="1"/>
          <p:nvPr/>
        </p:nvSpPr>
        <p:spPr>
          <a:xfrm rot="19538169">
            <a:off x="1399347" y="4843858"/>
            <a:ext cx="5483887"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1200" dirty="0"/>
              <a:t>Graphs for real problems do not fit into memory. Can’t use shortest path algorithms!</a:t>
            </a:r>
          </a:p>
        </p:txBody>
      </p:sp>
    </p:spTree>
    <p:extLst>
      <p:ext uri="{BB962C8B-B14F-4D97-AF65-F5344CB8AC3E}">
        <p14:creationId xmlns:p14="http://schemas.microsoft.com/office/powerpoint/2010/main" val="9931684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Creating a Search Tree</a:t>
            </a:r>
          </a:p>
        </p:txBody>
      </p:sp>
      <p:sp>
        <p:nvSpPr>
          <p:cNvPr id="20483" name="Rectangle 3"/>
          <p:cNvSpPr>
            <a:spLocks noGrp="1" noChangeArrowheads="1"/>
          </p:cNvSpPr>
          <p:nvPr>
            <p:ph idx="1"/>
          </p:nvPr>
        </p:nvSpPr>
        <p:spPr>
          <a:xfrm>
            <a:off x="588210" y="1467732"/>
            <a:ext cx="4400550" cy="4933068"/>
          </a:xfrm>
        </p:spPr>
        <p:txBody>
          <a:bodyPr>
            <a:normAutofit fontScale="77500" lnSpcReduction="20000"/>
          </a:bodyPr>
          <a:lstStyle/>
          <a:p>
            <a:r>
              <a:rPr lang="en-US" dirty="0"/>
              <a:t>Superimpose a “what if” tree of possible actions and outcomes (states) on the state space graph.</a:t>
            </a:r>
          </a:p>
          <a:p>
            <a:r>
              <a:rPr lang="en-US" dirty="0"/>
              <a:t>The</a:t>
            </a:r>
            <a:r>
              <a:rPr lang="en-US" b="1" dirty="0">
                <a:solidFill>
                  <a:srgbClr val="FF0000"/>
                </a:solidFill>
              </a:rPr>
              <a:t> Root node</a:t>
            </a:r>
            <a:r>
              <a:rPr lang="en-US" dirty="0"/>
              <a:t> represents the initial stare.</a:t>
            </a:r>
          </a:p>
          <a:p>
            <a:r>
              <a:rPr lang="en-US" dirty="0"/>
              <a:t>An action child node is reached by an </a:t>
            </a:r>
            <a:r>
              <a:rPr lang="en-US" b="1" dirty="0">
                <a:solidFill>
                  <a:srgbClr val="FF0000"/>
                </a:solidFill>
              </a:rPr>
              <a:t>edge</a:t>
            </a:r>
            <a:r>
              <a:rPr lang="en-US" dirty="0"/>
              <a:t> representing an action. The corresponding state is defined by the transition model.</a:t>
            </a:r>
          </a:p>
          <a:p>
            <a:r>
              <a:rPr lang="en-US" dirty="0"/>
              <a:t>Trees cannot have </a:t>
            </a:r>
            <a:r>
              <a:rPr lang="en-US" b="1" dirty="0">
                <a:solidFill>
                  <a:srgbClr val="FF0000"/>
                </a:solidFill>
              </a:rPr>
              <a:t>cycles (loops). </a:t>
            </a:r>
            <a:r>
              <a:rPr lang="en-US" dirty="0"/>
              <a:t>Cycles in the search space must be broken to prevent infinite loops.</a:t>
            </a:r>
            <a:endParaRPr lang="en-US" b="1" dirty="0">
              <a:solidFill>
                <a:srgbClr val="FF0000"/>
              </a:solidFill>
            </a:endParaRPr>
          </a:p>
          <a:p>
            <a:r>
              <a:rPr lang="en-US" dirty="0"/>
              <a:t>Trees</a:t>
            </a:r>
            <a:r>
              <a:rPr lang="en-US" b="1" dirty="0"/>
              <a:t> </a:t>
            </a:r>
            <a:r>
              <a:rPr lang="en-US" dirty="0"/>
              <a:t>cannot have </a:t>
            </a:r>
            <a:r>
              <a:rPr lang="en-US" dirty="0">
                <a:solidFill>
                  <a:srgbClr val="FF0000"/>
                </a:solidFill>
              </a:rPr>
              <a:t> </a:t>
            </a:r>
            <a:r>
              <a:rPr lang="en-US" b="1" dirty="0">
                <a:solidFill>
                  <a:srgbClr val="FF0000"/>
                </a:solidFill>
              </a:rPr>
              <a:t>multiple paths to the same state.</a:t>
            </a:r>
            <a:r>
              <a:rPr lang="en-US" dirty="0"/>
              <a:t> These are called redundant paths. Removing other redundant paths improves search efficiency.</a:t>
            </a:r>
          </a:p>
          <a:p>
            <a:r>
              <a:rPr lang="en-US" dirty="0"/>
              <a:t>A </a:t>
            </a:r>
            <a:r>
              <a:rPr lang="en-US" b="1" dirty="0">
                <a:solidFill>
                  <a:srgbClr val="FF0000"/>
                </a:solidFill>
              </a:rPr>
              <a:t>path</a:t>
            </a:r>
            <a:r>
              <a:rPr lang="en-US" dirty="0"/>
              <a:t> through the tree corresponds to a sequence of actions (states).</a:t>
            </a:r>
          </a:p>
          <a:p>
            <a:r>
              <a:rPr lang="en-US" dirty="0"/>
              <a:t>A </a:t>
            </a:r>
            <a:r>
              <a:rPr lang="en-US" b="1" dirty="0">
                <a:solidFill>
                  <a:srgbClr val="FF0000"/>
                </a:solidFill>
              </a:rPr>
              <a:t>solution</a:t>
            </a:r>
            <a:r>
              <a:rPr lang="en-US" dirty="0"/>
              <a:t> is a path ending in a node representing a goal state.</a:t>
            </a:r>
          </a:p>
          <a:p>
            <a:r>
              <a:rPr lang="en-US" b="1" dirty="0">
                <a:solidFill>
                  <a:srgbClr val="FF0000"/>
                </a:solidFill>
              </a:rPr>
              <a:t>Nodes vs. states</a:t>
            </a:r>
            <a:r>
              <a:rPr lang="en-US" b="1" dirty="0"/>
              <a:t>: </a:t>
            </a:r>
            <a:r>
              <a:rPr lang="en-US" dirty="0"/>
              <a:t>Each tree node represents a state of the system. If redundant path cannot be prevented then state can be represented by multiple nodes in the tree.</a:t>
            </a:r>
          </a:p>
        </p:txBody>
      </p:sp>
      <p:grpSp>
        <p:nvGrpSpPr>
          <p:cNvPr id="8" name="Group 7"/>
          <p:cNvGrpSpPr/>
          <p:nvPr/>
        </p:nvGrpSpPr>
        <p:grpSpPr>
          <a:xfrm>
            <a:off x="5413756" y="1371600"/>
            <a:ext cx="2991909" cy="4646588"/>
            <a:chOff x="2748904" y="1792069"/>
            <a:chExt cx="2991909" cy="4646588"/>
          </a:xfrm>
        </p:grpSpPr>
        <p:sp>
          <p:nvSpPr>
            <p:cNvPr id="10" name="TextBox 9"/>
            <p:cNvSpPr txBox="1"/>
            <p:nvPr/>
          </p:nvSpPr>
          <p:spPr>
            <a:xfrm>
              <a:off x="3429000"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1" name="TextBox 10"/>
            <p:cNvSpPr txBox="1"/>
            <p:nvPr/>
          </p:nvSpPr>
          <p:spPr>
            <a:xfrm>
              <a:off x="4200012"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3" name="Oval 12"/>
            <p:cNvSpPr/>
            <p:nvPr/>
          </p:nvSpPr>
          <p:spPr>
            <a:xfrm>
              <a:off x="4419600" y="2438400"/>
              <a:ext cx="304800" cy="30480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cxnSp>
          <p:nvCxnSpPr>
            <p:cNvPr id="14" name="Straight Arrow Connector 13"/>
            <p:cNvCxnSpPr/>
            <p:nvPr/>
          </p:nvCxnSpPr>
          <p:spPr>
            <a:xfrm rot="5400000">
              <a:off x="3955863"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5400000">
              <a:off x="3346262"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2949480" y="467051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3308162" y="5931686"/>
              <a:ext cx="304800" cy="3048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f</a:t>
              </a:r>
            </a:p>
          </p:txBody>
        </p:sp>
        <p:cxnSp>
          <p:nvCxnSpPr>
            <p:cNvPr id="18" name="Straight Arrow Connector 17"/>
            <p:cNvCxnSpPr/>
            <p:nvPr/>
          </p:nvCxnSpPr>
          <p:spPr>
            <a:xfrm rot="5400000">
              <a:off x="3389953" y="5453115"/>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16200000" flipH="1">
              <a:off x="4533900"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16200000" flipH="1">
              <a:off x="3924300"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16200000" flipH="1">
              <a:off x="3406680"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a:off x="4092484"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16200000" flipH="1">
              <a:off x="4549683"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cxnSpLocks/>
            </p:cNvCxnSpPr>
            <p:nvPr/>
          </p:nvCxnSpPr>
          <p:spPr>
            <a:xfrm>
              <a:off x="5257799" y="3657601"/>
              <a:ext cx="258564" cy="632782"/>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3962400" y="1792069"/>
              <a:ext cx="1447800" cy="646331"/>
            </a:xfrm>
            <a:prstGeom prst="rect">
              <a:avLst/>
            </a:prstGeom>
          </p:spPr>
          <p:txBody>
            <a:bodyPr wrap="square">
              <a:spAutoFit/>
            </a:bodyPr>
            <a:lstStyle/>
            <a:p>
              <a:pPr algn="ctr"/>
              <a:r>
                <a:rPr lang="en-US" dirty="0"/>
                <a:t>Root node  = </a:t>
              </a:r>
              <a:r>
                <a:rPr lang="en-US" b="1" dirty="0">
                  <a:solidFill>
                    <a:schemeClr val="accent1"/>
                  </a:solidFill>
                </a:rPr>
                <a:t>Initial state</a:t>
              </a:r>
            </a:p>
          </p:txBody>
        </p:sp>
        <p:sp>
          <p:nvSpPr>
            <p:cNvPr id="27" name="Rectangle 26"/>
            <p:cNvSpPr/>
            <p:nvPr/>
          </p:nvSpPr>
          <p:spPr>
            <a:xfrm>
              <a:off x="2748904" y="3087821"/>
              <a:ext cx="1226312" cy="369332"/>
            </a:xfrm>
            <a:prstGeom prst="rect">
              <a:avLst/>
            </a:prstGeom>
          </p:spPr>
          <p:txBody>
            <a:bodyPr wrap="square">
              <a:spAutoFit/>
            </a:bodyPr>
            <a:lstStyle/>
            <a:p>
              <a:pPr algn="ctr"/>
              <a:r>
                <a:rPr lang="en-US" dirty="0"/>
                <a:t>Child node</a:t>
              </a:r>
            </a:p>
          </p:txBody>
        </p:sp>
        <p:sp>
          <p:nvSpPr>
            <p:cNvPr id="28" name="Rectangle 27"/>
            <p:cNvSpPr/>
            <p:nvPr/>
          </p:nvSpPr>
          <p:spPr>
            <a:xfrm>
              <a:off x="2826153" y="2657053"/>
              <a:ext cx="1477777" cy="369332"/>
            </a:xfrm>
            <a:prstGeom prst="rect">
              <a:avLst/>
            </a:prstGeom>
          </p:spPr>
          <p:txBody>
            <a:bodyPr wrap="none">
              <a:spAutoFit/>
            </a:bodyPr>
            <a:lstStyle/>
            <a:p>
              <a:r>
                <a:rPr lang="en-US" dirty="0"/>
                <a:t>Edge = </a:t>
              </a:r>
              <a:r>
                <a:rPr lang="en-US" b="1" dirty="0">
                  <a:solidFill>
                    <a:schemeClr val="accent1"/>
                  </a:solidFill>
                </a:rPr>
                <a:t>Action</a:t>
              </a:r>
            </a:p>
          </p:txBody>
        </p:sp>
        <p:sp>
          <p:nvSpPr>
            <p:cNvPr id="29" name="Rectangle 28"/>
            <p:cNvSpPr/>
            <p:nvPr/>
          </p:nvSpPr>
          <p:spPr>
            <a:xfrm>
              <a:off x="3749690" y="5792326"/>
              <a:ext cx="1991123" cy="646331"/>
            </a:xfrm>
            <a:prstGeom prst="rect">
              <a:avLst/>
            </a:prstGeom>
          </p:spPr>
          <p:txBody>
            <a:bodyPr wrap="none">
              <a:spAutoFit/>
            </a:bodyPr>
            <a:lstStyle/>
            <a:p>
              <a:r>
                <a:rPr lang="en-US" dirty="0"/>
                <a:t>Node representing </a:t>
              </a:r>
              <a:br>
                <a:rPr lang="en-US" dirty="0"/>
              </a:br>
              <a:r>
                <a:rPr lang="en-US" dirty="0"/>
                <a:t>a </a:t>
              </a:r>
              <a:r>
                <a:rPr lang="en-US" b="1" dirty="0">
                  <a:solidFill>
                    <a:schemeClr val="accent2"/>
                  </a:solidFill>
                </a:rPr>
                <a:t>Goal state</a:t>
              </a:r>
            </a:p>
          </p:txBody>
        </p:sp>
        <p:sp>
          <p:nvSpPr>
            <p:cNvPr id="30" name="Oval 29"/>
            <p:cNvSpPr/>
            <p:nvPr/>
          </p:nvSpPr>
          <p:spPr>
            <a:xfrm>
              <a:off x="38100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sp>
          <p:nvSpPr>
            <p:cNvPr id="31" name="Oval 30"/>
            <p:cNvSpPr/>
            <p:nvPr/>
          </p:nvSpPr>
          <p:spPr>
            <a:xfrm>
              <a:off x="3276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
              </a:r>
            </a:p>
          </p:txBody>
        </p:sp>
        <p:sp>
          <p:nvSpPr>
            <p:cNvPr id="32" name="Oval 31"/>
            <p:cNvSpPr/>
            <p:nvPr/>
          </p:nvSpPr>
          <p:spPr>
            <a:xfrm>
              <a:off x="50292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
              </a:r>
            </a:p>
          </p:txBody>
        </p:sp>
        <p:sp>
          <p:nvSpPr>
            <p:cNvPr id="33" name="Oval 32"/>
            <p:cNvSpPr/>
            <p:nvPr/>
          </p:nvSpPr>
          <p:spPr>
            <a:xfrm>
              <a:off x="4419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grpSp>
      <p:grpSp>
        <p:nvGrpSpPr>
          <p:cNvPr id="9" name="Group 8">
            <a:extLst>
              <a:ext uri="{FF2B5EF4-FFF2-40B4-BE49-F238E27FC236}">
                <a16:creationId xmlns:a16="http://schemas.microsoft.com/office/drawing/2014/main" id="{8D287CE2-4FFC-75A4-EB2C-3DFCB1A37CF6}"/>
              </a:ext>
            </a:extLst>
          </p:cNvPr>
          <p:cNvGrpSpPr/>
          <p:nvPr/>
        </p:nvGrpSpPr>
        <p:grpSpPr>
          <a:xfrm>
            <a:off x="7738689" y="2685535"/>
            <a:ext cx="1364113" cy="970815"/>
            <a:chOff x="7738689" y="2685535"/>
            <a:chExt cx="1364113" cy="970820"/>
          </a:xfrm>
        </p:grpSpPr>
        <p:sp>
          <p:nvSpPr>
            <p:cNvPr id="42" name="Rectangle 41">
              <a:extLst>
                <a:ext uri="{FF2B5EF4-FFF2-40B4-BE49-F238E27FC236}">
                  <a16:creationId xmlns:a16="http://schemas.microsoft.com/office/drawing/2014/main" id="{B22A040B-3919-4942-B7C7-64E7EB35E7F9}"/>
                </a:ext>
              </a:extLst>
            </p:cNvPr>
            <p:cNvSpPr/>
            <p:nvPr/>
          </p:nvSpPr>
          <p:spPr>
            <a:xfrm>
              <a:off x="7876490" y="2685535"/>
              <a:ext cx="1226312" cy="738664"/>
            </a:xfrm>
            <a:prstGeom prst="rect">
              <a:avLst/>
            </a:prstGeom>
          </p:spPr>
          <p:txBody>
            <a:bodyPr wrap="square">
              <a:spAutoFit/>
            </a:bodyPr>
            <a:lstStyle/>
            <a:p>
              <a:pPr algn="ctr"/>
              <a:r>
                <a:rPr lang="en-US" sz="1400" dirty="0"/>
                <a:t>Non-cycle redundant</a:t>
              </a:r>
            </a:p>
            <a:p>
              <a:pPr algn="ctr"/>
              <a:r>
                <a:rPr lang="en-US" sz="1400" dirty="0"/>
                <a:t>path</a:t>
              </a:r>
            </a:p>
          </p:txBody>
        </p:sp>
        <p:grpSp>
          <p:nvGrpSpPr>
            <p:cNvPr id="43" name="Group 42">
              <a:extLst>
                <a:ext uri="{FF2B5EF4-FFF2-40B4-BE49-F238E27FC236}">
                  <a16:creationId xmlns:a16="http://schemas.microsoft.com/office/drawing/2014/main" id="{55989EFE-E4C9-4186-8D71-597B85C68F60}"/>
                </a:ext>
              </a:extLst>
            </p:cNvPr>
            <p:cNvGrpSpPr/>
            <p:nvPr/>
          </p:nvGrpSpPr>
          <p:grpSpPr>
            <a:xfrm>
              <a:off x="7738689" y="3424523"/>
              <a:ext cx="626533" cy="231832"/>
              <a:chOff x="1219200" y="5045084"/>
              <a:chExt cx="2289484" cy="431902"/>
            </a:xfrm>
          </p:grpSpPr>
          <p:cxnSp>
            <p:nvCxnSpPr>
              <p:cNvPr id="44" name="Straight Connector 43">
                <a:extLst>
                  <a:ext uri="{FF2B5EF4-FFF2-40B4-BE49-F238E27FC236}">
                    <a16:creationId xmlns:a16="http://schemas.microsoft.com/office/drawing/2014/main" id="{BD597AAC-0047-4B0F-894D-F6241ACEEBDE}"/>
                  </a:ext>
                </a:extLst>
              </p:cNvPr>
              <p:cNvCxnSpPr>
                <a:cxnSpLocks/>
              </p:cNvCxnSpPr>
              <p:nvPr/>
            </p:nvCxnSpPr>
            <p:spPr>
              <a:xfrm>
                <a:off x="1219200" y="504508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DC9E55B2-4647-400B-A3B5-90BA76DA7834}"/>
                  </a:ext>
                </a:extLst>
              </p:cNvPr>
              <p:cNvCxnSpPr>
                <a:cxnSpLocks/>
              </p:cNvCxnSpPr>
              <p:nvPr/>
            </p:nvCxnSpPr>
            <p:spPr>
              <a:xfrm flipH="1">
                <a:off x="1219200" y="5045084"/>
                <a:ext cx="2289484"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grpSp>
        <p:nvGrpSpPr>
          <p:cNvPr id="38" name="Group 37">
            <a:extLst>
              <a:ext uri="{FF2B5EF4-FFF2-40B4-BE49-F238E27FC236}">
                <a16:creationId xmlns:a16="http://schemas.microsoft.com/office/drawing/2014/main" id="{5531DEB8-606C-CF93-4E17-6138B33E1DF5}"/>
              </a:ext>
            </a:extLst>
          </p:cNvPr>
          <p:cNvGrpSpPr/>
          <p:nvPr/>
        </p:nvGrpSpPr>
        <p:grpSpPr>
          <a:xfrm>
            <a:off x="6246252" y="2391043"/>
            <a:ext cx="1786890" cy="3092721"/>
            <a:chOff x="6246252" y="2391043"/>
            <a:chExt cx="1786890" cy="3092721"/>
          </a:xfrm>
        </p:grpSpPr>
        <p:sp>
          <p:nvSpPr>
            <p:cNvPr id="39" name="Rectangle 38">
              <a:extLst>
                <a:ext uri="{FF2B5EF4-FFF2-40B4-BE49-F238E27FC236}">
                  <a16:creationId xmlns:a16="http://schemas.microsoft.com/office/drawing/2014/main" id="{9105FE34-4611-45AF-B2C8-50E2984917BF}"/>
                </a:ext>
              </a:extLst>
            </p:cNvPr>
            <p:cNvSpPr/>
            <p:nvPr/>
          </p:nvSpPr>
          <p:spPr>
            <a:xfrm>
              <a:off x="6500133" y="4975605"/>
              <a:ext cx="1533009" cy="369332"/>
            </a:xfrm>
            <a:prstGeom prst="rect">
              <a:avLst/>
            </a:prstGeom>
          </p:spPr>
          <p:txBody>
            <a:bodyPr wrap="square">
              <a:spAutoFit/>
            </a:bodyPr>
            <a:lstStyle/>
            <a:p>
              <a:pPr algn="ctr"/>
              <a:r>
                <a:rPr lang="en-US" dirty="0">
                  <a:solidFill>
                    <a:schemeClr val="accent2"/>
                  </a:solidFill>
                </a:rPr>
                <a:t>Solution path</a:t>
              </a:r>
            </a:p>
          </p:txBody>
        </p:sp>
        <p:grpSp>
          <p:nvGrpSpPr>
            <p:cNvPr id="24" name="Group 23">
              <a:extLst>
                <a:ext uri="{FF2B5EF4-FFF2-40B4-BE49-F238E27FC236}">
                  <a16:creationId xmlns:a16="http://schemas.microsoft.com/office/drawing/2014/main" id="{BDECA28C-240E-7496-3D52-131939943F61}"/>
                </a:ext>
              </a:extLst>
            </p:cNvPr>
            <p:cNvGrpSpPr/>
            <p:nvPr/>
          </p:nvGrpSpPr>
          <p:grpSpPr>
            <a:xfrm>
              <a:off x="6246252" y="2391043"/>
              <a:ext cx="957006" cy="3092721"/>
              <a:chOff x="6246252" y="2391043"/>
              <a:chExt cx="957006" cy="3092721"/>
            </a:xfrm>
          </p:grpSpPr>
          <p:cxnSp>
            <p:nvCxnSpPr>
              <p:cNvPr id="3" name="Straight Arrow Connector 2">
                <a:extLst>
                  <a:ext uri="{FF2B5EF4-FFF2-40B4-BE49-F238E27FC236}">
                    <a16:creationId xmlns:a16="http://schemas.microsoft.com/office/drawing/2014/main" id="{59FEBE58-4685-386B-C6A7-3FCF7BF2B1BC}"/>
                  </a:ext>
                </a:extLst>
              </p:cNvPr>
              <p:cNvCxnSpPr>
                <a:cxnSpLocks/>
              </p:cNvCxnSpPr>
              <p:nvPr/>
            </p:nvCxnSpPr>
            <p:spPr>
              <a:xfrm flipH="1">
                <a:off x="6277814" y="4812064"/>
                <a:ext cx="402461" cy="671700"/>
              </a:xfrm>
              <a:prstGeom prst="straightConnector1">
                <a:avLst/>
              </a:prstGeom>
              <a:ln w="57150">
                <a:tailEnd type="arrow"/>
              </a:ln>
            </p:spPr>
            <p:style>
              <a:lnRef idx="3">
                <a:schemeClr val="accent2"/>
              </a:lnRef>
              <a:fillRef idx="0">
                <a:schemeClr val="accent2"/>
              </a:fillRef>
              <a:effectRef idx="2">
                <a:schemeClr val="accent2"/>
              </a:effectRef>
              <a:fontRef idx="minor">
                <a:schemeClr val="tx1"/>
              </a:fontRef>
            </p:style>
          </p:cxnSp>
          <p:cxnSp>
            <p:nvCxnSpPr>
              <p:cNvPr id="40" name="Straight Connector 39">
                <a:extLst>
                  <a:ext uri="{FF2B5EF4-FFF2-40B4-BE49-F238E27FC236}">
                    <a16:creationId xmlns:a16="http://schemas.microsoft.com/office/drawing/2014/main" id="{66652061-1483-0B6B-D242-4D99CEB6E2C5}"/>
                  </a:ext>
                </a:extLst>
              </p:cNvPr>
              <p:cNvCxnSpPr>
                <a:cxnSpLocks/>
                <a:endCxn id="31" idx="6"/>
              </p:cNvCxnSpPr>
              <p:nvPr/>
            </p:nvCxnSpPr>
            <p:spPr>
              <a:xfrm flipH="1">
                <a:off x="6246252" y="2391043"/>
                <a:ext cx="957006" cy="1652725"/>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41" name="Straight Connector 40">
                <a:extLst>
                  <a:ext uri="{FF2B5EF4-FFF2-40B4-BE49-F238E27FC236}">
                    <a16:creationId xmlns:a16="http://schemas.microsoft.com/office/drawing/2014/main" id="{C40584B3-7C87-585A-C5D4-0C685F7A8CAC}"/>
                  </a:ext>
                </a:extLst>
              </p:cNvPr>
              <p:cNvCxnSpPr>
                <a:cxnSpLocks/>
                <a:stCxn id="31" idx="6"/>
              </p:cNvCxnSpPr>
              <p:nvPr/>
            </p:nvCxnSpPr>
            <p:spPr>
              <a:xfrm>
                <a:off x="6246252" y="4043768"/>
                <a:ext cx="426289" cy="777941"/>
              </a:xfrm>
              <a:prstGeom prst="line">
                <a:avLst/>
              </a:prstGeom>
              <a:ln w="57150"/>
            </p:spPr>
            <p:style>
              <a:lnRef idx="3">
                <a:schemeClr val="accent2"/>
              </a:lnRef>
              <a:fillRef idx="0">
                <a:schemeClr val="accent2"/>
              </a:fillRef>
              <a:effectRef idx="2">
                <a:schemeClr val="accent2"/>
              </a:effectRef>
              <a:fontRef idx="minor">
                <a:schemeClr val="tx1"/>
              </a:fontRef>
            </p:style>
          </p:cxnSp>
        </p:grpSp>
      </p:grpSp>
      <p:grpSp>
        <p:nvGrpSpPr>
          <p:cNvPr id="12" name="Group 11">
            <a:extLst>
              <a:ext uri="{FF2B5EF4-FFF2-40B4-BE49-F238E27FC236}">
                <a16:creationId xmlns:a16="http://schemas.microsoft.com/office/drawing/2014/main" id="{C26CB06A-D585-3262-E226-F6BC2B4FFAE2}"/>
              </a:ext>
            </a:extLst>
          </p:cNvPr>
          <p:cNvGrpSpPr/>
          <p:nvPr/>
        </p:nvGrpSpPr>
        <p:grpSpPr>
          <a:xfrm>
            <a:off x="4800600" y="4174800"/>
            <a:ext cx="1447623" cy="397239"/>
            <a:chOff x="4800600" y="4174800"/>
            <a:chExt cx="1447623" cy="397239"/>
          </a:xfrm>
        </p:grpSpPr>
        <p:sp>
          <p:nvSpPr>
            <p:cNvPr id="34" name="Rectangle 33">
              <a:extLst>
                <a:ext uri="{FF2B5EF4-FFF2-40B4-BE49-F238E27FC236}">
                  <a16:creationId xmlns:a16="http://schemas.microsoft.com/office/drawing/2014/main" id="{018F8CBD-0FF9-413A-B4D5-AAC5A8B148C2}"/>
                </a:ext>
              </a:extLst>
            </p:cNvPr>
            <p:cNvSpPr/>
            <p:nvPr/>
          </p:nvSpPr>
          <p:spPr>
            <a:xfrm>
              <a:off x="4800600" y="4203842"/>
              <a:ext cx="1226312" cy="307777"/>
            </a:xfrm>
            <a:prstGeom prst="rect">
              <a:avLst/>
            </a:prstGeom>
          </p:spPr>
          <p:txBody>
            <a:bodyPr wrap="square">
              <a:spAutoFit/>
            </a:bodyPr>
            <a:lstStyle/>
            <a:p>
              <a:pPr algn="ctr"/>
              <a:r>
                <a:rPr lang="en-US" sz="1400" dirty="0"/>
                <a:t>Cycle</a:t>
              </a:r>
              <a:endParaRPr lang="en-US" dirty="0"/>
            </a:p>
          </p:txBody>
        </p:sp>
        <p:grpSp>
          <p:nvGrpSpPr>
            <p:cNvPr id="35" name="Group 34">
              <a:extLst>
                <a:ext uri="{FF2B5EF4-FFF2-40B4-BE49-F238E27FC236}">
                  <a16:creationId xmlns:a16="http://schemas.microsoft.com/office/drawing/2014/main" id="{935FE1E2-6862-4B7C-9BCA-FCC147456DF1}"/>
                </a:ext>
              </a:extLst>
            </p:cNvPr>
            <p:cNvGrpSpPr/>
            <p:nvPr/>
          </p:nvGrpSpPr>
          <p:grpSpPr>
            <a:xfrm>
              <a:off x="5482280" y="4174800"/>
              <a:ext cx="765943" cy="397239"/>
              <a:chOff x="1219200" y="5045074"/>
              <a:chExt cx="2289484" cy="431902"/>
            </a:xfrm>
          </p:grpSpPr>
          <p:cxnSp>
            <p:nvCxnSpPr>
              <p:cNvPr id="36" name="Straight Connector 35">
                <a:extLst>
                  <a:ext uri="{FF2B5EF4-FFF2-40B4-BE49-F238E27FC236}">
                    <a16:creationId xmlns:a16="http://schemas.microsoft.com/office/drawing/2014/main" id="{33E656F0-7E44-4750-A40B-08B26E1C2881}"/>
                  </a:ext>
                </a:extLst>
              </p:cNvPr>
              <p:cNvCxnSpPr>
                <a:cxnSpLocks/>
              </p:cNvCxnSpPr>
              <p:nvPr/>
            </p:nvCxnSpPr>
            <p:spPr>
              <a:xfrm>
                <a:off x="1219200" y="504507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98E7255-DDDF-4DB3-B9D7-63987FDC9C4F}"/>
                  </a:ext>
                </a:extLst>
              </p:cNvPr>
              <p:cNvCxnSpPr>
                <a:cxnSpLocks/>
              </p:cNvCxnSpPr>
              <p:nvPr/>
            </p:nvCxnSpPr>
            <p:spPr>
              <a:xfrm flipH="1">
                <a:off x="1219200" y="5045074"/>
                <a:ext cx="2289484"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4" name="Oval 3">
            <a:extLst>
              <a:ext uri="{FF2B5EF4-FFF2-40B4-BE49-F238E27FC236}">
                <a16:creationId xmlns:a16="http://schemas.microsoft.com/office/drawing/2014/main" id="{0187AC6C-39F3-24CA-7924-BFFADDDF6F49}"/>
              </a:ext>
            </a:extLst>
          </p:cNvPr>
          <p:cNvSpPr/>
          <p:nvPr/>
        </p:nvSpPr>
        <p:spPr>
          <a:xfrm>
            <a:off x="5468468" y="4614889"/>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cxnSp>
        <p:nvCxnSpPr>
          <p:cNvPr id="2" name="Straight Arrow Connector 1">
            <a:extLst>
              <a:ext uri="{FF2B5EF4-FFF2-40B4-BE49-F238E27FC236}">
                <a16:creationId xmlns:a16="http://schemas.microsoft.com/office/drawing/2014/main" id="{8C6F20CA-AACE-BF99-E049-030955EC0712}"/>
              </a:ext>
            </a:extLst>
          </p:cNvPr>
          <p:cNvCxnSpPr/>
          <p:nvPr/>
        </p:nvCxnSpPr>
        <p:spPr>
          <a:xfrm rot="5400000">
            <a:off x="7714339"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99FEA737-8951-0217-5767-65D2896A9500}"/>
              </a:ext>
            </a:extLst>
          </p:cNvPr>
          <p:cNvCxnSpPr/>
          <p:nvPr/>
        </p:nvCxnSpPr>
        <p:spPr>
          <a:xfrm rot="16200000" flipH="1">
            <a:off x="8171538"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1C4F03D7-FD9F-B0E7-C75A-3E3F547A1C57}"/>
              </a:ext>
            </a:extLst>
          </p:cNvPr>
          <p:cNvSpPr/>
          <p:nvPr/>
        </p:nvSpPr>
        <p:spPr>
          <a:xfrm>
            <a:off x="8041455" y="3924104"/>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sp>
        <p:nvSpPr>
          <p:cNvPr id="7" name="TextBox 6">
            <a:extLst>
              <a:ext uri="{FF2B5EF4-FFF2-40B4-BE49-F238E27FC236}">
                <a16:creationId xmlns:a16="http://schemas.microsoft.com/office/drawing/2014/main" id="{2CE28A43-022F-2733-AE6A-DC930EC0DEDC}"/>
              </a:ext>
            </a:extLst>
          </p:cNvPr>
          <p:cNvSpPr txBox="1"/>
          <p:nvPr/>
        </p:nvSpPr>
        <p:spPr>
          <a:xfrm>
            <a:off x="7889755" y="4127852"/>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46" name="Rectangle 45">
            <a:extLst>
              <a:ext uri="{FF2B5EF4-FFF2-40B4-BE49-F238E27FC236}">
                <a16:creationId xmlns:a16="http://schemas.microsoft.com/office/drawing/2014/main" id="{58672B10-4FBD-4724-DC42-E81160B8A38D}"/>
              </a:ext>
            </a:extLst>
          </p:cNvPr>
          <p:cNvSpPr/>
          <p:nvPr/>
        </p:nvSpPr>
        <p:spPr>
          <a:xfrm>
            <a:off x="575434" y="2743201"/>
            <a:ext cx="4479551" cy="1431600"/>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69027-A669-4E9F-88BB-9B65EE4BFAAE}"/>
              </a:ext>
            </a:extLst>
          </p:cNvPr>
          <p:cNvSpPr>
            <a:spLocks noGrp="1"/>
          </p:cNvSpPr>
          <p:nvPr>
            <p:ph type="title"/>
          </p:nvPr>
        </p:nvSpPr>
        <p:spPr/>
        <p:txBody>
          <a:bodyPr/>
          <a:lstStyle/>
          <a:p>
            <a:r>
              <a:rPr lang="en-US" dirty="0"/>
              <a:t>Differences Between Typical Tree Search and AI Search</a:t>
            </a:r>
          </a:p>
        </p:txBody>
      </p:sp>
      <p:sp>
        <p:nvSpPr>
          <p:cNvPr id="4" name="Content Placeholder 3">
            <a:extLst>
              <a:ext uri="{FF2B5EF4-FFF2-40B4-BE49-F238E27FC236}">
                <a16:creationId xmlns:a16="http://schemas.microsoft.com/office/drawing/2014/main" id="{416DDDA6-AE40-4D9F-B2FA-432DA7239574}"/>
              </a:ext>
            </a:extLst>
          </p:cNvPr>
          <p:cNvSpPr>
            <a:spLocks noGrp="1"/>
          </p:cNvSpPr>
          <p:nvPr>
            <p:ph sz="half" idx="1"/>
          </p:nvPr>
        </p:nvSpPr>
        <p:spPr>
          <a:xfrm>
            <a:off x="628650" y="1825625"/>
            <a:ext cx="3257550" cy="4351338"/>
          </a:xfrm>
        </p:spPr>
        <p:txBody>
          <a:bodyPr>
            <a:normAutofit fontScale="85000" lnSpcReduction="20000"/>
          </a:bodyPr>
          <a:lstStyle/>
          <a:p>
            <a:pPr marL="0" indent="0" algn="ctr">
              <a:buNone/>
            </a:pPr>
            <a:r>
              <a:rPr lang="en-US" b="1" dirty="0"/>
              <a:t>Typical tree search</a:t>
            </a:r>
          </a:p>
          <a:p>
            <a:pPr marL="0" indent="0" algn="ctr">
              <a:buNone/>
            </a:pPr>
            <a:endParaRPr lang="en-US" b="1" dirty="0"/>
          </a:p>
          <a:p>
            <a:r>
              <a:rPr lang="en-US" dirty="0"/>
              <a:t>Assumes a given tree that fits in memory.</a:t>
            </a:r>
          </a:p>
          <a:p>
            <a:endParaRPr lang="en-US" dirty="0"/>
          </a:p>
          <a:p>
            <a:endParaRPr lang="en-US" dirty="0"/>
          </a:p>
          <a:p>
            <a:pPr marL="0" indent="0">
              <a:buNone/>
            </a:pPr>
            <a:endParaRPr lang="en-US" dirty="0"/>
          </a:p>
          <a:p>
            <a:pPr marL="0" indent="0">
              <a:buNone/>
            </a:pPr>
            <a:endParaRPr lang="en-US" dirty="0"/>
          </a:p>
          <a:p>
            <a:r>
              <a:rPr lang="en-US" dirty="0"/>
              <a:t>Trees have by construction no cycles or redundant paths.</a:t>
            </a:r>
          </a:p>
          <a:p>
            <a:endParaRPr lang="en-US" dirty="0"/>
          </a:p>
          <a:p>
            <a:endParaRPr lang="en-US" dirty="0"/>
          </a:p>
        </p:txBody>
      </p:sp>
      <p:sp>
        <p:nvSpPr>
          <p:cNvPr id="5" name="Content Placeholder 4">
            <a:extLst>
              <a:ext uri="{FF2B5EF4-FFF2-40B4-BE49-F238E27FC236}">
                <a16:creationId xmlns:a16="http://schemas.microsoft.com/office/drawing/2014/main" id="{06DAD876-9AB5-424E-B7CE-A6A6D5E3C7D0}"/>
              </a:ext>
            </a:extLst>
          </p:cNvPr>
          <p:cNvSpPr>
            <a:spLocks noGrp="1"/>
          </p:cNvSpPr>
          <p:nvPr>
            <p:ph sz="half" idx="2"/>
          </p:nvPr>
        </p:nvSpPr>
        <p:spPr>
          <a:xfrm>
            <a:off x="4629150" y="1825624"/>
            <a:ext cx="3886200" cy="4498975"/>
          </a:xfrm>
        </p:spPr>
        <p:txBody>
          <a:bodyPr>
            <a:normAutofit fontScale="85000" lnSpcReduction="20000"/>
          </a:bodyPr>
          <a:lstStyle/>
          <a:p>
            <a:pPr marL="0" indent="0" algn="ctr">
              <a:buNone/>
            </a:pPr>
            <a:r>
              <a:rPr lang="en-US" b="1" dirty="0"/>
              <a:t>AI tree/graph search</a:t>
            </a:r>
          </a:p>
          <a:p>
            <a:pPr marL="0" indent="0" algn="ctr">
              <a:buNone/>
            </a:pPr>
            <a:endParaRPr lang="en-US" b="1" dirty="0"/>
          </a:p>
          <a:p>
            <a:r>
              <a:rPr lang="en-US" dirty="0"/>
              <a:t>The search tree is too large to fit into </a:t>
            </a:r>
            <a:r>
              <a:rPr lang="en-US" b="1" dirty="0">
                <a:solidFill>
                  <a:srgbClr val="FF0000"/>
                </a:solidFill>
              </a:rPr>
              <a:t>memory</a:t>
            </a:r>
            <a:r>
              <a:rPr lang="en-US" dirty="0"/>
              <a:t>. </a:t>
            </a:r>
          </a:p>
          <a:p>
            <a:pPr marL="685800" lvl="1" indent="-342900">
              <a:buFont typeface="+mj-lt"/>
              <a:buAutoNum type="alphaLcPeriod"/>
            </a:pPr>
            <a:r>
              <a:rPr lang="en-US" b="1" dirty="0"/>
              <a:t>Builds parts of  the tree </a:t>
            </a:r>
            <a:r>
              <a:rPr lang="en-US" dirty="0"/>
              <a:t>from the initial state using the transition function representing the graph.</a:t>
            </a:r>
          </a:p>
          <a:p>
            <a:pPr marL="685800" lvl="1" indent="-342900">
              <a:buFont typeface="+mj-lt"/>
              <a:buAutoNum type="alphaLcPeriod"/>
            </a:pPr>
            <a:r>
              <a:rPr lang="en-US" b="1" dirty="0"/>
              <a:t>Memory management </a:t>
            </a:r>
            <a:r>
              <a:rPr lang="en-US" dirty="0"/>
              <a:t>is very important.</a:t>
            </a:r>
          </a:p>
          <a:p>
            <a:pPr marL="0" indent="0">
              <a:buNone/>
            </a:pPr>
            <a:endParaRPr lang="en-US" dirty="0"/>
          </a:p>
          <a:p>
            <a:r>
              <a:rPr lang="en-US" dirty="0"/>
              <a:t>The search space is typically a very large and complicated graph. Memory-efficient </a:t>
            </a:r>
            <a:r>
              <a:rPr lang="en-US" b="1" dirty="0">
                <a:solidFill>
                  <a:srgbClr val="FF0000"/>
                </a:solidFill>
              </a:rPr>
              <a:t>cycle checking</a:t>
            </a:r>
            <a:r>
              <a:rPr lang="en-US" dirty="0">
                <a:solidFill>
                  <a:srgbClr val="FF0000"/>
                </a:solidFill>
              </a:rPr>
              <a:t> </a:t>
            </a:r>
            <a:r>
              <a:rPr lang="en-US" dirty="0"/>
              <a:t>is very important to avoid infinite loops or minimize searching parts of the search space multiple times. </a:t>
            </a:r>
          </a:p>
          <a:p>
            <a:r>
              <a:rPr lang="en-US" dirty="0"/>
              <a:t>Checking redundant paths often requires too much memory and we accept searching the same part multiple times.</a:t>
            </a:r>
          </a:p>
        </p:txBody>
      </p:sp>
    </p:spTree>
    <p:extLst>
      <p:ext uri="{BB962C8B-B14F-4D97-AF65-F5344CB8AC3E}">
        <p14:creationId xmlns:p14="http://schemas.microsoft.com/office/powerpoint/2010/main" val="631091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8C60801-AB72-DA06-6A32-0E1736549017}"/>
              </a:ext>
            </a:extLst>
          </p:cNvPr>
          <p:cNvSpPr>
            <a:spLocks noGrp="1"/>
          </p:cNvSpPr>
          <p:nvPr>
            <p:ph type="title"/>
          </p:nvPr>
        </p:nvSpPr>
        <p:spPr/>
        <p:txBody>
          <a:bodyPr/>
          <a:lstStyle/>
          <a:p>
            <a:r>
              <a:rPr lang="en-US" dirty="0"/>
              <a:t>State Space</a:t>
            </a:r>
          </a:p>
        </p:txBody>
      </p:sp>
      <p:sp>
        <p:nvSpPr>
          <p:cNvPr id="6" name="Text Placeholder 5">
            <a:extLst>
              <a:ext uri="{FF2B5EF4-FFF2-40B4-BE49-F238E27FC236}">
                <a16:creationId xmlns:a16="http://schemas.microsoft.com/office/drawing/2014/main" id="{8E6DAC63-FC9E-E872-8178-72042FD946B7}"/>
              </a:ext>
            </a:extLst>
          </p:cNvPr>
          <p:cNvSpPr>
            <a:spLocks noGrp="1"/>
          </p:cNvSpPr>
          <p:nvPr>
            <p:ph type="body" idx="1"/>
          </p:nvPr>
        </p:nvSpPr>
        <p:spPr/>
        <p:txBody>
          <a:bodyPr/>
          <a:lstStyle/>
          <a:p>
            <a:r>
              <a:rPr lang="en-US" dirty="0"/>
              <a:t>Defines the problem size. Determines:</a:t>
            </a:r>
          </a:p>
          <a:p>
            <a:pPr marL="285750" indent="-285750">
              <a:buFont typeface="Arial" panose="020B0604020202020204" pitchFamily="34" charset="0"/>
              <a:buChar char="•"/>
            </a:pPr>
            <a:r>
              <a:rPr lang="en-US" dirty="0"/>
              <a:t>Memory requirement: How big will the search tree get?</a:t>
            </a:r>
          </a:p>
          <a:p>
            <a:pPr marL="285750" indent="-285750">
              <a:buFont typeface="Arial" panose="020B0604020202020204" pitchFamily="34" charset="0"/>
              <a:buChar char="•"/>
            </a:pPr>
            <a:r>
              <a:rPr lang="en-US" dirty="0"/>
              <a:t>Run time: How long will the search take?</a:t>
            </a:r>
          </a:p>
        </p:txBody>
      </p:sp>
    </p:spTree>
    <p:extLst>
      <p:ext uri="{BB962C8B-B14F-4D97-AF65-F5344CB8AC3E}">
        <p14:creationId xmlns:p14="http://schemas.microsoft.com/office/powerpoint/2010/main" val="3588327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930274"/>
          </a:xfrm>
        </p:spPr>
        <p:txBody>
          <a:bodyPr/>
          <a:lstStyle/>
          <a:p>
            <a:r>
              <a:rPr lang="en-US" dirty="0"/>
              <a:t>State Space vs. Search Tree Size</a:t>
            </a:r>
          </a:p>
        </p:txBody>
      </p:sp>
      <mc:AlternateContent xmlns:mc="http://schemas.openxmlformats.org/markup-compatibility/2006" xmlns:a14="http://schemas.microsoft.com/office/drawing/2010/main">
        <mc:Choice Requires="a14">
          <p:sp>
            <p:nvSpPr>
              <p:cNvPr id="24579" name="Rectangle 3"/>
              <p:cNvSpPr>
                <a:spLocks noGrp="1" noChangeArrowheads="1"/>
              </p:cNvSpPr>
              <p:nvPr>
                <p:ph idx="1"/>
              </p:nvPr>
            </p:nvSpPr>
            <p:spPr>
              <a:xfrm>
                <a:off x="628650" y="1219200"/>
                <a:ext cx="7886700" cy="5105399"/>
              </a:xfrm>
            </p:spPr>
            <p:txBody>
              <a:bodyPr>
                <a:normAutofit fontScale="92500" lnSpcReduction="20000"/>
              </a:bodyPr>
              <a:lstStyle/>
              <a:p>
                <a:pPr>
                  <a:lnSpc>
                    <a:spcPct val="90000"/>
                  </a:lnSpc>
                </a:pPr>
                <a:r>
                  <a:rPr lang="en-US" dirty="0"/>
                  <a:t>Space and time complexity depend on the </a:t>
                </a:r>
                <a:r>
                  <a:rPr lang="en-US" b="1" dirty="0">
                    <a:solidFill>
                      <a:srgbClr val="FF0000"/>
                    </a:solidFill>
                  </a:rPr>
                  <a:t>number of tree nodes </a:t>
                </a:r>
                <a:r>
                  <a:rPr lang="en-US" dirty="0"/>
                  <a:t>searched (created and visited) till a goal node is found. For a tree with </a:t>
                </a:r>
                <a14:m>
                  <m:oMath xmlns:m="http://schemas.openxmlformats.org/officeDocument/2006/math">
                    <m:r>
                      <a:rPr lang="en-US" b="0" i="1" smtClean="0">
                        <a:latin typeface="Cambria Math" panose="02040503050406030204" pitchFamily="18" charset="0"/>
                      </a:rPr>
                      <m:t>𝑛</m:t>
                    </m:r>
                  </m:oMath>
                </a14:m>
                <a:r>
                  <a:rPr lang="en-US" dirty="0"/>
                  <a:t> nodes we have:</a:t>
                </a:r>
                <a:br>
                  <a:rPr lang="en-US" dirty="0"/>
                </a:br>
                <a14:m>
                  <m:oMath xmlns:m="http://schemas.openxmlformats.org/officeDocument/2006/math">
                    <m:r>
                      <a:rPr lang="en-US" i="1">
                        <a:latin typeface="Cambria Math" panose="02040503050406030204" pitchFamily="18" charset="0"/>
                      </a:rPr>
                      <m:t>𝑂</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0" indent="0">
                  <a:lnSpc>
                    <a:spcPct val="90000"/>
                  </a:lnSpc>
                  <a:buNone/>
                </a:pPr>
                <a:endParaRPr lang="en-US" dirty="0"/>
              </a:p>
              <a:p>
                <a:r>
                  <a:rPr lang="en-US" b="1" dirty="0"/>
                  <a:t>Remember</a:t>
                </a:r>
                <a:r>
                  <a:rPr lang="en-US" dirty="0"/>
                  <a:t>: For perfect cycle checking and redundant path elimination, we have a 1:1 mapping between nodes and states:</a:t>
                </a:r>
              </a:p>
              <a:p>
                <a:pPr marL="0" indent="0" algn="ctr">
                  <a:buNone/>
                </a:pPr>
                <a:r>
                  <a:rPr lang="en-US" dirty="0"/>
                  <a:t>Nodes in the search tree </a:t>
                </a:r>
                <a14:m>
                  <m:oMath xmlns:m="http://schemas.openxmlformats.org/officeDocument/2006/math">
                    <m:r>
                      <a:rPr lang="en-US" i="1">
                        <a:latin typeface="Cambria Math" panose="02040503050406030204" pitchFamily="18" charset="0"/>
                      </a:rPr>
                      <m:t>=</m:t>
                    </m:r>
                  </m:oMath>
                </a14:m>
                <a:r>
                  <a:rPr lang="en-US" dirty="0"/>
                  <a:t> states in the search space</a:t>
                </a:r>
              </a:p>
              <a:p>
                <a:pPr marL="342900" lvl="1" indent="0">
                  <a:buNone/>
                </a:pPr>
                <a:r>
                  <a:rPr lang="en-US" dirty="0"/>
                  <a:t>Otherwise, we may have multiple nodes representing a state.</a:t>
                </a:r>
              </a:p>
              <a:p>
                <a:pPr marL="0" indent="0">
                  <a:lnSpc>
                    <a:spcPct val="90000"/>
                  </a:lnSpc>
                  <a:buNone/>
                </a:pPr>
                <a:endParaRPr lang="en-US" dirty="0"/>
              </a:p>
              <a:p>
                <a:r>
                  <a:rPr lang="en-US" dirty="0"/>
                  <a:t>We have the following options to estimate </a:t>
                </a:r>
                <a14:m>
                  <m:oMath xmlns:m="http://schemas.openxmlformats.org/officeDocument/2006/math">
                    <m:r>
                      <a:rPr lang="en-US" b="0" i="1" smtClean="0">
                        <a:latin typeface="Cambria Math" panose="02040503050406030204" pitchFamily="18" charset="0"/>
                      </a:rPr>
                      <m:t>𝑛</m:t>
                    </m:r>
                  </m:oMath>
                </a14:m>
                <a:r>
                  <a:rPr lang="en-US" dirty="0"/>
                  <a:t> for a search problem:</a:t>
                </a:r>
              </a:p>
              <a:p>
                <a:pPr marL="685800" lvl="1" indent="-342900">
                  <a:buFont typeface="+mj-lt"/>
                  <a:buAutoNum type="alphaLcPeriod"/>
                </a:pPr>
                <a:r>
                  <a:rPr lang="en-US" b="1" dirty="0">
                    <a:solidFill>
                      <a:srgbClr val="FF0000"/>
                    </a:solidFill>
                  </a:rPr>
                  <a:t>Estimate the reachable state space size.</a:t>
                </a:r>
                <a:endParaRPr lang="en-US" dirty="0"/>
              </a:p>
              <a:p>
                <a:pPr marL="685800" lvl="1" indent="-342900">
                  <a:buFont typeface="+mj-lt"/>
                  <a:buAutoNum type="alphaLcPeriod"/>
                </a:pPr>
                <a:r>
                  <a:rPr lang="en-US" b="1" dirty="0">
                    <a:solidFill>
                      <a:srgbClr val="FF0000"/>
                    </a:solidFill>
                  </a:rPr>
                  <a:t>Estimate the number of searched tree nodes.</a:t>
                </a:r>
                <a:endParaRPr lang="en-US" dirty="0"/>
              </a:p>
              <a:p>
                <a:endParaRPr lang="en-US" sz="3000" dirty="0"/>
              </a:p>
              <a:p>
                <a:r>
                  <a:rPr lang="en-US" dirty="0"/>
                  <a:t>Estimating the complexity is important to judge:</a:t>
                </a:r>
              </a:p>
              <a:p>
                <a:pPr lvl="1">
                  <a:buFont typeface="Wingdings" panose="05000000000000000000" pitchFamily="2" charset="2"/>
                  <a:buChar char="§"/>
                </a:pPr>
                <a:r>
                  <a:rPr lang="en-US" dirty="0"/>
                  <a:t>How difficult is the problem?</a:t>
                </a:r>
              </a:p>
              <a:p>
                <a:pPr lvl="1">
                  <a:buFont typeface="Wingdings" panose="05000000000000000000" pitchFamily="2" charset="2"/>
                  <a:buChar char="§"/>
                </a:pPr>
                <a:r>
                  <a:rPr lang="en-US" dirty="0"/>
                  <a:t>What algorithm will fit in memory?</a:t>
                </a:r>
              </a:p>
              <a:p>
                <a:pPr lvl="1">
                  <a:buFont typeface="Wingdings" panose="05000000000000000000" pitchFamily="2" charset="2"/>
                  <a:buChar char="§"/>
                </a:pPr>
                <a:r>
                  <a:rPr lang="en-US" dirty="0"/>
                  <a:t>Can we find a solution fast enough?</a:t>
                </a:r>
              </a:p>
              <a:p>
                <a:pPr lvl="1">
                  <a:buFont typeface="Wingdings" panose="05000000000000000000" pitchFamily="2" charset="2"/>
                  <a:buChar char="§"/>
                </a:pPr>
                <a:r>
                  <a:rPr lang="en-US" dirty="0"/>
                  <a:t>Can we find the optimal solution, or do we need to use a heuristic?</a:t>
                </a:r>
              </a:p>
            </p:txBody>
          </p:sp>
        </mc:Choice>
        <mc:Fallback xmlns="">
          <p:sp>
            <p:nvSpPr>
              <p:cNvPr id="24579" name="Rectangle 3"/>
              <p:cNvSpPr>
                <a:spLocks noGrp="1" noRot="1" noChangeAspect="1" noMove="1" noResize="1" noEditPoints="1" noAdjustHandles="1" noChangeArrowheads="1" noChangeShapeType="1" noTextEdit="1"/>
              </p:cNvSpPr>
              <p:nvPr>
                <p:ph idx="1"/>
              </p:nvPr>
            </p:nvSpPr>
            <p:spPr>
              <a:xfrm>
                <a:off x="628650" y="1219200"/>
                <a:ext cx="7886700" cy="5105399"/>
              </a:xfrm>
              <a:blipFill>
                <a:blip r:embed="rId3"/>
                <a:stretch>
                  <a:fillRect l="-541" t="-2031"/>
                </a:stretch>
              </a:blipFill>
            </p:spPr>
            <p:txBody>
              <a:bodyPr/>
              <a:lstStyle/>
              <a:p>
                <a:r>
                  <a:rPr lang="en-US">
                    <a:noFill/>
                  </a:rPr>
                  <a:t> </a:t>
                </a:r>
              </a:p>
            </p:txBody>
          </p:sp>
        </mc:Fallback>
      </mc:AlternateContent>
    </p:spTree>
    <p:extLst>
      <p:ext uri="{BB962C8B-B14F-4D97-AF65-F5344CB8AC3E}">
        <p14:creationId xmlns:p14="http://schemas.microsoft.com/office/powerpoint/2010/main" val="113612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57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579">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579">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579">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579">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57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8118D6-875C-4F36-B0D3-613393EA516B}"/>
              </a:ext>
            </a:extLst>
          </p:cNvPr>
          <p:cNvSpPr>
            <a:spLocks noGrp="1"/>
          </p:cNvSpPr>
          <p:nvPr>
            <p:ph type="title"/>
          </p:nvPr>
        </p:nvSpPr>
        <p:spPr/>
        <p:txBody>
          <a:bodyPr>
            <a:normAutofit/>
          </a:bodyPr>
          <a:lstStyle/>
          <a:p>
            <a:r>
              <a:rPr lang="en-US" dirty="0"/>
              <a:t>State Space Size Estimation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85DDB57-3B13-4459-BDD1-8D24C72653BF}"/>
                  </a:ext>
                </a:extLst>
              </p:cNvPr>
              <p:cNvSpPr>
                <a:spLocks noGrp="1"/>
              </p:cNvSpPr>
              <p:nvPr>
                <p:ph idx="1"/>
              </p:nvPr>
            </p:nvSpPr>
            <p:spPr>
              <a:xfrm>
                <a:off x="628650" y="1494944"/>
                <a:ext cx="4723935" cy="4753455"/>
              </a:xfrm>
            </p:spPr>
            <p:txBody>
              <a:bodyPr>
                <a:normAutofit fontScale="85000" lnSpcReduction="20000"/>
              </a:bodyPr>
              <a:lstStyle/>
              <a:p>
                <a:pPr marL="0" indent="0">
                  <a:buNone/>
                </a:pPr>
                <a:r>
                  <a:rPr lang="en-US" sz="2400" b="1" dirty="0"/>
                  <a:t>State Space</a:t>
                </a:r>
                <a:endParaRPr lang="en-US" dirty="0"/>
              </a:p>
              <a:p>
                <a:r>
                  <a:rPr lang="en-US" dirty="0"/>
                  <a:t>Number of different states the agent and environment can be in.</a:t>
                </a:r>
              </a:p>
              <a:p>
                <a:r>
                  <a:rPr lang="en-US" b="1" dirty="0">
                    <a:solidFill>
                      <a:srgbClr val="FF0000"/>
                    </a:solidFill>
                  </a:rPr>
                  <a:t>Reachable states </a:t>
                </a:r>
                <a:r>
                  <a:rPr lang="en-US" dirty="0"/>
                  <a:t>are defined by the initial state and the transition model. Only reachable states are important for search.</a:t>
                </a:r>
              </a:p>
              <a:p>
                <a:pPr marL="0" indent="0">
                  <a:buNone/>
                </a:pPr>
                <a:endParaRPr lang="en-US" dirty="0"/>
              </a:p>
              <a:p>
                <a:pPr marL="0" indent="0">
                  <a:buNone/>
                </a:pPr>
                <a:r>
                  <a:rPr lang="en-US" sz="2600" b="1" dirty="0"/>
                  <a:t>Estimation</a:t>
                </a:r>
                <a:endParaRPr lang="en-US" dirty="0"/>
              </a:p>
              <a:p>
                <a:r>
                  <a:rPr lang="en-US" dirty="0"/>
                  <a:t>Even if the used algorithm represents the state space using atomic states, we may know the internal (factored) representation. It can be used to estimate the problem size. </a:t>
                </a:r>
              </a:p>
              <a:p>
                <a:r>
                  <a:rPr lang="en-US" dirty="0"/>
                  <a:t>The basic rule is to estimate the state space size for factored state representation with </a:t>
                </a:r>
                <a14:m>
                  <m:oMath xmlns:m="http://schemas.openxmlformats.org/officeDocument/2006/math">
                    <m:r>
                      <a:rPr lang="en-US" b="0" i="1" smtClean="0">
                        <a:latin typeface="Cambria Math" panose="02040503050406030204" pitchFamily="18" charset="0"/>
                      </a:rPr>
                      <m:t>𝑙</m:t>
                    </m:r>
                  </m:oMath>
                </a14:m>
                <a:r>
                  <a:rPr lang="en-US" dirty="0"/>
                  <a:t> fluents (variables) as:</a:t>
                </a:r>
                <a:br>
                  <a:rPr lang="en-US" dirty="0"/>
                </a:br>
                <a:br>
                  <a:rPr lang="en-US" dirty="0"/>
                </a:br>
                <a:r>
                  <a:rPr lang="en-US" dirty="0"/>
                  <a:t>		</a:t>
                </a:r>
                <a14:m>
                  <m:oMath xmlns:m="http://schemas.openxmlformats.org/officeDocument/2006/math">
                    <m:r>
                      <a:rPr lang="en-US" i="1">
                        <a:latin typeface="Cambria Math" panose="02040503050406030204" pitchFamily="18" charset="0"/>
                      </a:rPr>
                      <m:t>𝑛</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m:rPr>
                        <m:lit/>
                      </m:rP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𝑙</m:t>
                            </m:r>
                          </m:sub>
                        </m:sSub>
                      </m:e>
                    </m:d>
                  </m:oMath>
                </a14:m>
                <a:r>
                  <a:rPr lang="en-US" dirty="0"/>
                  <a:t> </a:t>
                </a:r>
                <a:br>
                  <a:rPr lang="en-US" dirty="0"/>
                </a:br>
                <a:br>
                  <a:rPr lang="en-US" dirty="0"/>
                </a:br>
                <a:r>
                  <a:rPr lang="en-US" dirty="0"/>
                  <a:t>where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a14:m>
                <a:r>
                  <a:rPr lang="en-US" dirty="0"/>
                  <a:t> is the number of possible values.</a:t>
                </a:r>
              </a:p>
            </p:txBody>
          </p:sp>
        </mc:Choice>
        <mc:Fallback xmlns="">
          <p:sp>
            <p:nvSpPr>
              <p:cNvPr id="5" name="Content Placeholder 4">
                <a:extLst>
                  <a:ext uri="{FF2B5EF4-FFF2-40B4-BE49-F238E27FC236}">
                    <a16:creationId xmlns:a16="http://schemas.microsoft.com/office/drawing/2014/main" id="{185DDB57-3B13-4459-BDD1-8D24C72653BF}"/>
                  </a:ext>
                </a:extLst>
              </p:cNvPr>
              <p:cNvSpPr>
                <a:spLocks noGrp="1" noRot="1" noChangeAspect="1" noMove="1" noResize="1" noEditPoints="1" noAdjustHandles="1" noChangeArrowheads="1" noChangeShapeType="1" noTextEdit="1"/>
              </p:cNvSpPr>
              <p:nvPr>
                <p:ph idx="1"/>
              </p:nvPr>
            </p:nvSpPr>
            <p:spPr>
              <a:xfrm>
                <a:off x="628650" y="1494944"/>
                <a:ext cx="4723935" cy="4753455"/>
              </a:xfrm>
              <a:blipFill>
                <a:blip r:embed="rId2"/>
                <a:stretch>
                  <a:fillRect l="-1677" t="-2308" r="-1677"/>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7419CB3-A5F5-45B5-9B50-CC14E55695EE}"/>
              </a:ext>
            </a:extLst>
          </p:cNvPr>
          <p:cNvPicPr>
            <a:picLocks noChangeAspect="1"/>
          </p:cNvPicPr>
          <p:nvPr/>
        </p:nvPicPr>
        <p:blipFill rotWithShape="1">
          <a:blip r:embed="rId3"/>
          <a:srcRect r="40771" b="29953"/>
          <a:stretch/>
        </p:blipFill>
        <p:spPr>
          <a:xfrm>
            <a:off x="5537974" y="1771944"/>
            <a:ext cx="2741806" cy="1682146"/>
          </a:xfrm>
          <a:prstGeom prst="rect">
            <a:avLst/>
          </a:prstGeom>
        </p:spPr>
      </p:pic>
      <p:sp>
        <p:nvSpPr>
          <p:cNvPr id="2" name="TextBox 1">
            <a:extLst>
              <a:ext uri="{FF2B5EF4-FFF2-40B4-BE49-F238E27FC236}">
                <a16:creationId xmlns:a16="http://schemas.microsoft.com/office/drawing/2014/main" id="{4A56BBB3-48CE-435F-8293-AE90174BDE8A}"/>
              </a:ext>
            </a:extLst>
          </p:cNvPr>
          <p:cNvSpPr txBox="1"/>
          <p:nvPr/>
        </p:nvSpPr>
        <p:spPr>
          <a:xfrm>
            <a:off x="5963810" y="1494945"/>
            <a:ext cx="1890132" cy="300082"/>
          </a:xfrm>
          <a:prstGeom prst="rect">
            <a:avLst/>
          </a:prstGeom>
          <a:noFill/>
        </p:spPr>
        <p:txBody>
          <a:bodyPr wrap="square" rtlCol="0">
            <a:spAutoFit/>
          </a:bodyPr>
          <a:lstStyle/>
          <a:p>
            <a:pPr algn="ctr"/>
            <a:r>
              <a:rPr lang="en-US" sz="1350" b="1" dirty="0"/>
              <a:t>State representation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B8FA8-E2DA-13C1-9414-6862763E35F4}"/>
                  </a:ext>
                </a:extLst>
              </p:cNvPr>
              <p:cNvSpPr txBox="1"/>
              <p:nvPr/>
            </p:nvSpPr>
            <p:spPr>
              <a:xfrm>
                <a:off x="6934200" y="2057400"/>
                <a:ext cx="3048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oMath>
                  </m:oMathPara>
                </a14:m>
                <a:endParaRPr lang="en-US" sz="1200" dirty="0"/>
              </a:p>
            </p:txBody>
          </p:sp>
        </mc:Choice>
        <mc:Fallback xmlns="">
          <p:sp>
            <p:nvSpPr>
              <p:cNvPr id="7" name="TextBox 6">
                <a:extLst>
                  <a:ext uri="{FF2B5EF4-FFF2-40B4-BE49-F238E27FC236}">
                    <a16:creationId xmlns:a16="http://schemas.microsoft.com/office/drawing/2014/main" id="{FACB8FA8-E2DA-13C1-9414-6862763E35F4}"/>
                  </a:ext>
                </a:extLst>
              </p:cNvPr>
              <p:cNvSpPr txBox="1">
                <a:spLocks noRot="1" noChangeAspect="1" noMove="1" noResize="1" noEditPoints="1" noAdjustHandles="1" noChangeArrowheads="1" noChangeShapeType="1" noTextEdit="1"/>
              </p:cNvSpPr>
              <p:nvPr/>
            </p:nvSpPr>
            <p:spPr>
              <a:xfrm>
                <a:off x="6934200" y="2057400"/>
                <a:ext cx="304800" cy="2769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F16EB7-8877-146A-1634-D751ED618037}"/>
                  </a:ext>
                </a:extLst>
              </p:cNvPr>
              <p:cNvSpPr txBox="1"/>
              <p:nvPr/>
            </p:nvSpPr>
            <p:spPr>
              <a:xfrm>
                <a:off x="6934200" y="2195899"/>
                <a:ext cx="3048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oMath>
                  </m:oMathPara>
                </a14:m>
                <a:endParaRPr lang="en-US" sz="1200" dirty="0"/>
              </a:p>
            </p:txBody>
          </p:sp>
        </mc:Choice>
        <mc:Fallback xmlns="">
          <p:sp>
            <p:nvSpPr>
              <p:cNvPr id="8" name="TextBox 7">
                <a:extLst>
                  <a:ext uri="{FF2B5EF4-FFF2-40B4-BE49-F238E27FC236}">
                    <a16:creationId xmlns:a16="http://schemas.microsoft.com/office/drawing/2014/main" id="{32F16EB7-8877-146A-1634-D751ED618037}"/>
                  </a:ext>
                </a:extLst>
              </p:cNvPr>
              <p:cNvSpPr txBox="1">
                <a:spLocks noRot="1" noChangeAspect="1" noMove="1" noResize="1" noEditPoints="1" noAdjustHandles="1" noChangeArrowheads="1" noChangeShapeType="1" noTextEdit="1"/>
              </p:cNvSpPr>
              <p:nvPr/>
            </p:nvSpPr>
            <p:spPr>
              <a:xfrm>
                <a:off x="6934200" y="2195899"/>
                <a:ext cx="304800" cy="276999"/>
              </a:xfrm>
              <a:prstGeom prst="rect">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CE6445D-9DD9-2056-455D-AD2119014BF2}"/>
              </a:ext>
            </a:extLst>
          </p:cNvPr>
          <p:cNvSpPr txBox="1"/>
          <p:nvPr/>
        </p:nvSpPr>
        <p:spPr>
          <a:xfrm>
            <a:off x="6938554" y="2334398"/>
            <a:ext cx="304800" cy="276999"/>
          </a:xfrm>
          <a:prstGeom prst="rect">
            <a:avLst/>
          </a:prstGeom>
          <a:noFill/>
        </p:spPr>
        <p:txBody>
          <a:bodyPr wrap="square">
            <a:spAutoFit/>
          </a:bodyPr>
          <a:lstStyle/>
          <a:p>
            <a:r>
              <a:rPr lang="en-US" sz="1200" dirty="0"/>
              <a:t>…</a:t>
            </a:r>
          </a:p>
        </p:txBody>
      </p:sp>
      <p:sp>
        <p:nvSpPr>
          <p:cNvPr id="3" name="TextBox 2">
            <a:extLst>
              <a:ext uri="{FF2B5EF4-FFF2-40B4-BE49-F238E27FC236}">
                <a16:creationId xmlns:a16="http://schemas.microsoft.com/office/drawing/2014/main" id="{636DE728-A071-5DDA-9E07-4BBBA5BF67B6}"/>
              </a:ext>
            </a:extLst>
          </p:cNvPr>
          <p:cNvSpPr txBox="1"/>
          <p:nvPr/>
        </p:nvSpPr>
        <p:spPr>
          <a:xfrm>
            <a:off x="6781800" y="3535345"/>
            <a:ext cx="1597237" cy="120032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sz="1200" dirty="0"/>
              <a:t>The factored state consists of variables called </a:t>
            </a:r>
            <a:r>
              <a:rPr lang="en-US" sz="1200" dirty="0" err="1"/>
              <a:t>fluents</a:t>
            </a:r>
            <a:r>
              <a:rPr lang="en-US" sz="1200" dirty="0"/>
              <a:t> that represent conditions that can change over time.</a:t>
            </a:r>
          </a:p>
        </p:txBody>
      </p:sp>
    </p:spTree>
    <p:extLst>
      <p:ext uri="{BB962C8B-B14F-4D97-AF65-F5344CB8AC3E}">
        <p14:creationId xmlns:p14="http://schemas.microsoft.com/office/powerpoint/2010/main" val="2487589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spTree>
    <p:extLst>
      <p:ext uri="{BB962C8B-B14F-4D97-AF65-F5344CB8AC3E}">
        <p14:creationId xmlns:p14="http://schemas.microsoft.com/office/powerpoint/2010/main" val="3336624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sp>
        <p:nvSpPr>
          <p:cNvPr id="3" name="TextBox 2">
            <a:extLst>
              <a:ext uri="{FF2B5EF4-FFF2-40B4-BE49-F238E27FC236}">
                <a16:creationId xmlns:a16="http://schemas.microsoft.com/office/drawing/2014/main" id="{A78B2A05-8718-D264-3F91-B1C48EDD3534}"/>
              </a:ext>
            </a:extLst>
          </p:cNvPr>
          <p:cNvSpPr txBox="1"/>
          <p:nvPr/>
        </p:nvSpPr>
        <p:spPr>
          <a:xfrm>
            <a:off x="990600" y="4343400"/>
            <a:ext cx="1600200" cy="1169551"/>
          </a:xfrm>
          <a:prstGeom prst="rect">
            <a:avLst/>
          </a:prstGeom>
          <a:noFill/>
        </p:spPr>
        <p:txBody>
          <a:bodyPr wrap="square" rtlCol="0">
            <a:spAutoFit/>
          </a:bodyPr>
          <a:lstStyle/>
          <a:p>
            <a:r>
              <a:rPr lang="en-US" sz="1400" dirty="0"/>
              <a:t>Positions the agent can be in. </a:t>
            </a:r>
          </a:p>
          <a:p>
            <a:endParaRPr lang="en-US" sz="1400" dirty="0"/>
          </a:p>
          <a:p>
            <a:r>
              <a:rPr lang="en-US" sz="1400" dirty="0"/>
              <a:t>n = Number of white squares.</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A165D8-8BE5-9430-2C62-8F2EC4CF31CA}"/>
                  </a:ext>
                </a:extLst>
              </p:cNvPr>
              <p:cNvSpPr txBox="1"/>
              <p:nvPr/>
            </p:nvSpPr>
            <p:spPr>
              <a:xfrm>
                <a:off x="2693194" y="4343400"/>
                <a:ext cx="1860945" cy="2076402"/>
              </a:xfrm>
              <a:prstGeom prst="rect">
                <a:avLst/>
              </a:prstGeom>
              <a:noFill/>
            </p:spPr>
            <p:txBody>
              <a:bodyPr wrap="square" rtlCol="0">
                <a:spAutoFit/>
              </a:bodyPr>
              <a:lstStyle/>
              <a:p>
                <a:r>
                  <a:rPr lang="en-US" sz="1400" dirty="0"/>
                  <a:t>All arrangements with 8 queens on the board.</a:t>
                </a:r>
              </a:p>
              <a:p>
                <a:endParaRPr lang="en-US" sz="1400" dirty="0"/>
              </a:p>
              <a:p>
                <a14:m>
                  <m:oMath xmlns:m="http://schemas.openxmlformats.org/officeDocument/2006/math">
                    <m:r>
                      <a:rPr lang="en-US" sz="1400" i="1" dirty="0" smtClean="0">
                        <a:latin typeface="Cambria Math" panose="02040503050406030204" pitchFamily="18" charset="0"/>
                      </a:rPr>
                      <m:t>𝑛</m:t>
                    </m:r>
                    <m:r>
                      <a:rPr lang="en-US" sz="1400" i="1" dirty="0" smtClean="0">
                        <a:latin typeface="Cambria Math" panose="02040503050406030204" pitchFamily="18" charset="0"/>
                      </a:rPr>
                      <m:t> &lt;</m:t>
                    </m:r>
                    <m:sSup>
                      <m:sSupPr>
                        <m:ctrlPr>
                          <a:rPr lang="en-US" sz="1400" b="0" i="1" dirty="0" smtClean="0">
                            <a:latin typeface="Cambria Math" panose="02040503050406030204" pitchFamily="18" charset="0"/>
                          </a:rPr>
                        </m:ctrlPr>
                      </m:sSupPr>
                      <m:e>
                        <m:r>
                          <a:rPr lang="en-US" sz="1400" b="0" i="1" dirty="0" smtClean="0">
                            <a:latin typeface="Cambria Math" panose="02040503050406030204" pitchFamily="18" charset="0"/>
                          </a:rPr>
                          <m:t>2</m:t>
                        </m:r>
                      </m:e>
                      <m:sup>
                        <m:r>
                          <a:rPr lang="en-US" sz="1400" b="0" i="1" dirty="0" smtClean="0">
                            <a:latin typeface="Cambria Math" panose="02040503050406030204" pitchFamily="18" charset="0"/>
                          </a:rPr>
                          <m:t>64</m:t>
                        </m:r>
                      </m:sup>
                    </m:sSup>
                    <m:r>
                      <a:rPr lang="en-US" sz="1400" b="0" i="1" dirty="0" smtClean="0">
                        <a:latin typeface="Cambria Math" panose="02040503050406030204" pitchFamily="18" charset="0"/>
                      </a:rPr>
                      <m:t>≈1.8×</m:t>
                    </m:r>
                    <m:sSup>
                      <m:sSupPr>
                        <m:ctrlPr>
                          <a:rPr lang="en-US" sz="1400" b="0" i="1" dirty="0" smtClean="0">
                            <a:latin typeface="Cambria Math" panose="02040503050406030204" pitchFamily="18" charset="0"/>
                          </a:rPr>
                        </m:ctrlPr>
                      </m:sSupPr>
                      <m:e>
                        <m:r>
                          <a:rPr lang="en-US" sz="1400" b="0" i="1" dirty="0" smtClean="0">
                            <a:latin typeface="Cambria Math" panose="02040503050406030204" pitchFamily="18" charset="0"/>
                          </a:rPr>
                          <m:t>10</m:t>
                        </m:r>
                      </m:e>
                      <m:sup>
                        <m:r>
                          <a:rPr lang="en-US" sz="1400" b="0" i="1" dirty="0" smtClean="0">
                            <a:latin typeface="Cambria Math" panose="02040503050406030204" pitchFamily="18" charset="0"/>
                          </a:rPr>
                          <m:t>19</m:t>
                        </m:r>
                      </m:sup>
                    </m:sSup>
                  </m:oMath>
                </a14:m>
                <a:r>
                  <a:rPr lang="en-US" sz="1400" b="0" dirty="0"/>
                  <a:t>  </a:t>
                </a:r>
              </a:p>
              <a:p>
                <a:endParaRPr lang="en-US" sz="1400" b="0" dirty="0"/>
              </a:p>
              <a:p>
                <a:r>
                  <a:rPr lang="en-US" sz="1400" dirty="0"/>
                  <a:t>We can only have 8 queens</a:t>
                </a:r>
                <a:r>
                  <a:rPr lang="en-US" sz="1400" b="0" dirty="0"/>
                  <a:t>:</a:t>
                </a:r>
                <a:br>
                  <a:rPr lang="en-US" sz="1400" b="0" dirty="0"/>
                </a:br>
                <a14:m>
                  <m:oMath xmlns:m="http://schemas.openxmlformats.org/officeDocument/2006/math">
                    <m:r>
                      <a:rPr lang="en-US" sz="1400" b="0" i="1" smtClean="0">
                        <a:latin typeface="Cambria Math" panose="02040503050406030204" pitchFamily="18" charset="0"/>
                      </a:rPr>
                      <m:t>𝑛</m:t>
                    </m:r>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f>
                          <m:fPr>
                            <m:type m:val="noBar"/>
                            <m:ctrlPr>
                              <a:rPr lang="en-US" sz="1400" b="0" i="1" smtClean="0">
                                <a:latin typeface="Cambria Math" panose="02040503050406030204" pitchFamily="18" charset="0"/>
                              </a:rPr>
                            </m:ctrlPr>
                          </m:fPr>
                          <m:num>
                            <m:r>
                              <a:rPr lang="en-US" sz="1400" b="0" i="1" smtClean="0">
                                <a:latin typeface="Cambria Math" panose="02040503050406030204" pitchFamily="18" charset="0"/>
                              </a:rPr>
                              <m:t>64</m:t>
                            </m:r>
                          </m:num>
                          <m:den>
                            <m:r>
                              <a:rPr lang="en-US" sz="1400" b="0" i="1" smtClean="0">
                                <a:latin typeface="Cambria Math" panose="02040503050406030204" pitchFamily="18" charset="0"/>
                              </a:rPr>
                              <m:t>8</m:t>
                            </m:r>
                          </m:den>
                        </m:f>
                      </m:e>
                    </m:d>
                    <m:r>
                      <a:rPr lang="en-US" sz="1400" b="0" i="1" smtClean="0">
                        <a:latin typeface="Cambria Math" panose="02040503050406030204" pitchFamily="18" charset="0"/>
                      </a:rPr>
                      <m:t>≈4.4×</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10</m:t>
                        </m:r>
                      </m:e>
                      <m:sup>
                        <m:r>
                          <a:rPr lang="en-US" sz="1400" b="0" i="1" smtClean="0">
                            <a:latin typeface="Cambria Math" panose="02040503050406030204" pitchFamily="18" charset="0"/>
                          </a:rPr>
                          <m:t>9</m:t>
                        </m:r>
                      </m:sup>
                    </m:sSup>
                  </m:oMath>
                </a14:m>
                <a:r>
                  <a:rPr lang="en-US" sz="1400" dirty="0"/>
                  <a:t> </a:t>
                </a:r>
              </a:p>
            </p:txBody>
          </p:sp>
        </mc:Choice>
        <mc:Fallback xmlns="">
          <p:sp>
            <p:nvSpPr>
              <p:cNvPr id="9" name="TextBox 8">
                <a:extLst>
                  <a:ext uri="{FF2B5EF4-FFF2-40B4-BE49-F238E27FC236}">
                    <a16:creationId xmlns:a16="http://schemas.microsoft.com/office/drawing/2014/main" id="{E2A165D8-8BE5-9430-2C62-8F2EC4CF31CA}"/>
                  </a:ext>
                </a:extLst>
              </p:cNvPr>
              <p:cNvSpPr txBox="1">
                <a:spLocks noRot="1" noChangeAspect="1" noMove="1" noResize="1" noEditPoints="1" noAdjustHandles="1" noChangeArrowheads="1" noChangeShapeType="1" noTextEdit="1"/>
              </p:cNvSpPr>
              <p:nvPr/>
            </p:nvSpPr>
            <p:spPr>
              <a:xfrm>
                <a:off x="2693194" y="4343400"/>
                <a:ext cx="1860945" cy="2076402"/>
              </a:xfrm>
              <a:prstGeom prst="rect">
                <a:avLst/>
              </a:prstGeom>
              <a:blipFill>
                <a:blip r:embed="rId7"/>
                <a:stretch>
                  <a:fillRect l="-984" t="-5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0027BE1-A7EB-7C07-29B2-A714C3981D16}"/>
                  </a:ext>
                </a:extLst>
              </p:cNvPr>
              <p:cNvSpPr txBox="1"/>
              <p:nvPr/>
            </p:nvSpPr>
            <p:spPr>
              <a:xfrm>
                <a:off x="4720830" y="4343400"/>
                <a:ext cx="1600200" cy="2003754"/>
              </a:xfrm>
              <a:prstGeom prst="rect">
                <a:avLst/>
              </a:prstGeom>
              <a:noFill/>
            </p:spPr>
            <p:txBody>
              <a:bodyPr wrap="square" rtlCol="0">
                <a:spAutoFit/>
              </a:bodyPr>
              <a:lstStyle/>
              <a:p>
                <a:r>
                  <a:rPr lang="en-US" sz="1400" dirty="0"/>
                  <a:t>All arrangements of 9 elements.</a:t>
                </a:r>
              </a:p>
              <a:p>
                <a:endParaRPr lang="en-US" sz="1400" dirty="0"/>
              </a:p>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𝑛</m:t>
                      </m:r>
                      <m:r>
                        <a:rPr lang="en-US" sz="1400" b="0" i="1" dirty="0" smtClean="0">
                          <a:latin typeface="Cambria Math" panose="02040503050406030204" pitchFamily="18" charset="0"/>
                        </a:rPr>
                        <m:t>≤9!</m:t>
                      </m:r>
                    </m:oMath>
                  </m:oMathPara>
                </a14:m>
                <a:endParaRPr lang="en-US" sz="1400" b="0" dirty="0"/>
              </a:p>
              <a:p>
                <a:pPr/>
                <a:br>
                  <a:rPr lang="en-US" sz="1400" b="0" dirty="0"/>
                </a:br>
                <a:r>
                  <a:rPr lang="en-US" sz="1400" b="0" dirty="0"/>
                  <a:t>Half is unreachable:</a:t>
                </a:r>
                <a:br>
                  <a:rPr lang="en-US" sz="1400" b="0" dirty="0"/>
                </a:b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𝑛</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9!</m:t>
                          </m:r>
                        </m:num>
                        <m:den>
                          <m:r>
                            <a:rPr lang="en-US" sz="1400" b="0" i="1" smtClean="0">
                              <a:latin typeface="Cambria Math" panose="02040503050406030204" pitchFamily="18" charset="0"/>
                            </a:rPr>
                            <m:t>2</m:t>
                          </m:r>
                        </m:den>
                      </m:f>
                      <m:r>
                        <a:rPr lang="en-US" sz="1400" b="0" i="1" smtClean="0">
                          <a:latin typeface="Cambria Math" panose="02040503050406030204" pitchFamily="18" charset="0"/>
                        </a:rPr>
                        <m:t>=</m:t>
                      </m:r>
                      <m:r>
                        <a:rPr lang="en-US" sz="1400" i="1" dirty="0">
                          <a:latin typeface="Cambria Math" panose="02040503050406030204" pitchFamily="18" charset="0"/>
                        </a:rPr>
                        <m:t>181,440</m:t>
                      </m:r>
                    </m:oMath>
                  </m:oMathPara>
                </a14:m>
                <a:endParaRPr lang="en-US" sz="1400" dirty="0"/>
              </a:p>
            </p:txBody>
          </p:sp>
        </mc:Choice>
        <mc:Fallback xmlns="">
          <p:sp>
            <p:nvSpPr>
              <p:cNvPr id="10" name="TextBox 9">
                <a:extLst>
                  <a:ext uri="{FF2B5EF4-FFF2-40B4-BE49-F238E27FC236}">
                    <a16:creationId xmlns:a16="http://schemas.microsoft.com/office/drawing/2014/main" id="{80027BE1-A7EB-7C07-29B2-A714C3981D16}"/>
                  </a:ext>
                </a:extLst>
              </p:cNvPr>
              <p:cNvSpPr txBox="1">
                <a:spLocks noRot="1" noChangeAspect="1" noMove="1" noResize="1" noEditPoints="1" noAdjustHandles="1" noChangeArrowheads="1" noChangeShapeType="1" noTextEdit="1"/>
              </p:cNvSpPr>
              <p:nvPr/>
            </p:nvSpPr>
            <p:spPr>
              <a:xfrm>
                <a:off x="4720830" y="4343400"/>
                <a:ext cx="1600200" cy="2003754"/>
              </a:xfrm>
              <a:prstGeom prst="rect">
                <a:avLst/>
              </a:prstGeom>
              <a:blipFill>
                <a:blip r:embed="rId8"/>
                <a:stretch>
                  <a:fillRect l="-1141" t="-6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7531B30-85E0-5207-115C-CF4ED7E58208}"/>
                  </a:ext>
                </a:extLst>
              </p:cNvPr>
              <p:cNvSpPr txBox="1"/>
              <p:nvPr/>
            </p:nvSpPr>
            <p:spPr>
              <a:xfrm>
                <a:off x="6558096" y="4367293"/>
                <a:ext cx="1823903" cy="2154436"/>
              </a:xfrm>
              <a:prstGeom prst="rect">
                <a:avLst/>
              </a:prstGeom>
              <a:noFill/>
            </p:spPr>
            <p:txBody>
              <a:bodyPr wrap="square" rtlCol="0">
                <a:spAutoFit/>
              </a:bodyPr>
              <a:lstStyle/>
              <a:p>
                <a:r>
                  <a:rPr lang="en-US" sz="1400" dirty="0"/>
                  <a:t>All possible boards.</a:t>
                </a:r>
              </a:p>
              <a:p>
                <a:pPr/>
                <a:br>
                  <a:rPr lang="en-US" sz="1400" b="0" dirty="0"/>
                </a:b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𝑛</m:t>
                      </m:r>
                      <m:r>
                        <a:rPr lang="en-US" sz="1400" b="0" i="1" smtClean="0">
                          <a:latin typeface="Cambria Math" panose="02040503050406030204" pitchFamily="18" charset="0"/>
                        </a:rPr>
                        <m:t>&lt;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3</m:t>
                          </m:r>
                        </m:e>
                        <m:sup>
                          <m:r>
                            <a:rPr lang="en-US" sz="1400" b="0" i="1" smtClean="0">
                              <a:latin typeface="Cambria Math" panose="02040503050406030204" pitchFamily="18" charset="0"/>
                            </a:rPr>
                            <m:t>9</m:t>
                          </m:r>
                        </m:sup>
                      </m:sSup>
                      <m:r>
                        <a:rPr lang="en-US" sz="1400" b="0" i="1" smtClean="0">
                          <a:latin typeface="Cambria Math" panose="02040503050406030204" pitchFamily="18" charset="0"/>
                        </a:rPr>
                        <m:t>=19,683</m:t>
                      </m:r>
                    </m:oMath>
                  </m:oMathPara>
                </a14:m>
                <a:endParaRPr lang="en-US" sz="1400" dirty="0"/>
              </a:p>
              <a:p>
                <a:endParaRPr lang="en-US" sz="1400" dirty="0"/>
              </a:p>
              <a:p>
                <a:r>
                  <a:rPr lang="en-US" sz="1400" dirty="0"/>
                  <a:t>Many boards are not legal (e.g., all x’s)</a:t>
                </a:r>
              </a:p>
              <a:p>
                <a:endParaRPr lang="en-US" sz="1400" dirty="0"/>
              </a:p>
              <a:p>
                <a:r>
                  <a:rPr lang="en-US" sz="1200" dirty="0"/>
                  <a:t>The actual number can be obtained by a depth-first traversal of the game tree.</a:t>
                </a:r>
              </a:p>
            </p:txBody>
          </p:sp>
        </mc:Choice>
        <mc:Fallback xmlns="">
          <p:sp>
            <p:nvSpPr>
              <p:cNvPr id="11" name="TextBox 10">
                <a:extLst>
                  <a:ext uri="{FF2B5EF4-FFF2-40B4-BE49-F238E27FC236}">
                    <a16:creationId xmlns:a16="http://schemas.microsoft.com/office/drawing/2014/main" id="{27531B30-85E0-5207-115C-CF4ED7E58208}"/>
                  </a:ext>
                </a:extLst>
              </p:cNvPr>
              <p:cNvSpPr txBox="1">
                <a:spLocks noRot="1" noChangeAspect="1" noMove="1" noResize="1" noEditPoints="1" noAdjustHandles="1" noChangeArrowheads="1" noChangeShapeType="1" noTextEdit="1"/>
              </p:cNvSpPr>
              <p:nvPr/>
            </p:nvSpPr>
            <p:spPr>
              <a:xfrm>
                <a:off x="6558096" y="4367293"/>
                <a:ext cx="1823903" cy="2154436"/>
              </a:xfrm>
              <a:prstGeom prst="rect">
                <a:avLst/>
              </a:prstGeom>
              <a:blipFill>
                <a:blip r:embed="rId9"/>
                <a:stretch>
                  <a:fillRect l="-1003" t="-282" b="-1130"/>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284274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determines the Search Tree Size?</a:t>
            </a:r>
          </a:p>
        </p:txBody>
      </p:sp>
      <mc:AlternateContent xmlns:mc="http://schemas.openxmlformats.org/markup-compatibility/2006" xmlns:a14="http://schemas.microsoft.com/office/drawing/2010/main">
        <mc:Choice Requires="a14">
          <p:sp>
            <p:nvSpPr>
              <p:cNvPr id="21" name="Content Placeholder 20">
                <a:extLst>
                  <a:ext uri="{FF2B5EF4-FFF2-40B4-BE49-F238E27FC236}">
                    <a16:creationId xmlns:a16="http://schemas.microsoft.com/office/drawing/2014/main" id="{39A5693D-07D0-6814-1463-F5C269E85442}"/>
                  </a:ext>
                </a:extLst>
              </p:cNvPr>
              <p:cNvSpPr>
                <a:spLocks noGrp="1"/>
              </p:cNvSpPr>
              <p:nvPr>
                <p:ph sz="half" idx="1"/>
              </p:nvPr>
            </p:nvSpPr>
            <p:spPr/>
            <p:txBody>
              <a:bodyPr>
                <a:normAutofit fontScale="85000" lnSpcReduction="20000"/>
              </a:bodyPr>
              <a:lstStyle/>
              <a:p>
                <a14:m>
                  <m:oMath xmlns:m="http://schemas.openxmlformats.org/officeDocument/2006/math">
                    <m:r>
                      <a:rPr lang="en-US" sz="2700" i="1" dirty="0" smtClean="0">
                        <a:latin typeface="Cambria Math" panose="02040503050406030204" pitchFamily="18" charset="0"/>
                      </a:rPr>
                      <m:t>𝑏</m:t>
                    </m:r>
                  </m:oMath>
                </a14:m>
                <a:r>
                  <a:rPr lang="en-US" sz="2700" i="1" dirty="0"/>
                  <a:t>:</a:t>
                </a:r>
                <a:r>
                  <a:rPr lang="en-US" sz="2700" dirty="0"/>
                  <a:t> maximum branching factor = number of available actions?</a:t>
                </a:r>
                <a:br>
                  <a:rPr lang="en-US" sz="2700" dirty="0"/>
                </a:br>
                <a:endParaRPr lang="en-US" sz="2700" dirty="0"/>
              </a:p>
              <a:p>
                <a:pPr marL="342900" lvl="1" indent="0">
                  <a:buNone/>
                </a:pPr>
                <a:r>
                  <a:rPr lang="en-US" sz="2400" dirty="0"/>
                  <a:t>3</a:t>
                </a:r>
                <a:br>
                  <a:rPr lang="en-US" sz="2400" dirty="0"/>
                </a:br>
                <a:endParaRPr lang="en-US" sz="2400" b="1" i="1" dirty="0"/>
              </a:p>
              <a:p>
                <a14:m>
                  <m:oMath xmlns:m="http://schemas.openxmlformats.org/officeDocument/2006/math">
                    <m:r>
                      <a:rPr lang="en-US" sz="2700" i="1" dirty="0">
                        <a:latin typeface="Cambria Math" panose="02040503050406030204" pitchFamily="18" charset="0"/>
                      </a:rPr>
                      <m:t>𝑚</m:t>
                    </m:r>
                  </m:oMath>
                </a14:m>
                <a:r>
                  <a:rPr lang="en-US" sz="2700" i="1" dirty="0"/>
                  <a:t>: </a:t>
                </a:r>
                <a:r>
                  <a:rPr lang="en-US" sz="2700" dirty="0"/>
                  <a:t>the number of actions in any path? Without loops!</a:t>
                </a:r>
                <a:br>
                  <a:rPr lang="en-US" sz="2700" dirty="0"/>
                </a:br>
                <a:endParaRPr lang="en-US" sz="2700" dirty="0"/>
              </a:p>
              <a:p>
                <a:pPr marL="342900" lvl="1" indent="0">
                  <a:buNone/>
                </a:pPr>
                <a:r>
                  <a:rPr lang="en-US" sz="2400" dirty="0"/>
                  <a:t>4</a:t>
                </a:r>
                <a:br>
                  <a:rPr lang="en-US" sz="2400" dirty="0"/>
                </a:br>
                <a:endParaRPr lang="en-US" sz="2400" dirty="0"/>
              </a:p>
              <a:p>
                <a14:m>
                  <m:oMath xmlns:m="http://schemas.openxmlformats.org/officeDocument/2006/math">
                    <m:r>
                      <a:rPr lang="en-US" sz="2700" i="1" dirty="0" smtClean="0">
                        <a:latin typeface="Cambria Math" panose="02040503050406030204" pitchFamily="18" charset="0"/>
                      </a:rPr>
                      <m:t>𝑑</m:t>
                    </m:r>
                  </m:oMath>
                </a14:m>
                <a:r>
                  <a:rPr lang="en-US" sz="2700" i="1" dirty="0"/>
                  <a:t>: </a:t>
                </a:r>
                <a:r>
                  <a:rPr lang="en-US" sz="2700" dirty="0"/>
                  <a:t>depth of the optimal solution?</a:t>
                </a:r>
                <a:br>
                  <a:rPr lang="en-US" sz="2700" dirty="0"/>
                </a:br>
                <a:endParaRPr lang="en-US" sz="2700" dirty="0"/>
              </a:p>
              <a:p>
                <a:pPr marL="342900" lvl="1" indent="0">
                  <a:buNone/>
                </a:pPr>
                <a:r>
                  <a:rPr lang="en-US" sz="2400" dirty="0"/>
                  <a:t>3</a:t>
                </a:r>
                <a:br>
                  <a:rPr lang="en-US" sz="2400" dirty="0"/>
                </a:br>
                <a:endParaRPr lang="en-US" dirty="0"/>
              </a:p>
            </p:txBody>
          </p:sp>
        </mc:Choice>
        <mc:Fallback xmlns="">
          <p:sp>
            <p:nvSpPr>
              <p:cNvPr id="21" name="Content Placeholder 20">
                <a:extLst>
                  <a:ext uri="{FF2B5EF4-FFF2-40B4-BE49-F238E27FC236}">
                    <a16:creationId xmlns:a16="http://schemas.microsoft.com/office/drawing/2014/main" id="{39A5693D-07D0-6814-1463-F5C269E85442}"/>
                  </a:ext>
                </a:extLst>
              </p:cNvPr>
              <p:cNvSpPr>
                <a:spLocks noGrp="1" noRot="1" noChangeAspect="1" noMove="1" noResize="1" noEditPoints="1" noAdjustHandles="1" noChangeArrowheads="1" noChangeShapeType="1" noTextEdit="1"/>
              </p:cNvSpPr>
              <p:nvPr>
                <p:ph sz="half" idx="1"/>
              </p:nvPr>
            </p:nvSpPr>
            <p:spPr>
              <a:blipFill>
                <a:blip r:embed="rId2"/>
                <a:stretch>
                  <a:fillRect l="-1881" t="-3081" r="-329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AE29FF94-932F-99E0-EC33-B30357C17189}"/>
              </a:ext>
            </a:extLst>
          </p:cNvPr>
          <p:cNvGrpSpPr/>
          <p:nvPr/>
        </p:nvGrpSpPr>
        <p:grpSpPr>
          <a:xfrm>
            <a:off x="5181599" y="2338557"/>
            <a:ext cx="3562601" cy="2157243"/>
            <a:chOff x="3443345" y="3786606"/>
            <a:chExt cx="5700655" cy="3071394"/>
          </a:xfrm>
        </p:grpSpPr>
        <p:pic>
          <p:nvPicPr>
            <p:cNvPr id="12" name="Picture 6">
              <a:extLst>
                <a:ext uri="{FF2B5EF4-FFF2-40B4-BE49-F238E27FC236}">
                  <a16:creationId xmlns:a16="http://schemas.microsoft.com/office/drawing/2014/main" id="{C47B5471-F4C2-5D4B-0E0B-3E432E733C1D}"/>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18" name="Rectangle 17">
              <a:extLst>
                <a:ext uri="{FF2B5EF4-FFF2-40B4-BE49-F238E27FC236}">
                  <a16:creationId xmlns:a16="http://schemas.microsoft.com/office/drawing/2014/main" id="{87E4871E-1C38-FE1D-0C87-EB6B7FBF36B9}"/>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200"/>
            </a:p>
          </p:txBody>
        </p:sp>
        <p:sp>
          <p:nvSpPr>
            <p:cNvPr id="19" name="TextBox 18">
              <a:extLst>
                <a:ext uri="{FF2B5EF4-FFF2-40B4-BE49-F238E27FC236}">
                  <a16:creationId xmlns:a16="http://schemas.microsoft.com/office/drawing/2014/main" id="{AE270D5F-3798-5A7A-89E4-58DBA42598C4}"/>
                </a:ext>
              </a:extLst>
            </p:cNvPr>
            <p:cNvSpPr txBox="1"/>
            <p:nvPr/>
          </p:nvSpPr>
          <p:spPr>
            <a:xfrm>
              <a:off x="5106831" y="3786606"/>
              <a:ext cx="1441955" cy="394380"/>
            </a:xfrm>
            <a:prstGeom prst="rect">
              <a:avLst/>
            </a:prstGeom>
            <a:noFill/>
          </p:spPr>
          <p:txBody>
            <a:bodyPr wrap="none" rtlCol="0">
              <a:spAutoFit/>
            </a:bodyPr>
            <a:lstStyle/>
            <a:p>
              <a:r>
                <a:rPr lang="en-US" sz="1200" b="1" dirty="0">
                  <a:solidFill>
                    <a:schemeClr val="accent2">
                      <a:lumMod val="50000"/>
                    </a:schemeClr>
                  </a:solidFill>
                </a:rPr>
                <a:t>Initial state</a:t>
              </a:r>
            </a:p>
          </p:txBody>
        </p:sp>
        <p:sp>
          <p:nvSpPr>
            <p:cNvPr id="20" name="TextBox 19">
              <a:extLst>
                <a:ext uri="{FF2B5EF4-FFF2-40B4-BE49-F238E27FC236}">
                  <a16:creationId xmlns:a16="http://schemas.microsoft.com/office/drawing/2014/main" id="{BDA9B98B-A967-CB14-C48B-C9D0922C3C05}"/>
                </a:ext>
              </a:extLst>
            </p:cNvPr>
            <p:cNvSpPr txBox="1"/>
            <p:nvPr/>
          </p:nvSpPr>
          <p:spPr>
            <a:xfrm>
              <a:off x="3734781" y="6096000"/>
              <a:ext cx="1421435" cy="394380"/>
            </a:xfrm>
            <a:prstGeom prst="rect">
              <a:avLst/>
            </a:prstGeom>
            <a:noFill/>
          </p:spPr>
          <p:txBody>
            <a:bodyPr wrap="none" rtlCol="0">
              <a:spAutoFit/>
            </a:bodyPr>
            <a:lstStyle/>
            <a:p>
              <a:r>
                <a:rPr lang="en-US" sz="1200" b="1" dirty="0">
                  <a:solidFill>
                    <a:schemeClr val="accent2">
                      <a:lumMod val="50000"/>
                    </a:schemeClr>
                  </a:solidFill>
                </a:rPr>
                <a:t>Goal states</a:t>
              </a:r>
            </a:p>
          </p:txBody>
        </p:sp>
      </p:grpSp>
      <p:sp>
        <p:nvSpPr>
          <p:cNvPr id="28" name="TextBox 27">
            <a:extLst>
              <a:ext uri="{FF2B5EF4-FFF2-40B4-BE49-F238E27FC236}">
                <a16:creationId xmlns:a16="http://schemas.microsoft.com/office/drawing/2014/main" id="{77679CBA-ABAB-A930-AE02-106964BF8603}"/>
              </a:ext>
            </a:extLst>
          </p:cNvPr>
          <p:cNvSpPr txBox="1"/>
          <p:nvPr/>
        </p:nvSpPr>
        <p:spPr>
          <a:xfrm>
            <a:off x="5181599" y="1842870"/>
            <a:ext cx="3486401" cy="369332"/>
          </a:xfrm>
          <a:prstGeom prst="rect">
            <a:avLst/>
          </a:prstGeom>
          <a:noFill/>
        </p:spPr>
        <p:txBody>
          <a:bodyPr wrap="square" rtlCol="0">
            <a:spAutoFit/>
          </a:bodyPr>
          <a:lstStyle/>
          <a:p>
            <a:r>
              <a:rPr lang="en-US" dirty="0"/>
              <a:t>State Space with Transition Model</a:t>
            </a:r>
          </a:p>
        </p:txBody>
      </p:sp>
    </p:spTree>
    <p:extLst>
      <p:ext uri="{BB962C8B-B14F-4D97-AF65-F5344CB8AC3E}">
        <p14:creationId xmlns:p14="http://schemas.microsoft.com/office/powerpoint/2010/main" val="143468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determines the </a:t>
            </a:r>
            <a:br>
              <a:rPr lang="en-US" sz="3000" dirty="0"/>
            </a:br>
            <a:r>
              <a:rPr lang="en-US" sz="3000" dirty="0"/>
              <a:t>Search Tree Size?</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AAA905-860A-94E6-E3CF-51870995A788}"/>
                  </a:ext>
                </a:extLst>
              </p:cNvPr>
              <p:cNvSpPr txBox="1"/>
              <p:nvPr/>
            </p:nvSpPr>
            <p:spPr>
              <a:xfrm>
                <a:off x="646942" y="4428647"/>
                <a:ext cx="1143000" cy="92333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 =</m:t>
                      </m:r>
                    </m:oMath>
                  </m:oMathPara>
                </a14:m>
                <a:endParaRPr lang="en-US"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oMath>
                  </m:oMathPara>
                </a14:m>
                <a:endParaRPr lang="en-US"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 =</m:t>
                      </m:r>
                    </m:oMath>
                  </m:oMathPara>
                </a14:m>
                <a:endParaRPr lang="en-US" dirty="0"/>
              </a:p>
            </p:txBody>
          </p:sp>
        </mc:Choice>
        <mc:Fallback xmlns="">
          <p:sp>
            <p:nvSpPr>
              <p:cNvPr id="3" name="TextBox 2">
                <a:extLst>
                  <a:ext uri="{FF2B5EF4-FFF2-40B4-BE49-F238E27FC236}">
                    <a16:creationId xmlns:a16="http://schemas.microsoft.com/office/drawing/2014/main" id="{9BAAA905-860A-94E6-E3CF-51870995A788}"/>
                  </a:ext>
                </a:extLst>
              </p:cNvPr>
              <p:cNvSpPr txBox="1">
                <a:spLocks noRot="1" noChangeAspect="1" noMove="1" noResize="1" noEditPoints="1" noAdjustHandles="1" noChangeArrowheads="1" noChangeShapeType="1" noTextEdit="1"/>
              </p:cNvSpPr>
              <p:nvPr/>
            </p:nvSpPr>
            <p:spPr>
              <a:xfrm>
                <a:off x="646942" y="4428647"/>
                <a:ext cx="1143000" cy="92333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EE7B21E8-57C0-5AD0-E7B5-27323CF7027D}"/>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0" name="Rectangle 9">
                <a:extLst>
                  <a:ext uri="{FF2B5EF4-FFF2-40B4-BE49-F238E27FC236}">
                    <a16:creationId xmlns:a16="http://schemas.microsoft.com/office/drawing/2014/main" id="{EE7B21E8-57C0-5AD0-E7B5-27323CF7027D}"/>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p:spTree>
    <p:extLst>
      <p:ext uri="{BB962C8B-B14F-4D97-AF65-F5344CB8AC3E}">
        <p14:creationId xmlns:p14="http://schemas.microsoft.com/office/powerpoint/2010/main" val="41850644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determines the </a:t>
            </a:r>
            <a:br>
              <a:rPr lang="en-US" sz="3000" dirty="0"/>
            </a:br>
            <a:r>
              <a:rPr lang="en-US" sz="3000" dirty="0"/>
              <a:t>Search Tree Size?</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84B0078-B220-5B9D-D9C6-448A9B7D1D41}"/>
                  </a:ext>
                </a:extLst>
              </p:cNvPr>
              <p:cNvSpPr txBox="1"/>
              <p:nvPr/>
            </p:nvSpPr>
            <p:spPr>
              <a:xfrm>
                <a:off x="879387" y="4329545"/>
                <a:ext cx="1702373" cy="1538883"/>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=4</m:t>
                    </m:r>
                  </m:oMath>
                </a14:m>
                <a:r>
                  <a:rPr lang="en-US" sz="1200" b="0" dirty="0"/>
                  <a:t> actions</a:t>
                </a:r>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oMath>
                </a14:m>
                <a:r>
                  <a:rPr lang="en-US" sz="1200" b="0" dirty="0"/>
                  <a:t> longest path to the goal or a dead end (bounded by </a:t>
                </a:r>
                <a14:m>
                  <m:oMath xmlns:m="http://schemas.openxmlformats.org/officeDocument/2006/math">
                    <m:r>
                      <a:rPr lang="en-US" sz="1200" b="0" i="1" dirty="0" smtClean="0">
                        <a:latin typeface="Cambria Math" panose="02040503050406030204" pitchFamily="18" charset="0"/>
                      </a:rPr>
                      <m:t>𝑥</m:t>
                    </m:r>
                    <m:r>
                      <a:rPr lang="en-US" sz="1200" b="0" i="1" dirty="0" smtClean="0">
                        <a:latin typeface="Cambria Math" panose="02040503050406030204" pitchFamily="18" charset="0"/>
                      </a:rPr>
                      <m:t>×</m:t>
                    </m:r>
                    <m:r>
                      <a:rPr lang="en-US" sz="1200" b="0" i="1" dirty="0" smtClean="0">
                        <a:latin typeface="Cambria Math" panose="02040503050406030204" pitchFamily="18" charset="0"/>
                      </a:rPr>
                      <m:t>𝑦</m:t>
                    </m:r>
                  </m:oMath>
                </a14:m>
                <a:r>
                  <a:rPr lang="en-US" sz="1200" b="0" dirty="0"/>
                  <a:t>)</a:t>
                </a:r>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 =</m:t>
                    </m:r>
                  </m:oMath>
                </a14:m>
                <a:r>
                  <a:rPr lang="en-US" sz="1200" dirty="0"/>
                  <a:t> shortest path to the goal (bounded by </a:t>
                </a:r>
                <a14:m>
                  <m:oMath xmlns:m="http://schemas.openxmlformats.org/officeDocument/2006/math">
                    <m:r>
                      <a:rPr lang="en-US" sz="1200" i="1" dirty="0">
                        <a:latin typeface="Cambria Math" panose="02040503050406030204" pitchFamily="18" charset="0"/>
                      </a:rPr>
                      <m:t>𝑥</m:t>
                    </m:r>
                    <m:r>
                      <a:rPr lang="en-US" sz="1200" i="1" dirty="0">
                        <a:latin typeface="Cambria Math" panose="02040503050406030204" pitchFamily="18" charset="0"/>
                      </a:rPr>
                      <m:t>×</m:t>
                    </m:r>
                    <m:r>
                      <a:rPr lang="en-US" sz="1200" i="1" dirty="0">
                        <a:latin typeface="Cambria Math" panose="02040503050406030204" pitchFamily="18" charset="0"/>
                      </a:rPr>
                      <m:t>𝑦</m:t>
                    </m:r>
                  </m:oMath>
                </a14:m>
                <a:r>
                  <a:rPr lang="en-US" sz="1200" dirty="0"/>
                  <a:t>)</a:t>
                </a:r>
              </a:p>
            </p:txBody>
          </p:sp>
        </mc:Choice>
        <mc:Fallback xmlns="">
          <p:sp>
            <p:nvSpPr>
              <p:cNvPr id="14" name="TextBox 13">
                <a:extLst>
                  <a:ext uri="{FF2B5EF4-FFF2-40B4-BE49-F238E27FC236}">
                    <a16:creationId xmlns:a16="http://schemas.microsoft.com/office/drawing/2014/main" id="{684B0078-B220-5B9D-D9C6-448A9B7D1D41}"/>
                  </a:ext>
                </a:extLst>
              </p:cNvPr>
              <p:cNvSpPr txBox="1">
                <a:spLocks noRot="1" noChangeAspect="1" noMove="1" noResize="1" noEditPoints="1" noAdjustHandles="1" noChangeArrowheads="1" noChangeShapeType="1" noTextEdit="1"/>
              </p:cNvSpPr>
              <p:nvPr/>
            </p:nvSpPr>
            <p:spPr>
              <a:xfrm>
                <a:off x="879387" y="4329545"/>
                <a:ext cx="1702373" cy="1538883"/>
              </a:xfrm>
              <a:prstGeom prst="rect">
                <a:avLst/>
              </a:prstGeom>
              <a:blipFill>
                <a:blip r:embed="rId7"/>
                <a:stretch>
                  <a:fillRect r="-714" b="-19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9AC0A6CC-6376-B0F7-C367-66E0CD02877C}"/>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8" name="Rectangle 17">
                <a:extLst>
                  <a:ext uri="{FF2B5EF4-FFF2-40B4-BE49-F238E27FC236}">
                    <a16:creationId xmlns:a16="http://schemas.microsoft.com/office/drawing/2014/main" id="{9AC0A6CC-6376-B0F7-C367-66E0CD02877C}"/>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631E8F9-1073-FF1A-EDB4-BCE6243CB0B3}"/>
                  </a:ext>
                </a:extLst>
              </p:cNvPr>
              <p:cNvSpPr txBox="1"/>
              <p:nvPr/>
            </p:nvSpPr>
            <p:spPr>
              <a:xfrm>
                <a:off x="2779407" y="4329544"/>
                <a:ext cx="1702373" cy="1577611"/>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m:t>
                    </m:r>
                  </m:oMath>
                </a14:m>
                <a:r>
                  <a:rPr lang="en-US" sz="1200" b="0" i="1" dirty="0">
                    <a:latin typeface="Cambria Math" panose="02040503050406030204" pitchFamily="18" charset="0"/>
                  </a:rPr>
                  <a:t> </a:t>
                </a:r>
                <a:r>
                  <a:rPr lang="en-US" sz="1200" dirty="0"/>
                  <a:t>? What are the actions? Moving one Queen: </a:t>
                </a:r>
                <a14:m>
                  <m:oMath xmlns:m="http://schemas.openxmlformats.org/officeDocument/2006/math">
                    <m:r>
                      <a:rPr lang="en-US" sz="1100" i="1" dirty="0" smtClean="0">
                        <a:latin typeface="Cambria Math" panose="02040503050406030204" pitchFamily="18" charset="0"/>
                      </a:rPr>
                      <m:t>64−7=57</m:t>
                    </m:r>
                  </m:oMath>
                </a14:m>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oMath>
                </a14:m>
                <a:r>
                  <a:rPr lang="en-US" sz="1200" b="0" dirty="0"/>
                  <a:t> We may have to try all: </a:t>
                </a:r>
                <a14:m>
                  <m:oMath xmlns:m="http://schemas.openxmlformats.org/officeDocument/2006/math">
                    <m:d>
                      <m:dPr>
                        <m:ctrlPr>
                          <a:rPr lang="en-US" sz="1200" i="1">
                            <a:latin typeface="Cambria Math" panose="02040503050406030204" pitchFamily="18" charset="0"/>
                          </a:rPr>
                        </m:ctrlPr>
                      </m:dPr>
                      <m:e>
                        <m:f>
                          <m:fPr>
                            <m:type m:val="noBar"/>
                            <m:ctrlPr>
                              <a:rPr lang="en-US" sz="1200" i="1">
                                <a:latin typeface="Cambria Math" panose="02040503050406030204" pitchFamily="18" charset="0"/>
                              </a:rPr>
                            </m:ctrlPr>
                          </m:fPr>
                          <m:num>
                            <m:r>
                              <a:rPr lang="en-US" sz="1200" i="1">
                                <a:latin typeface="Cambria Math" panose="02040503050406030204" pitchFamily="18" charset="0"/>
                              </a:rPr>
                              <m:t>64</m:t>
                            </m:r>
                          </m:num>
                          <m:den>
                            <m:r>
                              <a:rPr lang="en-US" sz="1200" i="1">
                                <a:latin typeface="Cambria Math" panose="02040503050406030204" pitchFamily="18" charset="0"/>
                              </a:rPr>
                              <m:t>8</m:t>
                            </m:r>
                          </m:den>
                        </m:f>
                      </m:e>
                    </m:d>
                    <m:r>
                      <a:rPr lang="en-US" sz="1200" i="1">
                        <a:latin typeface="Cambria Math" panose="02040503050406030204" pitchFamily="18" charset="0"/>
                      </a:rPr>
                      <m:t>≈4.4×</m:t>
                    </m:r>
                    <m:sSup>
                      <m:sSupPr>
                        <m:ctrlPr>
                          <a:rPr lang="en-US" sz="1200" i="1">
                            <a:latin typeface="Cambria Math" panose="02040503050406030204" pitchFamily="18" charset="0"/>
                          </a:rPr>
                        </m:ctrlPr>
                      </m:sSupPr>
                      <m:e>
                        <m:r>
                          <a:rPr lang="en-US" sz="1200" i="1">
                            <a:latin typeface="Cambria Math" panose="02040503050406030204" pitchFamily="18" charset="0"/>
                          </a:rPr>
                          <m:t>10</m:t>
                        </m:r>
                      </m:e>
                      <m:sup>
                        <m:r>
                          <a:rPr lang="en-US" sz="1200" i="1">
                            <a:latin typeface="Cambria Math" panose="02040503050406030204" pitchFamily="18" charset="0"/>
                          </a:rPr>
                          <m:t>9</m:t>
                        </m:r>
                      </m:sup>
                    </m:sSup>
                  </m:oMath>
                </a14:m>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 =</m:t>
                    </m:r>
                  </m:oMath>
                </a14:m>
                <a:r>
                  <a:rPr lang="en-US" sz="1200" dirty="0"/>
                  <a:t> move each queen in the right spot = 8</a:t>
                </a:r>
              </a:p>
            </p:txBody>
          </p:sp>
        </mc:Choice>
        <mc:Fallback xmlns="">
          <p:sp>
            <p:nvSpPr>
              <p:cNvPr id="19" name="TextBox 18">
                <a:extLst>
                  <a:ext uri="{FF2B5EF4-FFF2-40B4-BE49-F238E27FC236}">
                    <a16:creationId xmlns:a16="http://schemas.microsoft.com/office/drawing/2014/main" id="{8631E8F9-1073-FF1A-EDB4-BCE6243CB0B3}"/>
                  </a:ext>
                </a:extLst>
              </p:cNvPr>
              <p:cNvSpPr txBox="1">
                <a:spLocks noRot="1" noChangeAspect="1" noMove="1" noResize="1" noEditPoints="1" noAdjustHandles="1" noChangeArrowheads="1" noChangeShapeType="1" noTextEdit="1"/>
              </p:cNvSpPr>
              <p:nvPr/>
            </p:nvSpPr>
            <p:spPr>
              <a:xfrm>
                <a:off x="2779407" y="4329544"/>
                <a:ext cx="1702373" cy="1577611"/>
              </a:xfrm>
              <a:prstGeom prst="rect">
                <a:avLst/>
              </a:prstGeom>
              <a:blipFill>
                <a:blip r:embed="rId9"/>
                <a:stretch>
                  <a:fillRect l="-358" b="-23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6E0F7A5-7640-A82C-C1F5-61327201BE17}"/>
                  </a:ext>
                </a:extLst>
              </p:cNvPr>
              <p:cNvSpPr txBox="1"/>
              <p:nvPr/>
            </p:nvSpPr>
            <p:spPr>
              <a:xfrm>
                <a:off x="4589862" y="4304606"/>
                <a:ext cx="1702373" cy="984885"/>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=4</m:t>
                    </m:r>
                  </m:oMath>
                </a14:m>
                <a:r>
                  <a:rPr lang="en-US" sz="1200" b="0" dirty="0"/>
                  <a:t> actions to move the empty tile.</a:t>
                </a:r>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oMath>
                </a14:m>
                <a:r>
                  <a:rPr lang="en-US" sz="1200" b="0" dirty="0"/>
                  <a:t> Try all </a:t>
                </a:r>
                <a14:m>
                  <m:oMath xmlns:m="http://schemas.openxmlformats.org/officeDocument/2006/math">
                    <m:r>
                      <a:rPr lang="en-US" sz="1200" b="0" i="1" dirty="0" smtClean="0">
                        <a:latin typeface="Cambria Math" panose="02040503050406030204" pitchFamily="18" charset="0"/>
                      </a:rPr>
                      <m:t>𝑂</m:t>
                    </m:r>
                    <m:r>
                      <a:rPr lang="en-US" sz="1200" b="0" i="1" dirty="0" smtClean="0">
                        <a:latin typeface="Cambria Math" panose="02040503050406030204" pitchFamily="18" charset="0"/>
                      </a:rPr>
                      <m:t>(9!) </m:t>
                    </m:r>
                  </m:oMath>
                </a14:m>
                <a:endParaRPr lang="en-US" sz="1200" b="0" dirty="0"/>
              </a:p>
              <a:p>
                <a:pPr indent="-457200">
                  <a:spcBef>
                    <a:spcPts val="600"/>
                  </a:spcBef>
                </a:pPr>
                <a14:m>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 =</m:t>
                    </m:r>
                  </m:oMath>
                </a14:m>
                <a:r>
                  <a:rPr lang="en-US" sz="1200" dirty="0"/>
                  <a:t> ???</a:t>
                </a:r>
              </a:p>
            </p:txBody>
          </p:sp>
        </mc:Choice>
        <mc:Fallback xmlns="">
          <p:sp>
            <p:nvSpPr>
              <p:cNvPr id="20" name="TextBox 19">
                <a:extLst>
                  <a:ext uri="{FF2B5EF4-FFF2-40B4-BE49-F238E27FC236}">
                    <a16:creationId xmlns:a16="http://schemas.microsoft.com/office/drawing/2014/main" id="{96E0F7A5-7640-A82C-C1F5-61327201BE17}"/>
                  </a:ext>
                </a:extLst>
              </p:cNvPr>
              <p:cNvSpPr txBox="1">
                <a:spLocks noRot="1" noChangeAspect="1" noMove="1" noResize="1" noEditPoints="1" noAdjustHandles="1" noChangeArrowheads="1" noChangeShapeType="1" noTextEdit="1"/>
              </p:cNvSpPr>
              <p:nvPr/>
            </p:nvSpPr>
            <p:spPr>
              <a:xfrm>
                <a:off x="4589862" y="4304606"/>
                <a:ext cx="1702373" cy="984885"/>
              </a:xfrm>
              <a:prstGeom prst="rect">
                <a:avLst/>
              </a:prstGeom>
              <a:blipFill>
                <a:blip r:embed="rId10"/>
                <a:stretch>
                  <a:fillRect l="-358" b="-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376000C-EFEB-4AAB-EC0B-1DEC37DB63B2}"/>
                  </a:ext>
                </a:extLst>
              </p:cNvPr>
              <p:cNvSpPr txBox="1"/>
              <p:nvPr/>
            </p:nvSpPr>
            <p:spPr>
              <a:xfrm>
                <a:off x="6514017" y="4311533"/>
                <a:ext cx="1702373" cy="1092607"/>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=9</m:t>
                    </m:r>
                  </m:oMath>
                </a14:m>
                <a:r>
                  <a:rPr lang="en-US" sz="1200" b="0" dirty="0"/>
                  <a:t> actions for the first move.</a:t>
                </a:r>
                <a:endParaRPr lang="en-US" sz="12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=9</m:t>
                      </m:r>
                    </m:oMath>
                  </m:oMathPara>
                </a14:m>
                <a:endParaRPr lang="en-US" sz="1200" b="0" dirty="0"/>
              </a:p>
              <a:p>
                <a:pPr indent="-457200">
                  <a:spcBef>
                    <a:spcPts val="600"/>
                  </a:spcBef>
                </a:pPr>
                <a14:m>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 =9</m:t>
                    </m:r>
                  </m:oMath>
                </a14:m>
                <a:r>
                  <a:rPr lang="en-US" sz="1200" dirty="0"/>
                  <a:t> (if both play optimal)</a:t>
                </a:r>
              </a:p>
            </p:txBody>
          </p:sp>
        </mc:Choice>
        <mc:Fallback xmlns="">
          <p:sp>
            <p:nvSpPr>
              <p:cNvPr id="21" name="TextBox 20">
                <a:extLst>
                  <a:ext uri="{FF2B5EF4-FFF2-40B4-BE49-F238E27FC236}">
                    <a16:creationId xmlns:a16="http://schemas.microsoft.com/office/drawing/2014/main" id="{F376000C-EFEB-4AAB-EC0B-1DEC37DB63B2}"/>
                  </a:ext>
                </a:extLst>
              </p:cNvPr>
              <p:cNvSpPr txBox="1">
                <a:spLocks noRot="1" noChangeAspect="1" noMove="1" noResize="1" noEditPoints="1" noAdjustHandles="1" noChangeArrowheads="1" noChangeShapeType="1" noTextEdit="1"/>
              </p:cNvSpPr>
              <p:nvPr/>
            </p:nvSpPr>
            <p:spPr>
              <a:xfrm>
                <a:off x="6514017" y="4311533"/>
                <a:ext cx="1702373" cy="1092607"/>
              </a:xfrm>
              <a:prstGeom prst="rect">
                <a:avLst/>
              </a:prstGeom>
              <a:blipFill>
                <a:blip r:embed="rId11"/>
                <a:stretch>
                  <a:fillRect l="-358" b="-3333"/>
                </a:stretch>
              </a:blipFill>
            </p:spPr>
            <p:txBody>
              <a:bodyPr/>
              <a:lstStyle/>
              <a:p>
                <a:r>
                  <a:rPr lang="en-US">
                    <a:noFill/>
                  </a:rPr>
                  <a:t> </a:t>
                </a:r>
              </a:p>
            </p:txBody>
          </p:sp>
        </mc:Fallback>
      </mc:AlternateContent>
    </p:spTree>
    <p:extLst>
      <p:ext uri="{BB962C8B-B14F-4D97-AF65-F5344CB8AC3E}">
        <p14:creationId xmlns:p14="http://schemas.microsoft.com/office/powerpoint/2010/main" val="233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8C7E0-EDF4-6FDF-F8E2-19EF118654C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7C04739-EFD4-44A2-34DB-75D2EB7B5083}"/>
              </a:ext>
            </a:extLst>
          </p:cNvPr>
          <p:cNvSpPr>
            <a:spLocks noGrp="1"/>
          </p:cNvSpPr>
          <p:nvPr>
            <p:ph type="title"/>
          </p:nvPr>
        </p:nvSpPr>
        <p:spPr/>
        <p:txBody>
          <a:bodyPr/>
          <a:lstStyle/>
          <a:p>
            <a:r>
              <a:rPr lang="en-US" dirty="0"/>
              <a:t>Uninformed Algorithms</a:t>
            </a:r>
          </a:p>
        </p:txBody>
      </p:sp>
      <p:sp>
        <p:nvSpPr>
          <p:cNvPr id="6" name="Text Placeholder 5">
            <a:extLst>
              <a:ext uri="{FF2B5EF4-FFF2-40B4-BE49-F238E27FC236}">
                <a16:creationId xmlns:a16="http://schemas.microsoft.com/office/drawing/2014/main" id="{B60CAF69-948C-759D-E6B4-2EB872EA7E32}"/>
              </a:ext>
            </a:extLst>
          </p:cNvPr>
          <p:cNvSpPr>
            <a:spLocks noGrp="1"/>
          </p:cNvSpPr>
          <p:nvPr>
            <p:ph type="body" idx="1"/>
          </p:nvPr>
        </p:nvSpPr>
        <p:spPr/>
        <p:txBody>
          <a:bodyPr/>
          <a:lstStyle/>
          <a:p>
            <a:r>
              <a:rPr lang="en-US" dirty="0"/>
              <a:t>Breadth-first vs. Depth-first Search</a:t>
            </a:r>
          </a:p>
        </p:txBody>
      </p:sp>
    </p:spTree>
    <p:extLst>
      <p:ext uri="{BB962C8B-B14F-4D97-AF65-F5344CB8AC3E}">
        <p14:creationId xmlns:p14="http://schemas.microsoft.com/office/powerpoint/2010/main" val="19025128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Breadth-First Search (BFS)</a:t>
            </a:r>
          </a:p>
        </p:txBody>
      </p:sp>
      <p:sp>
        <p:nvSpPr>
          <p:cNvPr id="25603" name="Rectangle 3"/>
          <p:cNvSpPr>
            <a:spLocks noGrp="1" noChangeArrowheads="1"/>
          </p:cNvSpPr>
          <p:nvPr>
            <p:ph idx="1"/>
          </p:nvPr>
        </p:nvSpPr>
        <p:spPr>
          <a:xfrm>
            <a:off x="628650" y="1825625"/>
            <a:ext cx="7886700" cy="820303"/>
          </a:xfrm>
        </p:spPr>
        <p:txBody>
          <a:bodyPr>
            <a:normAutofit/>
          </a:bodyPr>
          <a:lstStyle/>
          <a:p>
            <a:pPr marL="0" indent="0">
              <a:buNone/>
            </a:pPr>
            <a:r>
              <a:rPr lang="en-US" b="1" dirty="0"/>
              <a:t>Expansion rule: </a:t>
            </a:r>
            <a:r>
              <a:rPr lang="en-US" dirty="0"/>
              <a:t>Expand shallowest unexpanded node in the frontier (=</a:t>
            </a:r>
            <a:r>
              <a:rPr lang="en-US" b="1" dirty="0"/>
              <a:t>FIFO</a:t>
            </a:r>
            <a:r>
              <a:rPr lang="en-US" dirty="0"/>
              <a:t>). </a:t>
            </a:r>
          </a:p>
        </p:txBody>
      </p:sp>
      <p:pic>
        <p:nvPicPr>
          <p:cNvPr id="2" name="Picture 1">
            <a:extLst>
              <a:ext uri="{FF2B5EF4-FFF2-40B4-BE49-F238E27FC236}">
                <a16:creationId xmlns:a16="http://schemas.microsoft.com/office/drawing/2014/main" id="{50478804-D19B-42CB-9174-573046574EBF}"/>
              </a:ext>
            </a:extLst>
          </p:cNvPr>
          <p:cNvPicPr>
            <a:picLocks noChangeAspect="1"/>
          </p:cNvPicPr>
          <p:nvPr/>
        </p:nvPicPr>
        <p:blipFill>
          <a:blip r:embed="rId3"/>
          <a:stretch>
            <a:fillRect/>
          </a:stretch>
        </p:blipFill>
        <p:spPr>
          <a:xfrm>
            <a:off x="254062" y="2514600"/>
            <a:ext cx="8635876" cy="2047906"/>
          </a:xfrm>
          <a:prstGeom prst="rect">
            <a:avLst/>
          </a:prstGeom>
        </p:spPr>
      </p:pic>
      <p:sp>
        <p:nvSpPr>
          <p:cNvPr id="3" name="Rectangle 2">
            <a:extLst>
              <a:ext uri="{FF2B5EF4-FFF2-40B4-BE49-F238E27FC236}">
                <a16:creationId xmlns:a16="http://schemas.microsoft.com/office/drawing/2014/main" id="{6586C735-C78E-442B-A9DB-C9383AB15207}"/>
              </a:ext>
            </a:extLst>
          </p:cNvPr>
          <p:cNvSpPr/>
          <p:nvPr/>
        </p:nvSpPr>
        <p:spPr>
          <a:xfrm>
            <a:off x="381000" y="4731922"/>
            <a:ext cx="8382000"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Data Structures</a:t>
            </a:r>
          </a:p>
          <a:p>
            <a:pPr marL="285750" indent="-285750">
              <a:buFont typeface="Arial" panose="020B0604020202020204" pitchFamily="34" charset="0"/>
              <a:buChar char="•"/>
            </a:pPr>
            <a:r>
              <a:rPr lang="en-US" b="1" dirty="0"/>
              <a:t>Frontier </a:t>
            </a:r>
            <a:r>
              <a:rPr lang="en-US" dirty="0"/>
              <a:t>data structure: holds references to the green nodes (green) and is implemented as a FIFO </a:t>
            </a:r>
            <a:r>
              <a:rPr lang="en-US" b="1" dirty="0"/>
              <a:t>queue</a:t>
            </a:r>
            <a:r>
              <a:rPr lang="en-US" dirty="0"/>
              <a:t>.</a:t>
            </a:r>
          </a:p>
          <a:p>
            <a:pPr marL="285750" indent="-285750">
              <a:buFont typeface="Arial" panose="020B0604020202020204" pitchFamily="34" charset="0"/>
              <a:buChar char="•"/>
            </a:pPr>
            <a:r>
              <a:rPr lang="en-US" b="1" dirty="0"/>
              <a:t>Reached</a:t>
            </a:r>
            <a:r>
              <a:rPr lang="en-US" dirty="0"/>
              <a:t> data structure: holds references to all visited nodes (gray and green) and is used to prevent visiting nodes more than once (cycle and redundant path checking).</a:t>
            </a:r>
          </a:p>
          <a:p>
            <a:pPr marL="285750" indent="-285750">
              <a:buFont typeface="Arial" panose="020B0604020202020204" pitchFamily="34" charset="0"/>
              <a:buChar char="•"/>
            </a:pPr>
            <a:r>
              <a:rPr lang="en-US" dirty="0"/>
              <a:t>Builds a</a:t>
            </a:r>
            <a:r>
              <a:rPr lang="en-US" b="1" dirty="0"/>
              <a:t> complete tree </a:t>
            </a:r>
            <a:r>
              <a:rPr lang="en-US" dirty="0"/>
              <a:t>with links between parent and child.</a:t>
            </a:r>
            <a:endParaRPr lang="en-US" b="1" dirty="0"/>
          </a:p>
        </p:txBody>
      </p:sp>
      <p:sp>
        <p:nvSpPr>
          <p:cNvPr id="4" name="Speech Bubble: Rectangle with Corners Rounded 3">
            <a:extLst>
              <a:ext uri="{FF2B5EF4-FFF2-40B4-BE49-F238E27FC236}">
                <a16:creationId xmlns:a16="http://schemas.microsoft.com/office/drawing/2014/main" id="{FE6813BC-EDC6-FB5E-4B0B-4D556B3CBA74}"/>
              </a:ext>
            </a:extLst>
          </p:cNvPr>
          <p:cNvSpPr/>
          <p:nvPr/>
        </p:nvSpPr>
        <p:spPr>
          <a:xfrm>
            <a:off x="7162800" y="990599"/>
            <a:ext cx="1752600" cy="665609"/>
          </a:xfrm>
          <a:prstGeom prst="wedgeRoundRectCallout">
            <a:avLst>
              <a:gd name="adj1" fmla="val 6010"/>
              <a:gd name="adj2" fmla="val 22512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All nodes are in memory!</a:t>
            </a:r>
          </a:p>
        </p:txBody>
      </p:sp>
    </p:spTree>
    <p:extLst>
      <p:ext uri="{BB962C8B-B14F-4D97-AF65-F5344CB8AC3E}">
        <p14:creationId xmlns:p14="http://schemas.microsoft.com/office/powerpoint/2010/main" val="3460953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Best-First Search Strategy</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4294967295"/>
          </p:nvPr>
        </p:nvSpPr>
        <p:spPr>
          <a:xfrm>
            <a:off x="6457950" y="5499221"/>
            <a:ext cx="2057400" cy="365125"/>
          </a:xfrm>
        </p:spPr>
        <p:txBody>
          <a:bodyPr/>
          <a:lstStyle/>
          <a:p>
            <a:fld id="{E97C47EE-1537-423B-A9B2-96D7BC867AC1}" type="slidenum">
              <a:rPr lang="en-US" smtClean="0"/>
              <a:t>19</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1905000"/>
            <a:ext cx="6896100" cy="3197346"/>
          </a:xfrm>
          <a:prstGeom prst="rect">
            <a:avLst/>
          </a:prstGeom>
        </p:spPr>
        <p:style>
          <a:lnRef idx="2">
            <a:schemeClr val="accent2"/>
          </a:lnRef>
          <a:fillRef idx="1">
            <a:schemeClr val="lt1"/>
          </a:fillRef>
          <a:effectRef idx="0">
            <a:schemeClr val="accent2"/>
          </a:effectRef>
          <a:fontRef idx="minor">
            <a:schemeClr val="dk1"/>
          </a:fontRef>
        </p:style>
      </p:pic>
      <p:pic>
        <p:nvPicPr>
          <p:cNvPr id="9" name="Picture 8">
            <a:extLst>
              <a:ext uri="{FF2B5EF4-FFF2-40B4-BE49-F238E27FC236}">
                <a16:creationId xmlns:a16="http://schemas.microsoft.com/office/drawing/2014/main" id="{438F9036-57F1-4C99-AE93-8BB0D0007B5B}"/>
              </a:ext>
            </a:extLst>
          </p:cNvPr>
          <p:cNvPicPr>
            <a:picLocks noChangeAspect="1"/>
          </p:cNvPicPr>
          <p:nvPr/>
        </p:nvPicPr>
        <p:blipFill>
          <a:blip r:embed="rId3"/>
          <a:stretch>
            <a:fillRect/>
          </a:stretch>
        </p:blipFill>
        <p:spPr>
          <a:xfrm>
            <a:off x="800102" y="1255541"/>
            <a:ext cx="6896099" cy="708873"/>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416295"/>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863B32-1384-4BAF-80CC-FCB326C1908A}"/>
              </a:ext>
            </a:extLst>
          </p:cNvPr>
          <p:cNvSpPr/>
          <p:nvPr/>
        </p:nvSpPr>
        <p:spPr>
          <a:xfrm>
            <a:off x="3352800" y="4016495"/>
            <a:ext cx="3429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1959095"/>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B8D264A-08AF-4F7D-BAF2-F6130A073787}"/>
              </a:ext>
            </a:extLst>
          </p:cNvPr>
          <p:cNvSpPr/>
          <p:nvPr/>
        </p:nvSpPr>
        <p:spPr>
          <a:xfrm>
            <a:off x="4276724" y="1582216"/>
            <a:ext cx="1009652" cy="23971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2924667"/>
            <a:ext cx="2705100" cy="1018682"/>
          </a:xfrm>
          <a:prstGeom prst="wedgeRoundRectCallout">
            <a:avLst>
              <a:gd name="adj1" fmla="val -128283"/>
              <a:gd name="adj2" fmla="val -8456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 </a:t>
            </a:r>
            <a:r>
              <a:rPr lang="en-US" sz="1600" dirty="0"/>
              <a:t>= path cost from the initial state to node </a:t>
            </a:r>
            <a:r>
              <a:rPr lang="en-US" sz="1600" i="1" dirty="0"/>
              <a:t>n</a:t>
            </a:r>
            <a:r>
              <a:rPr lang="en-US" sz="1600" dirty="0"/>
              <a:t>.</a:t>
            </a:r>
          </a:p>
        </p:txBody>
      </p:sp>
      <p:cxnSp>
        <p:nvCxnSpPr>
          <p:cNvPr id="5" name="Straight Arrow Connector 4">
            <a:extLst>
              <a:ext uri="{FF2B5EF4-FFF2-40B4-BE49-F238E27FC236}">
                <a16:creationId xmlns:a16="http://schemas.microsoft.com/office/drawing/2014/main" id="{F5E84C67-3438-4AA3-8F22-60E274BA8027}"/>
              </a:ext>
            </a:extLst>
          </p:cNvPr>
          <p:cNvCxnSpPr>
            <a:cxnSpLocks/>
            <a:endCxn id="12" idx="0"/>
          </p:cNvCxnSpPr>
          <p:nvPr/>
        </p:nvCxnSpPr>
        <p:spPr>
          <a:xfrm flipH="1">
            <a:off x="4229100" y="1821929"/>
            <a:ext cx="342900" cy="13716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 name="TextBox 2">
            <a:extLst>
              <a:ext uri="{FF2B5EF4-FFF2-40B4-BE49-F238E27FC236}">
                <a16:creationId xmlns:a16="http://schemas.microsoft.com/office/drawing/2014/main" id="{BE24C076-547E-05DC-DEFE-AC8754A7B5D4}"/>
              </a:ext>
            </a:extLst>
          </p:cNvPr>
          <p:cNvSpPr txBox="1"/>
          <p:nvPr/>
        </p:nvSpPr>
        <p:spPr>
          <a:xfrm>
            <a:off x="495300" y="149346"/>
            <a:ext cx="7696200" cy="64633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This is a generalization of Breadth-first search that expands the search based on cost and not on the number of steps.</a:t>
            </a:r>
          </a:p>
        </p:txBody>
      </p:sp>
      <p:pic>
        <p:nvPicPr>
          <p:cNvPr id="15" name="Picture 14">
            <a:extLst>
              <a:ext uri="{FF2B5EF4-FFF2-40B4-BE49-F238E27FC236}">
                <a16:creationId xmlns:a16="http://schemas.microsoft.com/office/drawing/2014/main" id="{B0A3A127-F2B7-579A-B07B-FC06C4BB01FC}"/>
              </a:ext>
            </a:extLst>
          </p:cNvPr>
          <p:cNvPicPr>
            <a:picLocks noChangeAspect="1"/>
          </p:cNvPicPr>
          <p:nvPr/>
        </p:nvPicPr>
        <p:blipFill>
          <a:blip r:embed="rId4"/>
          <a:stretch>
            <a:fillRect/>
          </a:stretch>
        </p:blipFill>
        <p:spPr>
          <a:xfrm>
            <a:off x="800101" y="5029563"/>
            <a:ext cx="6896100" cy="1599837"/>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6275349" y="4568946"/>
            <a:ext cx="2705100" cy="1222375"/>
          </a:xfrm>
          <a:prstGeom prst="wedgeRoundRectCallout">
            <a:avLst>
              <a:gd name="adj1" fmla="val -69529"/>
              <a:gd name="adj2" fmla="val -7130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This check is added to BFS! It visits a node again if it can be reached by a better (cheaper) path.</a:t>
            </a:r>
          </a:p>
        </p:txBody>
      </p:sp>
      <p:sp>
        <p:nvSpPr>
          <p:cNvPr id="8" name="Speech Bubble: Rectangle with Corners Rounded 7">
            <a:extLst>
              <a:ext uri="{FF2B5EF4-FFF2-40B4-BE49-F238E27FC236}">
                <a16:creationId xmlns:a16="http://schemas.microsoft.com/office/drawing/2014/main" id="{5F4FF304-E63B-840C-985C-18EF948C31A3}"/>
              </a:ext>
            </a:extLst>
          </p:cNvPr>
          <p:cNvSpPr/>
          <p:nvPr/>
        </p:nvSpPr>
        <p:spPr>
          <a:xfrm>
            <a:off x="7223981" y="1527268"/>
            <a:ext cx="1767619" cy="1091897"/>
          </a:xfrm>
          <a:prstGeom prst="wedgeRoundRectCallout">
            <a:avLst>
              <a:gd name="adj1" fmla="val -159390"/>
              <a:gd name="adj2" fmla="val -3491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cost with a cost of 1 per action makes the priority queue behave like a FIFO queue!</a:t>
            </a:r>
          </a:p>
        </p:txBody>
      </p:sp>
    </p:spTree>
    <p:extLst>
      <p:ext uri="{BB962C8B-B14F-4D97-AF65-F5344CB8AC3E}">
        <p14:creationId xmlns:p14="http://schemas.microsoft.com/office/powerpoint/2010/main" val="726737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EDE0D-C919-424A-9D58-734DBE89FA8C}"/>
              </a:ext>
            </a:extLst>
          </p:cNvPr>
          <p:cNvSpPr>
            <a:spLocks noGrp="1"/>
          </p:cNvSpPr>
          <p:nvPr>
            <p:ph type="title"/>
          </p:nvPr>
        </p:nvSpPr>
        <p:spPr>
          <a:xfrm>
            <a:off x="628650" y="365126"/>
            <a:ext cx="2343150" cy="1325563"/>
          </a:xfrm>
        </p:spPr>
        <p:txBody>
          <a:bodyPr/>
          <a:lstStyle/>
          <a:p>
            <a:r>
              <a:rPr lang="en-US" dirty="0"/>
              <a:t>Depth-First Search (DFS)</a:t>
            </a:r>
          </a:p>
        </p:txBody>
      </p:sp>
      <p:sp>
        <p:nvSpPr>
          <p:cNvPr id="3" name="Content Placeholder 2">
            <a:extLst>
              <a:ext uri="{FF2B5EF4-FFF2-40B4-BE49-F238E27FC236}">
                <a16:creationId xmlns:a16="http://schemas.microsoft.com/office/drawing/2014/main" id="{3A70A56C-8F9C-4D35-94FD-EAECDC56E6A8}"/>
              </a:ext>
            </a:extLst>
          </p:cNvPr>
          <p:cNvSpPr>
            <a:spLocks noGrp="1"/>
          </p:cNvSpPr>
          <p:nvPr>
            <p:ph idx="1"/>
          </p:nvPr>
        </p:nvSpPr>
        <p:spPr>
          <a:xfrm>
            <a:off x="628650" y="1825625"/>
            <a:ext cx="2114550" cy="4351338"/>
          </a:xfrm>
        </p:spPr>
        <p:txBody>
          <a:bodyPr>
            <a:normAutofit fontScale="92500" lnSpcReduction="20000"/>
          </a:bodyPr>
          <a:lstStyle/>
          <a:p>
            <a:r>
              <a:rPr lang="en-US" sz="2000" b="1" dirty="0"/>
              <a:t>Expansion rule</a:t>
            </a:r>
            <a:r>
              <a:rPr lang="en-US" sz="2000" dirty="0"/>
              <a:t>: Expand deepest unexpanded node in the frontier (last added).</a:t>
            </a:r>
          </a:p>
          <a:p>
            <a:r>
              <a:rPr lang="en-US" sz="2000" b="1" dirty="0"/>
              <a:t>Frontier</a:t>
            </a:r>
            <a:r>
              <a:rPr lang="en-US" sz="2000" dirty="0"/>
              <a:t>: </a:t>
            </a:r>
            <a:r>
              <a:rPr lang="en-US" sz="2000" b="1" dirty="0"/>
              <a:t>stack</a:t>
            </a:r>
            <a:r>
              <a:rPr lang="en-US" sz="2000" dirty="0"/>
              <a:t> (LIFO)</a:t>
            </a:r>
          </a:p>
          <a:p>
            <a:r>
              <a:rPr lang="en-US" sz="2000" b="1" dirty="0">
                <a:solidFill>
                  <a:srgbClr val="FF0000"/>
                </a:solidFill>
              </a:rPr>
              <a:t>No reached data structure! </a:t>
            </a:r>
            <a:br>
              <a:rPr lang="en-US" sz="2000" b="1" dirty="0">
                <a:solidFill>
                  <a:srgbClr val="FF0000"/>
                </a:solidFill>
              </a:rPr>
            </a:br>
            <a:br>
              <a:rPr lang="en-US" sz="2000" b="1" dirty="0">
                <a:solidFill>
                  <a:srgbClr val="FF0000"/>
                </a:solidFill>
              </a:rPr>
            </a:br>
            <a:r>
              <a:rPr lang="en-US" sz="2000" b="1" dirty="0"/>
              <a:t>Cycle checking </a:t>
            </a:r>
            <a:r>
              <a:rPr lang="en-US" sz="2000" dirty="0"/>
              <a:t>checks only the current path. </a:t>
            </a:r>
            <a:br>
              <a:rPr lang="en-US" sz="2000" dirty="0"/>
            </a:br>
            <a:br>
              <a:rPr lang="en-US" sz="2000" dirty="0"/>
            </a:br>
            <a:r>
              <a:rPr lang="en-US" sz="2000" b="1" dirty="0"/>
              <a:t>Redundant paths </a:t>
            </a:r>
            <a:r>
              <a:rPr lang="en-US" sz="2000" dirty="0"/>
              <a:t>can not be identified and lead to replicated work. </a:t>
            </a:r>
            <a:endParaRPr lang="en-US" sz="2400" dirty="0"/>
          </a:p>
          <a:p>
            <a:endParaRPr lang="en-US" dirty="0"/>
          </a:p>
        </p:txBody>
      </p:sp>
      <p:pic>
        <p:nvPicPr>
          <p:cNvPr id="4" name="Picture 3">
            <a:extLst>
              <a:ext uri="{FF2B5EF4-FFF2-40B4-BE49-F238E27FC236}">
                <a16:creationId xmlns:a16="http://schemas.microsoft.com/office/drawing/2014/main" id="{4F3E8888-6463-47FB-AB16-25AF11291810}"/>
              </a:ext>
            </a:extLst>
          </p:cNvPr>
          <p:cNvPicPr>
            <a:picLocks noChangeAspect="1"/>
          </p:cNvPicPr>
          <p:nvPr/>
        </p:nvPicPr>
        <p:blipFill>
          <a:blip r:embed="rId2"/>
          <a:stretch>
            <a:fillRect/>
          </a:stretch>
        </p:blipFill>
        <p:spPr>
          <a:xfrm>
            <a:off x="2819400" y="457200"/>
            <a:ext cx="6165376" cy="5943600"/>
          </a:xfrm>
          <a:prstGeom prst="rect">
            <a:avLst/>
          </a:prstGeom>
        </p:spPr>
      </p:pic>
      <p:sp>
        <p:nvSpPr>
          <p:cNvPr id="6" name="Speech Bubble: Rectangle with Corners Rounded 5">
            <a:extLst>
              <a:ext uri="{FF2B5EF4-FFF2-40B4-BE49-F238E27FC236}">
                <a16:creationId xmlns:a16="http://schemas.microsoft.com/office/drawing/2014/main" id="{9826D1D5-85A6-CAA5-60FC-9BA4256C1D28}"/>
              </a:ext>
            </a:extLst>
          </p:cNvPr>
          <p:cNvSpPr/>
          <p:nvPr/>
        </p:nvSpPr>
        <p:spPr>
          <a:xfrm>
            <a:off x="6248400" y="5486400"/>
            <a:ext cx="1600200" cy="757237"/>
          </a:xfrm>
          <a:prstGeom prst="wedgeRoundRectCallout">
            <a:avLst>
              <a:gd name="adj1" fmla="val 22434"/>
              <a:gd name="adj2" fmla="val -8538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100" dirty="0"/>
              <a:t>Memory management: only the current path is in memory!</a:t>
            </a:r>
          </a:p>
        </p:txBody>
      </p:sp>
    </p:spTree>
    <p:extLst>
      <p:ext uri="{BB962C8B-B14F-4D97-AF65-F5344CB8AC3E}">
        <p14:creationId xmlns:p14="http://schemas.microsoft.com/office/powerpoint/2010/main" val="65194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628650" y="304800"/>
            <a:ext cx="1809750" cy="2225674"/>
          </a:xfrm>
        </p:spPr>
        <p:txBody>
          <a:bodyPr>
            <a:noAutofit/>
          </a:bodyPr>
          <a:lstStyle/>
          <a:p>
            <a:r>
              <a:rPr lang="en-US" sz="2800" dirty="0"/>
              <a:t>Iterative Deepening Search (IDS)</a:t>
            </a:r>
          </a:p>
        </p:txBody>
      </p:sp>
      <p:pic>
        <p:nvPicPr>
          <p:cNvPr id="2" name="Picture 1">
            <a:extLst>
              <a:ext uri="{FF2B5EF4-FFF2-40B4-BE49-F238E27FC236}">
                <a16:creationId xmlns:a16="http://schemas.microsoft.com/office/drawing/2014/main" id="{9A793F5F-7E17-4BCF-BDFC-AD093FF0BEC5}"/>
              </a:ext>
            </a:extLst>
          </p:cNvPr>
          <p:cNvPicPr>
            <a:picLocks noChangeAspect="1"/>
          </p:cNvPicPr>
          <p:nvPr/>
        </p:nvPicPr>
        <p:blipFill>
          <a:blip r:embed="rId3"/>
          <a:stretch>
            <a:fillRect/>
          </a:stretch>
        </p:blipFill>
        <p:spPr>
          <a:xfrm>
            <a:off x="2329211" y="411512"/>
            <a:ext cx="6838950" cy="6294088"/>
          </a:xfrm>
          <a:prstGeom prst="rect">
            <a:avLst/>
          </a:prstGeom>
        </p:spPr>
      </p:pic>
      <p:sp>
        <p:nvSpPr>
          <p:cNvPr id="3" name="TextBox 2">
            <a:extLst>
              <a:ext uri="{FF2B5EF4-FFF2-40B4-BE49-F238E27FC236}">
                <a16:creationId xmlns:a16="http://schemas.microsoft.com/office/drawing/2014/main" id="{6A0CD7BA-46F0-29B4-BA7F-02A623FDDB33}"/>
              </a:ext>
            </a:extLst>
          </p:cNvPr>
          <p:cNvSpPr txBox="1"/>
          <p:nvPr/>
        </p:nvSpPr>
        <p:spPr>
          <a:xfrm rot="19472353">
            <a:off x="196847" y="3645605"/>
            <a:ext cx="396240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This is a very important algorithm in AI!</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6AD6C-AEE9-4E04-B1F4-A923B66B8685}"/>
              </a:ext>
            </a:extLst>
          </p:cNvPr>
          <p:cNvSpPr>
            <a:spLocks noGrp="1"/>
          </p:cNvSpPr>
          <p:nvPr>
            <p:ph type="title"/>
          </p:nvPr>
        </p:nvSpPr>
        <p:spPr>
          <a:xfrm>
            <a:off x="628650" y="365126"/>
            <a:ext cx="8020050" cy="1325563"/>
          </a:xfrm>
        </p:spPr>
        <p:txBody>
          <a:bodyPr/>
          <a:lstStyle/>
          <a:p>
            <a:r>
              <a:rPr lang="en-US" dirty="0"/>
              <a:t>Implementation: DFS (called iteratively by IDS)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01765E-906E-4BF3-A57E-5E064501538F}"/>
                  </a:ext>
                </a:extLst>
              </p:cNvPr>
              <p:cNvSpPr>
                <a:spLocks noGrp="1"/>
              </p:cNvSpPr>
              <p:nvPr>
                <p:ph idx="1"/>
              </p:nvPr>
            </p:nvSpPr>
            <p:spPr>
              <a:xfrm>
                <a:off x="628650" y="1453732"/>
                <a:ext cx="7886700" cy="1822501"/>
              </a:xfrm>
            </p:spPr>
            <p:txBody>
              <a:bodyPr>
                <a:normAutofit fontScale="77500" lnSpcReduction="20000"/>
              </a:bodyPr>
              <a:lstStyle/>
              <a:p>
                <a:r>
                  <a:rPr lang="en-US" dirty="0"/>
                  <a:t>DFS could be implemented like BFS/Best-first search, just taking the last element from the frontier (LIFO). However, to reduce the space complexity to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m:t>
                    </m:r>
                    <m:r>
                      <a:rPr lang="en-US" i="1" dirty="0" smtClean="0">
                        <a:latin typeface="Cambria Math" panose="02040503050406030204" pitchFamily="18" charset="0"/>
                      </a:rPr>
                      <m:t>𝑏𝑚</m:t>
                    </m:r>
                    <m:r>
                      <a:rPr lang="en-US" i="1" dirty="0" smtClean="0">
                        <a:latin typeface="Cambria Math" panose="02040503050406030204" pitchFamily="18" charset="0"/>
                      </a:rPr>
                      <m:t>)</m:t>
                    </m:r>
                  </m:oMath>
                </a14:m>
                <a:r>
                  <a:rPr lang="en-US" i="1" dirty="0"/>
                  <a:t>, </a:t>
                </a:r>
                <a:r>
                  <a:rPr lang="en-US" b="1" dirty="0">
                    <a:solidFill>
                      <a:srgbClr val="FF0000"/>
                    </a:solidFill>
                  </a:rPr>
                  <a:t>no reached data structure can be used!</a:t>
                </a:r>
                <a:r>
                  <a:rPr lang="en-US" dirty="0"/>
                  <a:t> </a:t>
                </a:r>
              </a:p>
              <a:p>
                <a:r>
                  <a:rPr lang="en-US" dirty="0"/>
                  <a:t>Options: </a:t>
                </a:r>
              </a:p>
              <a:p>
                <a:pPr lvl="1"/>
                <a:r>
                  <a:rPr lang="en-US" b="1" dirty="0"/>
                  <a:t>Iterative implementation</a:t>
                </a:r>
                <a:r>
                  <a:rPr lang="en-US" dirty="0"/>
                  <a:t>: Build the tree, and abandoned branches are removed from memory. Cycle checking is only done against the current path. This is similar to Backtracking search.</a:t>
                </a:r>
              </a:p>
              <a:p>
                <a:pPr lvl="1"/>
                <a:r>
                  <a:rPr lang="en-US" dirty="0"/>
                  <a:t>Recursive implementation: Cycle checking is an issue because the current path is stored in the function call stack, which is not accessible to the function. An additional data structure that contains the nodes in the current path can be used.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3301765E-906E-4BF3-A57E-5E064501538F}"/>
                  </a:ext>
                </a:extLst>
              </p:cNvPr>
              <p:cNvSpPr>
                <a:spLocks noGrp="1" noRot="1" noChangeAspect="1" noMove="1" noResize="1" noEditPoints="1" noAdjustHandles="1" noChangeArrowheads="1" noChangeShapeType="1" noTextEdit="1"/>
              </p:cNvSpPr>
              <p:nvPr>
                <p:ph idx="1"/>
              </p:nvPr>
            </p:nvSpPr>
            <p:spPr>
              <a:xfrm>
                <a:off x="628650" y="1453732"/>
                <a:ext cx="7886700" cy="1822501"/>
              </a:xfrm>
              <a:blipFill>
                <a:blip r:embed="rId2"/>
                <a:stretch>
                  <a:fillRect l="-309" t="-4348"/>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61C5808-93A6-4647-A076-DB3072D09DEF}"/>
              </a:ext>
            </a:extLst>
          </p:cNvPr>
          <p:cNvPicPr>
            <a:picLocks noChangeAspect="1"/>
          </p:cNvPicPr>
          <p:nvPr/>
        </p:nvPicPr>
        <p:blipFill>
          <a:blip r:embed="rId3"/>
          <a:stretch>
            <a:fillRect/>
          </a:stretch>
        </p:blipFill>
        <p:spPr>
          <a:xfrm>
            <a:off x="678831" y="33528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0509AEDD-D45E-4C06-BAE9-2996AF55A9CA}"/>
              </a:ext>
            </a:extLst>
          </p:cNvPr>
          <p:cNvSpPr/>
          <p:nvPr/>
        </p:nvSpPr>
        <p:spPr>
          <a:xfrm>
            <a:off x="5867400" y="4673133"/>
            <a:ext cx="3200400" cy="1693913"/>
          </a:xfrm>
          <a:prstGeom prst="wedgeRoundRectCallout">
            <a:avLst>
              <a:gd name="adj1" fmla="val -128276"/>
              <a:gd name="adj2" fmla="val -833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t>Cycles</a:t>
            </a:r>
            <a:r>
              <a:rPr lang="en-US" sz="1400" dirty="0"/>
              <a:t>: Prevent cycles by checking against the current path. We also need to ensure that the frontier does not contain the same state more than once.</a:t>
            </a:r>
          </a:p>
          <a:p>
            <a:endParaRPr lang="en-US" sz="1400" dirty="0"/>
          </a:p>
          <a:p>
            <a:r>
              <a:rPr lang="en-US" sz="1400" b="1" dirty="0"/>
              <a:t>Redundant paths</a:t>
            </a:r>
            <a:r>
              <a:rPr lang="en-US" sz="1400" dirty="0"/>
              <a:t>: We cannot prevent other redundant paths.</a:t>
            </a:r>
          </a:p>
        </p:txBody>
      </p:sp>
      <p:sp>
        <p:nvSpPr>
          <p:cNvPr id="20" name="TextBox 19">
            <a:extLst>
              <a:ext uri="{FF2B5EF4-FFF2-40B4-BE49-F238E27FC236}">
                <a16:creationId xmlns:a16="http://schemas.microsoft.com/office/drawing/2014/main" id="{3FC2994C-6D52-4ABE-B3F7-03E4BECDA0BD}"/>
              </a:ext>
            </a:extLst>
          </p:cNvPr>
          <p:cNvSpPr txBox="1"/>
          <p:nvPr/>
        </p:nvSpPr>
        <p:spPr>
          <a:xfrm>
            <a:off x="628650" y="6367046"/>
            <a:ext cx="4572000" cy="338554"/>
          </a:xfrm>
          <a:prstGeom prst="rect">
            <a:avLst/>
          </a:prstGeom>
          <a:noFill/>
        </p:spPr>
        <p:txBody>
          <a:bodyPr wrap="square">
            <a:spAutoFit/>
          </a:bodyPr>
          <a:lstStyle/>
          <a:p>
            <a:r>
              <a:rPr lang="en-US" sz="1600" dirty="0"/>
              <a:t>See BFS for function EXPAND.</a:t>
            </a:r>
          </a:p>
        </p:txBody>
      </p:sp>
      <mc:AlternateContent xmlns:mc="http://schemas.openxmlformats.org/markup-compatibility/2006" xmlns:a14="http://schemas.microsoft.com/office/drawing/2010/main">
        <mc:Choice Requires="a14">
          <p:sp>
            <p:nvSpPr>
              <p:cNvPr id="21" name="Speech Bubble: Rectangle with Corners Rounded 20">
                <a:extLst>
                  <a:ext uri="{FF2B5EF4-FFF2-40B4-BE49-F238E27FC236}">
                    <a16:creationId xmlns:a16="http://schemas.microsoft.com/office/drawing/2014/main" id="{B6482B3F-9441-443F-8FD6-D9E33B5552AA}"/>
                  </a:ext>
                </a:extLst>
              </p:cNvPr>
              <p:cNvSpPr/>
              <p:nvPr/>
            </p:nvSpPr>
            <p:spPr>
              <a:xfrm>
                <a:off x="5638800" y="3081388"/>
                <a:ext cx="1742842" cy="271412"/>
              </a:xfrm>
              <a:prstGeom prst="wedgeRoundRectCallout">
                <a:avLst>
                  <a:gd name="adj1" fmla="val -95083"/>
                  <a:gd name="adj2" fmla="val 8395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DFS uses </a:t>
                </a:r>
                <a:r>
                  <a:rPr lang="en-US" sz="1600" dirty="0">
                    <a:latin typeface="Cambria Math" panose="02040503050406030204" pitchFamily="18" charset="0"/>
                    <a:ea typeface="Cambria Math" panose="02040503050406030204" pitchFamily="18" charset="0"/>
                  </a:rPr>
                  <a:t>ℓ </a:t>
                </a:r>
                <a14:m>
                  <m:oMath xmlns:m="http://schemas.openxmlformats.org/officeDocument/2006/math">
                    <m:r>
                      <a:rPr lang="en-US" sz="1600" b="0" i="1" smtClean="0">
                        <a:latin typeface="Cambria Math" panose="02040503050406030204" pitchFamily="18" charset="0"/>
                      </a:rPr>
                      <m:t>=∞</m:t>
                    </m:r>
                  </m:oMath>
                </a14:m>
                <a:endParaRPr lang="en-US" sz="1600" dirty="0"/>
              </a:p>
            </p:txBody>
          </p:sp>
        </mc:Choice>
        <mc:Fallback xmlns="">
          <p:sp>
            <p:nvSpPr>
              <p:cNvPr id="21" name="Speech Bubble: Rectangle with Corners Rounded 20">
                <a:extLst>
                  <a:ext uri="{FF2B5EF4-FFF2-40B4-BE49-F238E27FC236}">
                    <a16:creationId xmlns:a16="http://schemas.microsoft.com/office/drawing/2014/main" id="{B6482B3F-9441-443F-8FD6-D9E33B5552AA}"/>
                  </a:ext>
                </a:extLst>
              </p:cNvPr>
              <p:cNvSpPr>
                <a:spLocks noRot="1" noChangeAspect="1" noMove="1" noResize="1" noEditPoints="1" noAdjustHandles="1" noChangeArrowheads="1" noChangeShapeType="1" noTextEdit="1"/>
              </p:cNvSpPr>
              <p:nvPr/>
            </p:nvSpPr>
            <p:spPr>
              <a:xfrm>
                <a:off x="5638800" y="3081388"/>
                <a:ext cx="1742842" cy="271412"/>
              </a:xfrm>
              <a:prstGeom prst="wedgeRoundRectCallout">
                <a:avLst>
                  <a:gd name="adj1" fmla="val -95083"/>
                  <a:gd name="adj2" fmla="val 83958"/>
                  <a:gd name="adj3" fmla="val 16667"/>
                </a:avLst>
              </a:prstGeom>
              <a:blipFill>
                <a:blip r:embed="rId4"/>
                <a:stretch>
                  <a:fillRect t="-1406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F8F1B3D2-0835-BF3E-7767-B737E560C40E}"/>
              </a:ext>
            </a:extLst>
          </p:cNvPr>
          <p:cNvSpPr/>
          <p:nvPr/>
        </p:nvSpPr>
        <p:spPr>
          <a:xfrm>
            <a:off x="2152650" y="5334000"/>
            <a:ext cx="895350" cy="3048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8C33DF3-50DC-30B2-5B44-8E50DDA828C3}"/>
              </a:ext>
            </a:extLst>
          </p:cNvPr>
          <p:cNvSpPr/>
          <p:nvPr/>
        </p:nvSpPr>
        <p:spPr>
          <a:xfrm>
            <a:off x="2152650" y="3671889"/>
            <a:ext cx="1657350" cy="25712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EC9D3023-FE19-6A56-0EEC-558872B9A97C}"/>
              </a:ext>
            </a:extLst>
          </p:cNvPr>
          <p:cNvSpPr/>
          <p:nvPr/>
        </p:nvSpPr>
        <p:spPr>
          <a:xfrm>
            <a:off x="5851070" y="3959878"/>
            <a:ext cx="3200399" cy="584667"/>
          </a:xfrm>
          <a:prstGeom prst="wedgeRoundRectCallout">
            <a:avLst>
              <a:gd name="adj1" fmla="val -141829"/>
              <a:gd name="adj2" fmla="val 3076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Memory management: remove nodes for abandoned branches here!</a:t>
            </a:r>
          </a:p>
        </p:txBody>
      </p:sp>
      <p:sp>
        <p:nvSpPr>
          <p:cNvPr id="8" name="TextBox 7">
            <a:extLst>
              <a:ext uri="{FF2B5EF4-FFF2-40B4-BE49-F238E27FC236}">
                <a16:creationId xmlns:a16="http://schemas.microsoft.com/office/drawing/2014/main" id="{C81E2620-59AD-CB4A-51C7-42C548871CBF}"/>
              </a:ext>
            </a:extLst>
          </p:cNvPr>
          <p:cNvSpPr txBox="1"/>
          <p:nvPr/>
        </p:nvSpPr>
        <p:spPr>
          <a:xfrm>
            <a:off x="495300" y="149346"/>
            <a:ext cx="769620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DFS is implemented very differently to BFS!</a:t>
            </a:r>
          </a:p>
        </p:txBody>
      </p:sp>
    </p:spTree>
    <p:extLst>
      <p:ext uri="{BB962C8B-B14F-4D97-AF65-F5344CB8AC3E}">
        <p14:creationId xmlns:p14="http://schemas.microsoft.com/office/powerpoint/2010/main" val="15194027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736879" y="358746"/>
            <a:ext cx="8229600" cy="868362"/>
          </a:xfrm>
        </p:spPr>
        <p:txBody>
          <a:bodyPr>
            <a:normAutofit fontScale="90000"/>
          </a:bodyPr>
          <a:lstStyle/>
          <a:p>
            <a:r>
              <a:rPr lang="en-US" dirty="0">
                <a:latin typeface="+mn-lt"/>
              </a:rPr>
              <a:t>Summary: </a:t>
            </a:r>
            <a:br>
              <a:rPr lang="en-US" dirty="0">
                <a:latin typeface="+mn-lt"/>
              </a:rPr>
            </a:br>
            <a:r>
              <a:rPr lang="en-US" dirty="0">
                <a:latin typeface="+mn-lt"/>
              </a:rPr>
              <a:t>All Search Strategies</a:t>
            </a:r>
          </a:p>
        </p:txBody>
      </p:sp>
      <mc:AlternateContent xmlns:mc="http://schemas.openxmlformats.org/markup-compatibility/2006" xmlns:a14="http://schemas.microsoft.com/office/drawing/2010/main">
        <mc:Choice Requires="a14">
          <p:graphicFrame>
            <p:nvGraphicFramePr>
              <p:cNvPr id="7" name="Table 6"/>
              <p:cNvGraphicFramePr>
                <a:graphicFrameLocks noGrp="1"/>
              </p:cNvGraphicFramePr>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592125">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27583">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14:m>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2"/>
                      </a:ext>
                    </a:extLst>
                  </a:tr>
                  <a:tr h="698004">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𝑏𝑚</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smtClean="0">
                                    <a:latin typeface="Cambria Math" panose="02040503050406030204" pitchFamily="18" charset="0"/>
                                  </a:rPr>
                                  <m:t>𝑏𝑑</m:t>
                                </m:r>
                                <m:r>
                                  <a:rPr lang="en-US" sz="1600" i="1" dirty="0" smtClean="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685744">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pPr algn="ctr"/>
                          <a:r>
                            <a:rPr lang="en-US" sz="1600" dirty="0"/>
                            <a:t>Depends on heuristic</a:t>
                          </a:r>
                          <a:br>
                            <a:rPr lang="en-US" sz="1600" dirty="0"/>
                          </a:br>
                          <a14:m>
                            <m:oMathPara xmlns:m="http://schemas.openxmlformats.org/officeDocument/2006/math">
                              <m:oMathParaPr>
                                <m:jc m:val="center"/>
                              </m:oMathParaPr>
                              <m:oMath xmlns:m="http://schemas.openxmlformats.org/officeDocument/2006/math">
                                <m:r>
                                  <m:rPr>
                                    <m:nor/>
                                  </m:rPr>
                                  <a:rPr lang="en-US" sz="1600" dirty="0" smtClean="0"/>
                                  <m:t>Best</m:t>
                                </m:r>
                                <m:r>
                                  <m:rPr>
                                    <m:nor/>
                                  </m:rPr>
                                  <a:rPr lang="en-US" sz="1600" dirty="0" smtClean="0"/>
                                  <m:t> </m:t>
                                </m:r>
                                <m:r>
                                  <m:rPr>
                                    <m:nor/>
                                  </m:rPr>
                                  <a:rPr lang="en-US" sz="1600" dirty="0" smtClean="0"/>
                                  <m:t>case</m:t>
                                </m:r>
                                <m:r>
                                  <m:rPr>
                                    <m:nor/>
                                  </m:rPr>
                                  <a:rPr lang="en-US" sz="1600" dirty="0" smtClean="0"/>
                                  <m:t>: </m:t>
                                </m:r>
                                <m:r>
                                  <a:rPr lang="en-US" sz="1600" i="1" dirty="0">
                                    <a:latin typeface="Cambria Math" panose="02040503050406030204" pitchFamily="18" charset="0"/>
                                  </a:rPr>
                                  <m:t>𝑂</m:t>
                                </m:r>
                                <m:r>
                                  <a:rPr lang="en-US" sz="1600" i="1" dirty="0">
                                    <a:latin typeface="Cambria Math" panose="02040503050406030204" pitchFamily="18" charset="0"/>
                                  </a:rPr>
                                  <m:t>(</m:t>
                                </m:r>
                                <m:r>
                                  <a:rPr lang="en-US" sz="1600" i="1" dirty="0" err="1">
                                    <a:latin typeface="Cambria Math" panose="02040503050406030204" pitchFamily="18" charset="0"/>
                                  </a:rPr>
                                  <m:t>𝑏𝑑</m:t>
                                </m:r>
                                <m:r>
                                  <a:rPr lang="en-US" sz="1600" i="1" dirty="0">
                                    <a:latin typeface="Cambria Math" panose="02040503050406030204" pitchFamily="18" charset="0"/>
                                  </a:rPr>
                                  <m:t>)</m:t>
                                </m:r>
                              </m:oMath>
                            </m:oMathPara>
                          </a14:m>
                          <a:endParaRPr lang="en-US" sz="1600" dirty="0"/>
                        </a:p>
                        <a:p>
                          <a:pPr algn="ctr"/>
                          <a:r>
                            <a:rPr lang="en-US" sz="1600" dirty="0">
                              <a:latin typeface="+mn-lt"/>
                            </a:rPr>
                            <a:t>Worst case: </a:t>
                          </a:r>
                          <a14:m>
                            <m:oMath xmlns:m="http://schemas.openxmlformats.org/officeDocument/2006/math">
                              <m:r>
                                <a:rPr lang="en-US" sz="1600" i="1" dirty="0" smtClean="0">
                                  <a:latin typeface="Cambria Math" panose="02040503050406030204" pitchFamily="18" charset="0"/>
                                </a:rPr>
                                <m:t>𝑂</m:t>
                              </m:r>
                              <m:d>
                                <m:dPr>
                                  <m:ctrlPr>
                                    <a:rPr lang="en-US" sz="1600" i="1" dirty="0" smtClean="0">
                                      <a:latin typeface="Cambria Math" panose="02040503050406030204" pitchFamily="18" charset="0"/>
                                    </a:rPr>
                                  </m:ctrlPr>
                                </m:dPr>
                                <m:e>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e>
                              </m:d>
                            </m:oMath>
                          </a14:m>
                          <a:endParaRPr lang="en-US" sz="1600" dirty="0"/>
                        </a:p>
                      </a:txBody>
                      <a:tcPr anchor="ctr">
                        <a:lnT w="38100" cap="flat" cmpd="sng" algn="ctr">
                          <a:solidFill>
                            <a:schemeClr val="tx1"/>
                          </a:solidFill>
                          <a:prstDash val="solid"/>
                          <a:round/>
                          <a:headEnd type="none" w="med" len="med"/>
                          <a:tailEnd type="none" w="med" len="med"/>
                        </a:lnT>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br>
                            <a:rPr lang="en-US" sz="1600" dirty="0">
                              <a:latin typeface="+mn-lt"/>
                            </a:rPr>
                          </a:b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m:oMathPara>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640080">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40080">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endParaRPr lang="en-US"/>
                        </a:p>
                      </a:txBody>
                      <a:tcPr anchor="ctr">
                        <a:blipFill>
                          <a:blip r:embed="rId3"/>
                          <a:stretch>
                            <a:fillRect l="-300769" t="-104762" r="-101923" b="-581905"/>
                          </a:stretch>
                        </a:blipFill>
                      </a:tcPr>
                    </a:tc>
                    <a:tc>
                      <a:txBody>
                        <a:bodyPr/>
                        <a:lstStyle/>
                        <a:p>
                          <a:endParaRPr lang="en-US"/>
                        </a:p>
                      </a:txBody>
                      <a:tcPr anchor="ctr">
                        <a:blipFill>
                          <a:blip r:embed="rId3"/>
                          <a:stretch>
                            <a:fillRect l="-400769" t="-104762" r="-1923" b="-581905"/>
                          </a:stretch>
                        </a:blipFill>
                      </a:tcP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193694" r="-962" b="-450450"/>
                          </a:stretch>
                        </a:blipFill>
                      </a:tcPr>
                    </a:tc>
                    <a:tc hMerge="1">
                      <a:txBody>
                        <a:bodyPr/>
                        <a:lstStyle/>
                        <a:p>
                          <a:endParaRPr lang="en-US" dirty="0"/>
                        </a:p>
                      </a:txBody>
                      <a:tcPr anchor="ctr"/>
                    </a:tc>
                    <a:extLst>
                      <a:ext uri="{0D108BD9-81ED-4DB2-BD59-A6C34878D82A}">
                        <a16:rowId xmlns:a16="http://schemas.microsoft.com/office/drawing/2014/main" val="10002"/>
                      </a:ext>
                    </a:extLst>
                  </a:tr>
                  <a:tr h="822960">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endParaRPr lang="en-US"/>
                        </a:p>
                      </a:txBody>
                      <a:tcPr anchor="ctr">
                        <a:blipFill>
                          <a:blip r:embed="rId3"/>
                          <a:stretch>
                            <a:fillRect l="-300769" t="-241481" r="-101923" b="-270370"/>
                          </a:stretch>
                        </a:blipFill>
                      </a:tcPr>
                    </a:tc>
                    <a:tc>
                      <a:txBody>
                        <a:bodyPr/>
                        <a:lstStyle/>
                        <a:p>
                          <a:endParaRPr lang="en-US"/>
                        </a:p>
                      </a:txBody>
                      <a:tcPr anchor="ctr">
                        <a:blipFill>
                          <a:blip r:embed="rId3"/>
                          <a:stretch>
                            <a:fillRect l="-400769" t="-241481" r="-1923" b="-270370"/>
                          </a:stretch>
                        </a:blipFill>
                      </a:tcP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300769" t="-411607" r="-101923" b="-225893"/>
                          </a:stretch>
                        </a:blipFill>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400769" t="-411607" r="-1923" b="-225893"/>
                          </a:stretch>
                        </a:blipFill>
                      </a:tcPr>
                    </a:tc>
                    <a:extLst>
                      <a:ext uri="{0D108BD9-81ED-4DB2-BD59-A6C34878D82A}">
                        <a16:rowId xmlns:a16="http://schemas.microsoft.com/office/drawing/2014/main" val="10004"/>
                      </a:ext>
                    </a:extLst>
                  </a:tr>
                  <a:tr h="822960">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endParaRPr lang="en-US"/>
                        </a:p>
                      </a:txBody>
                      <a:tcPr anchor="ctr">
                        <a:lnT w="38100" cap="flat" cmpd="sng" algn="ctr">
                          <a:solidFill>
                            <a:schemeClr val="tx1"/>
                          </a:solidFill>
                          <a:prstDash val="solid"/>
                          <a:round/>
                          <a:headEnd type="none" w="med" len="med"/>
                          <a:tailEnd type="none" w="med" len="med"/>
                        </a:lnT>
                        <a:blipFill>
                          <a:blip r:embed="rId3"/>
                          <a:stretch>
                            <a:fillRect l="-150385" t="-424444" r="-962" b="-87407"/>
                          </a:stretch>
                        </a:blipFill>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626549" r="-962" b="-4425"/>
                          </a:stretch>
                        </a:blipFill>
                      </a:tcP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Fallback>
      </mc:AlternateContent>
      <p:sp>
        <p:nvSpPr>
          <p:cNvPr id="3" name="Rectangle 2">
            <a:extLst>
              <a:ext uri="{FF2B5EF4-FFF2-40B4-BE49-F238E27FC236}">
                <a16:creationId xmlns:a16="http://schemas.microsoft.com/office/drawing/2014/main" id="{B8F6266B-B6E3-46D0-8870-F1AFB7596898}"/>
              </a:ext>
            </a:extLst>
          </p:cNvPr>
          <p:cNvSpPr/>
          <p:nvPr/>
        </p:nvSpPr>
        <p:spPr>
          <a:xfrm>
            <a:off x="4343400" y="254318"/>
            <a:ext cx="4442647" cy="1077218"/>
          </a:xfrm>
          <a:prstGeom prst="rect">
            <a:avLst/>
          </a:prstGeom>
        </p:spPr>
        <p:style>
          <a:lnRef idx="3">
            <a:schemeClr val="lt1"/>
          </a:lnRef>
          <a:fillRef idx="1">
            <a:schemeClr val="accent3"/>
          </a:fillRef>
          <a:effectRef idx="1">
            <a:schemeClr val="accent3"/>
          </a:effectRef>
          <a:fontRef idx="minor">
            <a:schemeClr val="lt1"/>
          </a:fontRef>
        </p:style>
        <p:txBody>
          <a:bodyPr wrap="square">
            <a:spAutoFit/>
          </a:bodyPr>
          <a:lstStyle/>
          <a:p>
            <a:r>
              <a:rPr lang="en-US" sz="1600" dirty="0">
                <a:latin typeface="+mn-lt"/>
              </a:rPr>
              <a:t>b:    maximum branching factor of the search tree</a:t>
            </a:r>
          </a:p>
          <a:p>
            <a:r>
              <a:rPr lang="en-US" sz="1600" dirty="0">
                <a:latin typeface="+mn-lt"/>
              </a:rPr>
              <a:t>d:    depth of the optimal solution</a:t>
            </a:r>
          </a:p>
          <a:p>
            <a:r>
              <a:rPr lang="en-US" sz="1600" dirty="0">
                <a:latin typeface="+mn-lt"/>
              </a:rPr>
              <a:t>m:   maximum length of any path in the state space</a:t>
            </a:r>
          </a:p>
          <a:p>
            <a:r>
              <a:rPr lang="en-US" sz="1600" dirty="0">
                <a:latin typeface="+mn-lt"/>
              </a:rPr>
              <a:t>C*:  cost of optimal solution</a:t>
            </a:r>
          </a:p>
        </p:txBody>
      </p:sp>
      <p:sp>
        <p:nvSpPr>
          <p:cNvPr id="4" name="Rectangle 3">
            <a:extLst>
              <a:ext uri="{FF2B5EF4-FFF2-40B4-BE49-F238E27FC236}">
                <a16:creationId xmlns:a16="http://schemas.microsoft.com/office/drawing/2014/main" id="{CDF61E80-4B55-8979-0EEC-874E5C0C9D98}"/>
              </a:ext>
            </a:extLst>
          </p:cNvPr>
          <p:cNvSpPr/>
          <p:nvPr/>
        </p:nvSpPr>
        <p:spPr>
          <a:xfrm>
            <a:off x="7162800" y="3657600"/>
            <a:ext cx="1371600" cy="12954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F0DA85-90AE-4AAC-7555-21DC3B1F4A14}"/>
              </a:ext>
            </a:extLst>
          </p:cNvPr>
          <p:cNvSpPr/>
          <p:nvPr/>
        </p:nvSpPr>
        <p:spPr>
          <a:xfrm>
            <a:off x="4165879" y="5867400"/>
            <a:ext cx="4368521" cy="73628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With a good heuristic</a:t>
            </a:r>
          </a:p>
        </p:txBody>
      </p:sp>
      <p:sp>
        <p:nvSpPr>
          <p:cNvPr id="2" name="TextBox 1">
            <a:extLst>
              <a:ext uri="{FF2B5EF4-FFF2-40B4-BE49-F238E27FC236}">
                <a16:creationId xmlns:a16="http://schemas.microsoft.com/office/drawing/2014/main" id="{30FCA22C-6475-6D3F-FD6D-06300F05764A}"/>
              </a:ext>
            </a:extLst>
          </p:cNvPr>
          <p:cNvSpPr txBox="1"/>
          <p:nvPr/>
        </p:nvSpPr>
        <p:spPr>
          <a:xfrm rot="16200000">
            <a:off x="-531769" y="3369223"/>
            <a:ext cx="2028184" cy="369332"/>
          </a:xfrm>
          <a:prstGeom prst="rect">
            <a:avLst/>
          </a:prstGeom>
          <a:noFill/>
        </p:spPr>
        <p:txBody>
          <a:bodyPr wrap="none" rtlCol="0">
            <a:spAutoFit/>
          </a:bodyPr>
          <a:lstStyle/>
          <a:p>
            <a:r>
              <a:rPr lang="en-US" b="1" dirty="0"/>
              <a:t>Uninformed Search</a:t>
            </a:r>
          </a:p>
        </p:txBody>
      </p:sp>
      <p:sp>
        <p:nvSpPr>
          <p:cNvPr id="5" name="TextBox 4">
            <a:extLst>
              <a:ext uri="{FF2B5EF4-FFF2-40B4-BE49-F238E27FC236}">
                <a16:creationId xmlns:a16="http://schemas.microsoft.com/office/drawing/2014/main" id="{02C75F14-5241-EB60-0704-66951872A773}"/>
              </a:ext>
            </a:extLst>
          </p:cNvPr>
          <p:cNvSpPr txBox="1"/>
          <p:nvPr/>
        </p:nvSpPr>
        <p:spPr>
          <a:xfrm rot="16200000">
            <a:off x="-397118" y="5558787"/>
            <a:ext cx="1758879" cy="369332"/>
          </a:xfrm>
          <a:prstGeom prst="rect">
            <a:avLst/>
          </a:prstGeom>
          <a:noFill/>
        </p:spPr>
        <p:txBody>
          <a:bodyPr wrap="none" rtlCol="0">
            <a:spAutoFit/>
          </a:bodyPr>
          <a:lstStyle/>
          <a:p>
            <a:r>
              <a:rPr lang="en-US" b="1" dirty="0"/>
              <a:t>Informed Search</a:t>
            </a:r>
          </a:p>
        </p:txBody>
      </p:sp>
      <p:sp>
        <p:nvSpPr>
          <p:cNvPr id="8" name="Rectangle 7">
            <a:extLst>
              <a:ext uri="{FF2B5EF4-FFF2-40B4-BE49-F238E27FC236}">
                <a16:creationId xmlns:a16="http://schemas.microsoft.com/office/drawing/2014/main" id="{6F8D541E-22AC-DC9F-4D8B-2166330491CC}"/>
              </a:ext>
            </a:extLst>
          </p:cNvPr>
          <p:cNvSpPr/>
          <p:nvPr/>
        </p:nvSpPr>
        <p:spPr>
          <a:xfrm>
            <a:off x="-135980" y="5010888"/>
            <a:ext cx="9508579" cy="1999511"/>
          </a:xfrm>
          <a:prstGeom prst="rect">
            <a:avLst/>
          </a:prstGeom>
          <a:solidFill>
            <a:srgbClr val="7F7F7F">
              <a:alpha val="7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34F7F-1FDD-5A4B-BAE5-D2C50D216A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FB18190-7F4D-1142-48DC-84A331416C9E}"/>
              </a:ext>
            </a:extLst>
          </p:cNvPr>
          <p:cNvSpPr>
            <a:spLocks noGrp="1"/>
          </p:cNvSpPr>
          <p:nvPr>
            <p:ph type="title"/>
          </p:nvPr>
        </p:nvSpPr>
        <p:spPr>
          <a:xfrm>
            <a:off x="482601" y="643467"/>
            <a:ext cx="3465438" cy="4567137"/>
          </a:xfrm>
        </p:spPr>
        <p:txBody>
          <a:bodyPr vert="horz" lIns="91440" tIns="45720" rIns="91440" bIns="45720" rtlCol="0" anchor="b">
            <a:normAutofit/>
          </a:bodyPr>
          <a:lstStyle/>
          <a:p>
            <a:pPr defTabSz="914400"/>
            <a:r>
              <a:rPr lang="en-US" sz="3800"/>
              <a:t>Module Review</a:t>
            </a:r>
          </a:p>
        </p:txBody>
      </p:sp>
      <p:sp>
        <p:nvSpPr>
          <p:cNvPr id="5" name="Text Placeholder 4">
            <a:extLst>
              <a:ext uri="{FF2B5EF4-FFF2-40B4-BE49-F238E27FC236}">
                <a16:creationId xmlns:a16="http://schemas.microsoft.com/office/drawing/2014/main" id="{F08E1D7A-94DE-145B-2647-387B92DC4521}"/>
              </a:ext>
            </a:extLst>
          </p:cNvPr>
          <p:cNvSpPr>
            <a:spLocks noGrp="1"/>
          </p:cNvSpPr>
          <p:nvPr>
            <p:ph type="body" idx="1"/>
          </p:nvPr>
        </p:nvSpPr>
        <p:spPr>
          <a:xfrm>
            <a:off x="482600" y="5277684"/>
            <a:ext cx="3465438" cy="775494"/>
          </a:xfrm>
        </p:spPr>
        <p:txBody>
          <a:bodyPr vert="horz" lIns="91440" tIns="45720" rIns="91440" bIns="45720" rtlCol="0">
            <a:normAutofit/>
          </a:bodyPr>
          <a:lstStyle/>
          <a:p>
            <a:pPr defTabSz="914400">
              <a:spcBef>
                <a:spcPts val="1000"/>
              </a:spcBef>
            </a:pPr>
            <a:r>
              <a:rPr lang="en-US" sz="2400" dirty="0">
                <a:solidFill>
                  <a:schemeClr val="tx1"/>
                </a:solidFill>
              </a:rPr>
              <a:t>Informed Search</a:t>
            </a:r>
          </a:p>
        </p:txBody>
      </p:sp>
      <p:pic>
        <p:nvPicPr>
          <p:cNvPr id="6" name="Picture 5">
            <a:extLst>
              <a:ext uri="{FF2B5EF4-FFF2-40B4-BE49-F238E27FC236}">
                <a16:creationId xmlns:a16="http://schemas.microsoft.com/office/drawing/2014/main" id="{2DC509B4-5F4A-8F29-0500-0004B412859F}"/>
              </a:ext>
            </a:extLst>
          </p:cNvPr>
          <p:cNvPicPr>
            <a:picLocks noChangeAspect="1" noChangeArrowheads="1"/>
          </p:cNvPicPr>
          <p:nvPr/>
        </p:nvPicPr>
        <p:blipFill rotWithShape="1">
          <a:blip r:embed="rId2" cstate="print"/>
          <a:srcRect l="14795" r="19995"/>
          <a:stretch>
            <a:fillRect/>
          </a:stretch>
        </p:blipFill>
        <p:spPr bwMode="auto">
          <a:xfrm>
            <a:off x="4671911" y="10"/>
            <a:ext cx="4472089"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p:spPr>
      </p:pic>
    </p:spTree>
    <p:extLst>
      <p:ext uri="{BB962C8B-B14F-4D97-AF65-F5344CB8AC3E}">
        <p14:creationId xmlns:p14="http://schemas.microsoft.com/office/powerpoint/2010/main" val="260329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9FA568-5BE3-3072-9C9F-3F554B6F2BBF}"/>
              </a:ext>
            </a:extLst>
          </p:cNvPr>
          <p:cNvSpPr>
            <a:spLocks noGrp="1"/>
          </p:cNvSpPr>
          <p:nvPr>
            <p:ph type="title"/>
          </p:nvPr>
        </p:nvSpPr>
        <p:spPr/>
        <p:txBody>
          <a:bodyPr/>
          <a:lstStyle/>
          <a:p>
            <a:r>
              <a:rPr lang="en-US" dirty="0"/>
              <a:t>Assignment 2</a:t>
            </a:r>
          </a:p>
        </p:txBody>
      </p:sp>
      <p:sp>
        <p:nvSpPr>
          <p:cNvPr id="7" name="Text Placeholder 6">
            <a:extLst>
              <a:ext uri="{FF2B5EF4-FFF2-40B4-BE49-F238E27FC236}">
                <a16:creationId xmlns:a16="http://schemas.microsoft.com/office/drawing/2014/main" id="{BF176CC6-2F00-39D1-76C5-1AF70CFED0CF}"/>
              </a:ext>
            </a:extLst>
          </p:cNvPr>
          <p:cNvSpPr>
            <a:spLocks noGrp="1"/>
          </p:cNvSpPr>
          <p:nvPr>
            <p:ph type="body" idx="1"/>
          </p:nvPr>
        </p:nvSpPr>
        <p:spPr/>
        <p:txBody>
          <a:bodyPr/>
          <a:lstStyle/>
          <a:p>
            <a:r>
              <a:rPr lang="en-US" dirty="0"/>
              <a:t>Introduction</a:t>
            </a:r>
          </a:p>
        </p:txBody>
      </p:sp>
    </p:spTree>
    <p:extLst>
      <p:ext uri="{BB962C8B-B14F-4D97-AF65-F5344CB8AC3E}">
        <p14:creationId xmlns:p14="http://schemas.microsoft.com/office/powerpoint/2010/main" val="2716248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3853-8FA3-C7AE-B4FC-A53CFBD49BD5}"/>
            </a:ext>
          </a:extLst>
        </p:cNvPr>
        <p:cNvGrpSpPr/>
        <p:nvPr/>
      </p:nvGrpSpPr>
      <p:grpSpPr>
        <a:xfrm>
          <a:off x="0" y="0"/>
          <a:ext cx="0" cy="0"/>
          <a:chOff x="0" y="0"/>
          <a:chExt cx="0" cy="0"/>
        </a:xfrm>
      </p:grpSpPr>
      <p:sp>
        <p:nvSpPr>
          <p:cNvPr id="54274" name="Rectangle 2">
            <a:extLst>
              <a:ext uri="{FF2B5EF4-FFF2-40B4-BE49-F238E27FC236}">
                <a16:creationId xmlns:a16="http://schemas.microsoft.com/office/drawing/2014/main" id="{BFFAFEC0-1B6F-EEDF-7861-25295C0F387F}"/>
              </a:ext>
            </a:extLst>
          </p:cNvPr>
          <p:cNvSpPr>
            <a:spLocks noGrp="1" noChangeArrowheads="1"/>
          </p:cNvSpPr>
          <p:nvPr>
            <p:ph type="title"/>
          </p:nvPr>
        </p:nvSpPr>
        <p:spPr>
          <a:xfrm>
            <a:off x="736879" y="358746"/>
            <a:ext cx="8229600" cy="868362"/>
          </a:xfrm>
        </p:spPr>
        <p:txBody>
          <a:bodyPr>
            <a:normAutofit fontScale="90000"/>
          </a:bodyPr>
          <a:lstStyle/>
          <a:p>
            <a:r>
              <a:rPr lang="en-US" dirty="0">
                <a:latin typeface="+mn-lt"/>
              </a:rPr>
              <a:t>Summary: </a:t>
            </a:r>
            <a:br>
              <a:rPr lang="en-US" dirty="0">
                <a:latin typeface="+mn-lt"/>
              </a:rPr>
            </a:br>
            <a:r>
              <a:rPr lang="en-US" dirty="0">
                <a:latin typeface="+mn-lt"/>
              </a:rPr>
              <a:t>All Search Strategies</a:t>
            </a:r>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44D041-53DA-9BAB-9C8C-799D56602899}"/>
                  </a:ext>
                </a:extLst>
              </p:cNvPr>
              <p:cNvGraphicFramePr>
                <a:graphicFrameLocks noGrp="1"/>
              </p:cNvGraphicFramePr>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592125">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27583">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14:m>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2"/>
                      </a:ext>
                    </a:extLst>
                  </a:tr>
                  <a:tr h="698004">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𝑏𝑚</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smtClean="0">
                                    <a:latin typeface="Cambria Math" panose="02040503050406030204" pitchFamily="18" charset="0"/>
                                  </a:rPr>
                                  <m:t>𝑏𝑑</m:t>
                                </m:r>
                                <m:r>
                                  <a:rPr lang="en-US" sz="1600" i="1" dirty="0" smtClean="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685744">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pPr algn="ctr"/>
                          <a:r>
                            <a:rPr lang="en-US" sz="1600" dirty="0"/>
                            <a:t>Depends on heuristic</a:t>
                          </a:r>
                          <a:br>
                            <a:rPr lang="en-US" sz="1600" dirty="0"/>
                          </a:br>
                          <a14:m>
                            <m:oMathPara xmlns:m="http://schemas.openxmlformats.org/officeDocument/2006/math">
                              <m:oMathParaPr>
                                <m:jc m:val="center"/>
                              </m:oMathParaPr>
                              <m:oMath xmlns:m="http://schemas.openxmlformats.org/officeDocument/2006/math">
                                <m:r>
                                  <m:rPr>
                                    <m:nor/>
                                  </m:rPr>
                                  <a:rPr lang="en-US" sz="1600" dirty="0" smtClean="0"/>
                                  <m:t>Best</m:t>
                                </m:r>
                                <m:r>
                                  <m:rPr>
                                    <m:nor/>
                                  </m:rPr>
                                  <a:rPr lang="en-US" sz="1600" dirty="0" smtClean="0"/>
                                  <m:t> </m:t>
                                </m:r>
                                <m:r>
                                  <m:rPr>
                                    <m:nor/>
                                  </m:rPr>
                                  <a:rPr lang="en-US" sz="1600" dirty="0" smtClean="0"/>
                                  <m:t>case</m:t>
                                </m:r>
                                <m:r>
                                  <m:rPr>
                                    <m:nor/>
                                  </m:rPr>
                                  <a:rPr lang="en-US" sz="1600" dirty="0" smtClean="0"/>
                                  <m:t>: </m:t>
                                </m:r>
                                <m:r>
                                  <a:rPr lang="en-US" sz="1600" i="1" dirty="0">
                                    <a:latin typeface="Cambria Math" panose="02040503050406030204" pitchFamily="18" charset="0"/>
                                  </a:rPr>
                                  <m:t>𝑂</m:t>
                                </m:r>
                                <m:r>
                                  <a:rPr lang="en-US" sz="1600" i="1" dirty="0">
                                    <a:latin typeface="Cambria Math" panose="02040503050406030204" pitchFamily="18" charset="0"/>
                                  </a:rPr>
                                  <m:t>(</m:t>
                                </m:r>
                                <m:r>
                                  <a:rPr lang="en-US" sz="1600" i="1" dirty="0" err="1">
                                    <a:latin typeface="Cambria Math" panose="02040503050406030204" pitchFamily="18" charset="0"/>
                                  </a:rPr>
                                  <m:t>𝑏𝑑</m:t>
                                </m:r>
                                <m:r>
                                  <a:rPr lang="en-US" sz="1600" i="1" dirty="0">
                                    <a:latin typeface="Cambria Math" panose="02040503050406030204" pitchFamily="18" charset="0"/>
                                  </a:rPr>
                                  <m:t>)</m:t>
                                </m:r>
                              </m:oMath>
                            </m:oMathPara>
                          </a14:m>
                          <a:endParaRPr lang="en-US" sz="1600" dirty="0"/>
                        </a:p>
                        <a:p>
                          <a:pPr algn="ctr"/>
                          <a:r>
                            <a:rPr lang="en-US" sz="1600" dirty="0">
                              <a:latin typeface="+mn-lt"/>
                            </a:rPr>
                            <a:t>Worst case: </a:t>
                          </a:r>
                          <a14:m>
                            <m:oMath xmlns:m="http://schemas.openxmlformats.org/officeDocument/2006/math">
                              <m:r>
                                <a:rPr lang="en-US" sz="1600" i="1" dirty="0" smtClean="0">
                                  <a:latin typeface="Cambria Math" panose="02040503050406030204" pitchFamily="18" charset="0"/>
                                </a:rPr>
                                <m:t>𝑂</m:t>
                              </m:r>
                              <m:d>
                                <m:dPr>
                                  <m:ctrlPr>
                                    <a:rPr lang="en-US" sz="1600" i="1" dirty="0" smtClean="0">
                                      <a:latin typeface="Cambria Math" panose="02040503050406030204" pitchFamily="18" charset="0"/>
                                    </a:rPr>
                                  </m:ctrlPr>
                                </m:dPr>
                                <m:e>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e>
                              </m:d>
                            </m:oMath>
                          </a14:m>
                          <a:endParaRPr lang="en-US" sz="1600" dirty="0"/>
                        </a:p>
                      </a:txBody>
                      <a:tcPr anchor="ctr">
                        <a:lnT w="38100" cap="flat" cmpd="sng" algn="ctr">
                          <a:solidFill>
                            <a:schemeClr val="tx1"/>
                          </a:solidFill>
                          <a:prstDash val="solid"/>
                          <a:round/>
                          <a:headEnd type="none" w="med" len="med"/>
                          <a:tailEnd type="none" w="med" len="med"/>
                        </a:lnT>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br>
                            <a:rPr lang="en-US" sz="1600" dirty="0">
                              <a:latin typeface="+mn-lt"/>
                            </a:rPr>
                          </a:b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m:oMathPara>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640080">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40080">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endParaRPr lang="en-US"/>
                        </a:p>
                      </a:txBody>
                      <a:tcPr anchor="ctr">
                        <a:blipFill>
                          <a:blip r:embed="rId3"/>
                          <a:stretch>
                            <a:fillRect l="-300769" t="-104762" r="-101923" b="-581905"/>
                          </a:stretch>
                        </a:blipFill>
                      </a:tcPr>
                    </a:tc>
                    <a:tc>
                      <a:txBody>
                        <a:bodyPr/>
                        <a:lstStyle/>
                        <a:p>
                          <a:endParaRPr lang="en-US"/>
                        </a:p>
                      </a:txBody>
                      <a:tcPr anchor="ctr">
                        <a:blipFill>
                          <a:blip r:embed="rId3"/>
                          <a:stretch>
                            <a:fillRect l="-400769" t="-104762" r="-1923" b="-581905"/>
                          </a:stretch>
                        </a:blipFill>
                      </a:tcP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193694" r="-962" b="-450450"/>
                          </a:stretch>
                        </a:blipFill>
                      </a:tcPr>
                    </a:tc>
                    <a:tc hMerge="1">
                      <a:txBody>
                        <a:bodyPr/>
                        <a:lstStyle/>
                        <a:p>
                          <a:endParaRPr lang="en-US" dirty="0"/>
                        </a:p>
                      </a:txBody>
                      <a:tcPr anchor="ctr"/>
                    </a:tc>
                    <a:extLst>
                      <a:ext uri="{0D108BD9-81ED-4DB2-BD59-A6C34878D82A}">
                        <a16:rowId xmlns:a16="http://schemas.microsoft.com/office/drawing/2014/main" val="10002"/>
                      </a:ext>
                    </a:extLst>
                  </a:tr>
                  <a:tr h="822960">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endParaRPr lang="en-US"/>
                        </a:p>
                      </a:txBody>
                      <a:tcPr anchor="ctr">
                        <a:blipFill>
                          <a:blip r:embed="rId3"/>
                          <a:stretch>
                            <a:fillRect l="-300769" t="-241481" r="-101923" b="-270370"/>
                          </a:stretch>
                        </a:blipFill>
                      </a:tcPr>
                    </a:tc>
                    <a:tc>
                      <a:txBody>
                        <a:bodyPr/>
                        <a:lstStyle/>
                        <a:p>
                          <a:endParaRPr lang="en-US"/>
                        </a:p>
                      </a:txBody>
                      <a:tcPr anchor="ctr">
                        <a:blipFill>
                          <a:blip r:embed="rId3"/>
                          <a:stretch>
                            <a:fillRect l="-400769" t="-241481" r="-1923" b="-270370"/>
                          </a:stretch>
                        </a:blipFill>
                      </a:tcP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300769" t="-411607" r="-101923" b="-225893"/>
                          </a:stretch>
                        </a:blipFill>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400769" t="-411607" r="-1923" b="-225893"/>
                          </a:stretch>
                        </a:blipFill>
                      </a:tcPr>
                    </a:tc>
                    <a:extLst>
                      <a:ext uri="{0D108BD9-81ED-4DB2-BD59-A6C34878D82A}">
                        <a16:rowId xmlns:a16="http://schemas.microsoft.com/office/drawing/2014/main" val="10004"/>
                      </a:ext>
                    </a:extLst>
                  </a:tr>
                  <a:tr h="822960">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endParaRPr lang="en-US"/>
                        </a:p>
                      </a:txBody>
                      <a:tcPr anchor="ctr">
                        <a:lnT w="38100" cap="flat" cmpd="sng" algn="ctr">
                          <a:solidFill>
                            <a:schemeClr val="tx1"/>
                          </a:solidFill>
                          <a:prstDash val="solid"/>
                          <a:round/>
                          <a:headEnd type="none" w="med" len="med"/>
                          <a:tailEnd type="none" w="med" len="med"/>
                        </a:lnT>
                        <a:blipFill>
                          <a:blip r:embed="rId3"/>
                          <a:stretch>
                            <a:fillRect l="-150385" t="-424444" r="-962" b="-87407"/>
                          </a:stretch>
                        </a:blipFill>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626549" r="-962" b="-4425"/>
                          </a:stretch>
                        </a:blipFill>
                      </a:tcP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Fallback>
      </mc:AlternateContent>
      <p:sp>
        <p:nvSpPr>
          <p:cNvPr id="3" name="Rectangle 2">
            <a:extLst>
              <a:ext uri="{FF2B5EF4-FFF2-40B4-BE49-F238E27FC236}">
                <a16:creationId xmlns:a16="http://schemas.microsoft.com/office/drawing/2014/main" id="{87E7632D-827C-FD99-8F8F-37E2E0EE06D7}"/>
              </a:ext>
            </a:extLst>
          </p:cNvPr>
          <p:cNvSpPr/>
          <p:nvPr/>
        </p:nvSpPr>
        <p:spPr>
          <a:xfrm>
            <a:off x="4343400" y="254318"/>
            <a:ext cx="4442647" cy="1077218"/>
          </a:xfrm>
          <a:prstGeom prst="rect">
            <a:avLst/>
          </a:prstGeom>
        </p:spPr>
        <p:style>
          <a:lnRef idx="3">
            <a:schemeClr val="lt1"/>
          </a:lnRef>
          <a:fillRef idx="1">
            <a:schemeClr val="accent3"/>
          </a:fillRef>
          <a:effectRef idx="1">
            <a:schemeClr val="accent3"/>
          </a:effectRef>
          <a:fontRef idx="minor">
            <a:schemeClr val="lt1"/>
          </a:fontRef>
        </p:style>
        <p:txBody>
          <a:bodyPr wrap="square">
            <a:spAutoFit/>
          </a:bodyPr>
          <a:lstStyle/>
          <a:p>
            <a:r>
              <a:rPr lang="en-US" sz="1600" dirty="0">
                <a:latin typeface="+mn-lt"/>
              </a:rPr>
              <a:t>b:    maximum branching factor of the search tree</a:t>
            </a:r>
          </a:p>
          <a:p>
            <a:r>
              <a:rPr lang="en-US" sz="1600" dirty="0">
                <a:latin typeface="+mn-lt"/>
              </a:rPr>
              <a:t>d:    depth of the optimal solution</a:t>
            </a:r>
          </a:p>
          <a:p>
            <a:r>
              <a:rPr lang="en-US" sz="1600" dirty="0">
                <a:latin typeface="+mn-lt"/>
              </a:rPr>
              <a:t>m:   maximum length of any path in the state space</a:t>
            </a:r>
          </a:p>
          <a:p>
            <a:r>
              <a:rPr lang="en-US" sz="1600" dirty="0">
                <a:latin typeface="+mn-lt"/>
              </a:rPr>
              <a:t>C*:  cost of optimal solution</a:t>
            </a:r>
          </a:p>
        </p:txBody>
      </p:sp>
      <p:sp>
        <p:nvSpPr>
          <p:cNvPr id="4" name="Rectangle 3">
            <a:extLst>
              <a:ext uri="{FF2B5EF4-FFF2-40B4-BE49-F238E27FC236}">
                <a16:creationId xmlns:a16="http://schemas.microsoft.com/office/drawing/2014/main" id="{34CEFBDD-A18B-78B1-F512-6FB45F86DD24}"/>
              </a:ext>
            </a:extLst>
          </p:cNvPr>
          <p:cNvSpPr/>
          <p:nvPr/>
        </p:nvSpPr>
        <p:spPr>
          <a:xfrm>
            <a:off x="7162800" y="3657600"/>
            <a:ext cx="1371600" cy="12954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BBDD9E-D231-FFE6-F1EF-D9A0DF8B7B0C}"/>
              </a:ext>
            </a:extLst>
          </p:cNvPr>
          <p:cNvSpPr/>
          <p:nvPr/>
        </p:nvSpPr>
        <p:spPr>
          <a:xfrm>
            <a:off x="4165879" y="5867400"/>
            <a:ext cx="4368521" cy="73628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With a good heuristic</a:t>
            </a:r>
          </a:p>
        </p:txBody>
      </p:sp>
      <p:sp>
        <p:nvSpPr>
          <p:cNvPr id="2" name="TextBox 1">
            <a:extLst>
              <a:ext uri="{FF2B5EF4-FFF2-40B4-BE49-F238E27FC236}">
                <a16:creationId xmlns:a16="http://schemas.microsoft.com/office/drawing/2014/main" id="{F0963B7C-DB6D-4796-E9A3-CE4AA892B73E}"/>
              </a:ext>
            </a:extLst>
          </p:cNvPr>
          <p:cNvSpPr txBox="1"/>
          <p:nvPr/>
        </p:nvSpPr>
        <p:spPr>
          <a:xfrm rot="16200000">
            <a:off x="-531769" y="3369223"/>
            <a:ext cx="2028184" cy="369332"/>
          </a:xfrm>
          <a:prstGeom prst="rect">
            <a:avLst/>
          </a:prstGeom>
          <a:noFill/>
        </p:spPr>
        <p:txBody>
          <a:bodyPr wrap="none" rtlCol="0">
            <a:spAutoFit/>
          </a:bodyPr>
          <a:lstStyle/>
          <a:p>
            <a:r>
              <a:rPr lang="en-US" b="1" dirty="0"/>
              <a:t>Uninformed Search</a:t>
            </a:r>
          </a:p>
        </p:txBody>
      </p:sp>
      <p:sp>
        <p:nvSpPr>
          <p:cNvPr id="5" name="TextBox 4">
            <a:extLst>
              <a:ext uri="{FF2B5EF4-FFF2-40B4-BE49-F238E27FC236}">
                <a16:creationId xmlns:a16="http://schemas.microsoft.com/office/drawing/2014/main" id="{5F0B4D82-CFDF-0641-24DB-E02B1429E005}"/>
              </a:ext>
            </a:extLst>
          </p:cNvPr>
          <p:cNvSpPr txBox="1"/>
          <p:nvPr/>
        </p:nvSpPr>
        <p:spPr>
          <a:xfrm rot="16200000">
            <a:off x="-397118" y="5558787"/>
            <a:ext cx="1758879" cy="369332"/>
          </a:xfrm>
          <a:prstGeom prst="rect">
            <a:avLst/>
          </a:prstGeom>
          <a:noFill/>
        </p:spPr>
        <p:txBody>
          <a:bodyPr wrap="none" rtlCol="0">
            <a:spAutoFit/>
          </a:bodyPr>
          <a:lstStyle/>
          <a:p>
            <a:r>
              <a:rPr lang="en-US" b="1" dirty="0"/>
              <a:t>Informed Search</a:t>
            </a:r>
          </a:p>
        </p:txBody>
      </p:sp>
      <p:sp>
        <p:nvSpPr>
          <p:cNvPr id="8" name="Rectangle 7">
            <a:extLst>
              <a:ext uri="{FF2B5EF4-FFF2-40B4-BE49-F238E27FC236}">
                <a16:creationId xmlns:a16="http://schemas.microsoft.com/office/drawing/2014/main" id="{F6B31849-AC2E-34C7-5F42-3BE83376584F}"/>
              </a:ext>
            </a:extLst>
          </p:cNvPr>
          <p:cNvSpPr/>
          <p:nvPr/>
        </p:nvSpPr>
        <p:spPr>
          <a:xfrm>
            <a:off x="-55011" y="2243765"/>
            <a:ext cx="9508579" cy="2785435"/>
          </a:xfrm>
          <a:prstGeom prst="rect">
            <a:avLst/>
          </a:prstGeom>
          <a:solidFill>
            <a:srgbClr val="7F7F7F">
              <a:alpha val="7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50443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951ED-B6A5-FD24-140F-BB4AF8737AD0}"/>
              </a:ext>
            </a:extLst>
          </p:cNvPr>
          <p:cNvSpPr>
            <a:spLocks noGrp="1"/>
          </p:cNvSpPr>
          <p:nvPr>
            <p:ph type="title"/>
          </p:nvPr>
        </p:nvSpPr>
        <p:spPr/>
        <p:txBody>
          <a:bodyPr/>
          <a:lstStyle/>
          <a:p>
            <a:r>
              <a:rPr lang="en-US" dirty="0"/>
              <a:t>Properties of Heuristic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E95C978-A9EE-C452-8DAF-9CAC5BEEC1E9}"/>
                  </a:ext>
                </a:extLst>
              </p:cNvPr>
              <p:cNvSpPr>
                <a:spLocks noGrp="1"/>
              </p:cNvSpPr>
              <p:nvPr>
                <p:ph idx="1"/>
              </p:nvPr>
            </p:nvSpPr>
            <p:spPr/>
            <p:txBody>
              <a:bodyPr/>
              <a:lstStyle/>
              <a:p>
                <a:r>
                  <a:rPr lang="en-US" dirty="0"/>
                  <a:t>Evaluates a given node </a:t>
                </a:r>
                <a14:m>
                  <m:oMath xmlns:m="http://schemas.openxmlformats.org/officeDocument/2006/math">
                    <m:r>
                      <a:rPr lang="en-US" i="1" dirty="0">
                        <a:latin typeface="Cambria Math" panose="02040503050406030204" pitchFamily="18" charset="0"/>
                      </a:rPr>
                      <m:t>𝑛</m:t>
                    </m:r>
                  </m:oMath>
                </a14:m>
                <a:r>
                  <a:rPr lang="en-US" dirty="0"/>
                  <a:t>.</a:t>
                </a:r>
              </a:p>
              <a:p>
                <a:r>
                  <a:rPr lang="en-US" dirty="0"/>
                  <a:t>Provide a </a:t>
                </a:r>
                <a:r>
                  <a:rPr lang="en-US" b="1" dirty="0"/>
                  <a:t>good approximation </a:t>
                </a:r>
                <a:r>
                  <a:rPr lang="en-US" dirty="0"/>
                  <a:t>of the actual cost from node </a:t>
                </a:r>
                <a14:m>
                  <m:oMath xmlns:m="http://schemas.openxmlformats.org/officeDocument/2006/math">
                    <m:r>
                      <a:rPr lang="en-US" i="1" dirty="0" smtClean="0">
                        <a:latin typeface="Cambria Math" panose="02040503050406030204" pitchFamily="18" charset="0"/>
                      </a:rPr>
                      <m:t>𝑛</m:t>
                    </m:r>
                  </m:oMath>
                </a14:m>
                <a:r>
                  <a:rPr lang="en-US" dirty="0"/>
                  <a:t> to the goal state.</a:t>
                </a:r>
              </a:p>
              <a:p>
                <a:r>
                  <a:rPr lang="en-US" dirty="0"/>
                  <a:t>Can be computed using additional </a:t>
                </a:r>
                <a:r>
                  <a:rPr lang="en-US" b="1" dirty="0"/>
                  <a:t>information that is known </a:t>
                </a:r>
                <a:r>
                  <a:rPr lang="en-US" dirty="0"/>
                  <a:t>to the agent or can be obtained via percepts.</a:t>
                </a:r>
              </a:p>
              <a:p>
                <a:r>
                  <a:rPr lang="en-US" dirty="0"/>
                  <a:t>Are </a:t>
                </a:r>
                <a:r>
                  <a:rPr lang="en-US" b="1" dirty="0"/>
                  <a:t>fast to compute </a:t>
                </a:r>
                <a:r>
                  <a:rPr lang="en-US" dirty="0"/>
                  <a:t>(compared to solving the problem).</a:t>
                </a:r>
              </a:p>
              <a:p>
                <a:endParaRPr lang="en-US" dirty="0"/>
              </a:p>
              <a:p>
                <a:r>
                  <a:rPr lang="en-US" dirty="0"/>
                  <a:t>For A* Search: be </a:t>
                </a:r>
                <a:r>
                  <a:rPr lang="en-US" b="1" dirty="0"/>
                  <a:t>admissible</a:t>
                </a:r>
                <a:r>
                  <a:rPr lang="en-US" dirty="0"/>
                  <a:t> (never overestimate the cost)</a:t>
                </a:r>
              </a:p>
              <a:p>
                <a:endParaRPr lang="en-US" dirty="0"/>
              </a:p>
              <a:p>
                <a:r>
                  <a:rPr lang="en-US" dirty="0"/>
                  <a:t>Search algorithms will expand nodes with better heuristic values/estimated total cost first.</a:t>
                </a:r>
              </a:p>
              <a:p>
                <a:endParaRPr lang="en-US" dirty="0"/>
              </a:p>
            </p:txBody>
          </p:sp>
        </mc:Choice>
        <mc:Fallback xmlns="">
          <p:sp>
            <p:nvSpPr>
              <p:cNvPr id="3" name="Content Placeholder 2">
                <a:extLst>
                  <a:ext uri="{FF2B5EF4-FFF2-40B4-BE49-F238E27FC236}">
                    <a16:creationId xmlns:a16="http://schemas.microsoft.com/office/drawing/2014/main" id="{6E95C978-A9EE-C452-8DAF-9CAC5BEEC1E9}"/>
                  </a:ext>
                </a:extLst>
              </p:cNvPr>
              <p:cNvSpPr>
                <a:spLocks noGrp="1" noRot="1" noChangeAspect="1" noMove="1" noResize="1" noEditPoints="1" noAdjustHandles="1" noChangeArrowheads="1" noChangeShapeType="1" noTextEdit="1"/>
              </p:cNvSpPr>
              <p:nvPr>
                <p:ph idx="1"/>
              </p:nvPr>
            </p:nvSpPr>
            <p:spPr>
              <a:blipFill>
                <a:blip r:embed="rId2"/>
                <a:stretch>
                  <a:fillRect l="-773" t="-1541"/>
                </a:stretch>
              </a:blipFill>
            </p:spPr>
            <p:txBody>
              <a:bodyPr/>
              <a:lstStyle/>
              <a:p>
                <a:r>
                  <a:rPr lang="en-US">
                    <a:noFill/>
                  </a:rPr>
                  <a:t> </a:t>
                </a:r>
              </a:p>
            </p:txBody>
          </p:sp>
        </mc:Fallback>
      </mc:AlternateContent>
    </p:spTree>
    <p:extLst>
      <p:ext uri="{BB962C8B-B14F-4D97-AF65-F5344CB8AC3E}">
        <p14:creationId xmlns:p14="http://schemas.microsoft.com/office/powerpoint/2010/main" val="20548990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3600" b="1" dirty="0"/>
              <a:t>Implementation</a:t>
            </a:r>
          </a:p>
        </p:txBody>
      </p:sp>
      <p:grpSp>
        <p:nvGrpSpPr>
          <p:cNvPr id="13" name="Group 12">
            <a:extLst>
              <a:ext uri="{FF2B5EF4-FFF2-40B4-BE49-F238E27FC236}">
                <a16:creationId xmlns:a16="http://schemas.microsoft.com/office/drawing/2014/main" id="{5466C610-B0DE-F0D4-E43E-EE76B3CDC267}"/>
              </a:ext>
            </a:extLst>
          </p:cNvPr>
          <p:cNvGrpSpPr/>
          <p:nvPr/>
        </p:nvGrpSpPr>
        <p:grpSpPr>
          <a:xfrm>
            <a:off x="867152" y="2108196"/>
            <a:ext cx="7562094" cy="1216028"/>
            <a:chOff x="819906" y="1676400"/>
            <a:chExt cx="7562094" cy="1216028"/>
          </a:xfrm>
        </p:grpSpPr>
        <p:sp>
          <p:nvSpPr>
            <p:cNvPr id="6" name="Freeform: Shape 5">
              <a:extLst>
                <a:ext uri="{FF2B5EF4-FFF2-40B4-BE49-F238E27FC236}">
                  <a16:creationId xmlns:a16="http://schemas.microsoft.com/office/drawing/2014/main" id="{B8279877-CA45-299A-0360-14208751DC77}"/>
                </a:ext>
              </a:extLst>
            </p:cNvPr>
            <p:cNvSpPr/>
            <p:nvPr/>
          </p:nvSpPr>
          <p:spPr>
            <a:xfrm>
              <a:off x="819906" y="1676400"/>
              <a:ext cx="2868113" cy="1216028"/>
            </a:xfrm>
            <a:custGeom>
              <a:avLst/>
              <a:gdLst>
                <a:gd name="connsiteX0" fmla="*/ 0 w 2839212"/>
                <a:gd name="connsiteY0" fmla="*/ 353766 h 2122552"/>
                <a:gd name="connsiteX1" fmla="*/ 353766 w 2839212"/>
                <a:gd name="connsiteY1" fmla="*/ 0 h 2122552"/>
                <a:gd name="connsiteX2" fmla="*/ 2485446 w 2839212"/>
                <a:gd name="connsiteY2" fmla="*/ 0 h 2122552"/>
                <a:gd name="connsiteX3" fmla="*/ 2839212 w 2839212"/>
                <a:gd name="connsiteY3" fmla="*/ 353766 h 2122552"/>
                <a:gd name="connsiteX4" fmla="*/ 2839212 w 2839212"/>
                <a:gd name="connsiteY4" fmla="*/ 1768786 h 2122552"/>
                <a:gd name="connsiteX5" fmla="*/ 2485446 w 2839212"/>
                <a:gd name="connsiteY5" fmla="*/ 2122552 h 2122552"/>
                <a:gd name="connsiteX6" fmla="*/ 353766 w 2839212"/>
                <a:gd name="connsiteY6" fmla="*/ 2122552 h 2122552"/>
                <a:gd name="connsiteX7" fmla="*/ 0 w 2839212"/>
                <a:gd name="connsiteY7" fmla="*/ 1768786 h 2122552"/>
                <a:gd name="connsiteX8" fmla="*/ 0 w 2839212"/>
                <a:gd name="connsiteY8" fmla="*/ 353766 h 212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39212" h="2122552">
                  <a:moveTo>
                    <a:pt x="0" y="353766"/>
                  </a:moveTo>
                  <a:cubicBezTo>
                    <a:pt x="0" y="158386"/>
                    <a:pt x="158386" y="0"/>
                    <a:pt x="353766" y="0"/>
                  </a:cubicBezTo>
                  <a:lnTo>
                    <a:pt x="2485446" y="0"/>
                  </a:lnTo>
                  <a:cubicBezTo>
                    <a:pt x="2680826" y="0"/>
                    <a:pt x="2839212" y="158386"/>
                    <a:pt x="2839212" y="353766"/>
                  </a:cubicBezTo>
                  <a:lnTo>
                    <a:pt x="2839212" y="1768786"/>
                  </a:lnTo>
                  <a:cubicBezTo>
                    <a:pt x="2839212" y="1964166"/>
                    <a:pt x="2680826" y="2122552"/>
                    <a:pt x="2485446" y="2122552"/>
                  </a:cubicBezTo>
                  <a:lnTo>
                    <a:pt x="353766" y="2122552"/>
                  </a:lnTo>
                  <a:cubicBezTo>
                    <a:pt x="158386" y="2122552"/>
                    <a:pt x="0" y="1964166"/>
                    <a:pt x="0" y="1768786"/>
                  </a:cubicBezTo>
                  <a:lnTo>
                    <a:pt x="0" y="353766"/>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2684" tIns="193149" rIns="282684" bIns="193149" numCol="1" spcCol="1270" anchor="ctr" anchorCtr="0">
              <a:noAutofit/>
            </a:bodyPr>
            <a:lstStyle/>
            <a:p>
              <a:pPr marL="0" lvl="0" indent="0" algn="ctr" defTabSz="2089150">
                <a:lnSpc>
                  <a:spcPct val="90000"/>
                </a:lnSpc>
                <a:spcBef>
                  <a:spcPct val="0"/>
                </a:spcBef>
                <a:spcAft>
                  <a:spcPct val="35000"/>
                </a:spcAft>
                <a:buNone/>
              </a:pPr>
              <a:r>
                <a:rPr lang="en-US" sz="4700" kern="1200" dirty="0"/>
                <a:t>Best-First Search</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F8846F45-E43D-FA8C-292D-02FC5E67071F}"/>
                    </a:ext>
                  </a:extLst>
                </p:cNvPr>
                <p:cNvSpPr/>
                <p:nvPr/>
              </p:nvSpPr>
              <p:spPr>
                <a:xfrm>
                  <a:off x="5207516" y="1676400"/>
                  <a:ext cx="3174484" cy="1216028"/>
                </a:xfrm>
                <a:custGeom>
                  <a:avLst/>
                  <a:gdLst>
                    <a:gd name="connsiteX0" fmla="*/ 0 w 3142496"/>
                    <a:gd name="connsiteY0" fmla="*/ 353766 h 2122552"/>
                    <a:gd name="connsiteX1" fmla="*/ 353766 w 3142496"/>
                    <a:gd name="connsiteY1" fmla="*/ 0 h 2122552"/>
                    <a:gd name="connsiteX2" fmla="*/ 2788730 w 3142496"/>
                    <a:gd name="connsiteY2" fmla="*/ 0 h 2122552"/>
                    <a:gd name="connsiteX3" fmla="*/ 3142496 w 3142496"/>
                    <a:gd name="connsiteY3" fmla="*/ 353766 h 2122552"/>
                    <a:gd name="connsiteX4" fmla="*/ 3142496 w 3142496"/>
                    <a:gd name="connsiteY4" fmla="*/ 1768786 h 2122552"/>
                    <a:gd name="connsiteX5" fmla="*/ 2788730 w 3142496"/>
                    <a:gd name="connsiteY5" fmla="*/ 2122552 h 2122552"/>
                    <a:gd name="connsiteX6" fmla="*/ 353766 w 3142496"/>
                    <a:gd name="connsiteY6" fmla="*/ 2122552 h 2122552"/>
                    <a:gd name="connsiteX7" fmla="*/ 0 w 3142496"/>
                    <a:gd name="connsiteY7" fmla="*/ 1768786 h 2122552"/>
                    <a:gd name="connsiteX8" fmla="*/ 0 w 3142496"/>
                    <a:gd name="connsiteY8" fmla="*/ 353766 h 212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42496" h="2122552">
                      <a:moveTo>
                        <a:pt x="0" y="353766"/>
                      </a:moveTo>
                      <a:cubicBezTo>
                        <a:pt x="0" y="158386"/>
                        <a:pt x="158386" y="0"/>
                        <a:pt x="353766" y="0"/>
                      </a:cubicBezTo>
                      <a:lnTo>
                        <a:pt x="2788730" y="0"/>
                      </a:lnTo>
                      <a:cubicBezTo>
                        <a:pt x="2984110" y="0"/>
                        <a:pt x="3142496" y="158386"/>
                        <a:pt x="3142496" y="353766"/>
                      </a:cubicBezTo>
                      <a:lnTo>
                        <a:pt x="3142496" y="1768786"/>
                      </a:lnTo>
                      <a:cubicBezTo>
                        <a:pt x="3142496" y="1964166"/>
                        <a:pt x="2984110" y="2122552"/>
                        <a:pt x="2788730" y="2122552"/>
                      </a:cubicBezTo>
                      <a:lnTo>
                        <a:pt x="353766" y="2122552"/>
                      </a:lnTo>
                      <a:cubicBezTo>
                        <a:pt x="158386" y="2122552"/>
                        <a:pt x="0" y="1964166"/>
                        <a:pt x="0" y="1768786"/>
                      </a:cubicBezTo>
                      <a:lnTo>
                        <a:pt x="0" y="353766"/>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95054" tIns="149334" rIns="195054" bIns="149334" numCol="1" spcCol="1270" anchor="ctr" anchorCtr="0">
                  <a:noAutofit/>
                </a:bodyPr>
                <a:lstStyle/>
                <a:p>
                  <a:pPr marL="0" lvl="0" indent="0" algn="ctr" defTabSz="1066800">
                    <a:lnSpc>
                      <a:spcPct val="90000"/>
                    </a:lnSpc>
                    <a:spcBef>
                      <a:spcPct val="0"/>
                    </a:spcBef>
                    <a:spcAft>
                      <a:spcPct val="35000"/>
                    </a:spcAft>
                    <a:buNone/>
                  </a:pPr>
                  <a:r>
                    <a:rPr lang="en-US" sz="2400" kern="1200" dirty="0"/>
                    <a:t>Expand the frontier using</a:t>
                  </a:r>
                  <a:br>
                    <a:rPr lang="en-US" sz="2400" kern="1200" dirty="0"/>
                  </a:br>
                  <a14:m>
                    <m:oMathPara xmlns:m="http://schemas.openxmlformats.org/officeDocument/2006/math">
                      <m:oMathParaPr>
                        <m:jc m:val="centerGroup"/>
                      </m:oMathParaPr>
                      <m:oMath xmlns:m="http://schemas.openxmlformats.org/officeDocument/2006/math">
                        <m:r>
                          <a:rPr lang="en-US" sz="2400" b="0" i="1" kern="1200" smtClean="0">
                            <a:latin typeface="Cambria Math" panose="02040503050406030204" pitchFamily="18" charset="0"/>
                          </a:rPr>
                          <m:t> </m:t>
                        </m:r>
                        <m:r>
                          <a:rPr lang="en-US" sz="2400" b="0" i="1" kern="1200" smtClean="0">
                            <a:latin typeface="Cambria Math" panose="02040503050406030204" pitchFamily="18" charset="0"/>
                          </a:rPr>
                          <m:t>𝑓</m:t>
                        </m:r>
                        <m:d>
                          <m:dPr>
                            <m:ctrlPr>
                              <a:rPr lang="en-US" sz="2400" b="0" i="1" kern="1200" smtClean="0">
                                <a:latin typeface="Cambria Math" panose="02040503050406030204" pitchFamily="18" charset="0"/>
                              </a:rPr>
                            </m:ctrlPr>
                          </m:dPr>
                          <m:e>
                            <m:r>
                              <a:rPr lang="en-US" sz="2400" b="0" i="1" kern="1200" smtClean="0">
                                <a:latin typeface="Cambria Math" panose="02040503050406030204" pitchFamily="18" charset="0"/>
                              </a:rPr>
                              <m:t>𝑛</m:t>
                            </m:r>
                          </m:e>
                        </m:d>
                        <m:r>
                          <a:rPr lang="en-US" sz="2400" b="0" i="1" kern="1200" smtClean="0">
                            <a:latin typeface="Cambria Math" panose="02040503050406030204" pitchFamily="18" charset="0"/>
                          </a:rPr>
                          <m:t>=</m:t>
                        </m:r>
                        <m:r>
                          <a:rPr lang="en-US" sz="2400" b="0" i="1" kern="1200" smtClean="0">
                            <a:latin typeface="Cambria Math" panose="02040503050406030204" pitchFamily="18" charset="0"/>
                          </a:rPr>
                          <m:t>h</m:t>
                        </m:r>
                        <m:r>
                          <a:rPr lang="en-US" sz="2400" b="0" i="1" kern="1200" smtClean="0">
                            <a:latin typeface="Cambria Math" panose="02040503050406030204" pitchFamily="18" charset="0"/>
                          </a:rPr>
                          <m:t>(</m:t>
                        </m:r>
                        <m:r>
                          <a:rPr lang="en-US" sz="2400" b="0" i="1" kern="1200" smtClean="0">
                            <a:latin typeface="Cambria Math" panose="02040503050406030204" pitchFamily="18" charset="0"/>
                          </a:rPr>
                          <m:t>𝑛</m:t>
                        </m:r>
                        <m:r>
                          <a:rPr lang="en-US" sz="2400" b="0" i="1" kern="1200" smtClean="0">
                            <a:latin typeface="Cambria Math" panose="02040503050406030204" pitchFamily="18" charset="0"/>
                          </a:rPr>
                          <m:t>)</m:t>
                        </m:r>
                      </m:oMath>
                    </m:oMathPara>
                  </a14:m>
                  <a:endParaRPr lang="en-US" sz="2400" kern="1200" dirty="0"/>
                </a:p>
              </p:txBody>
            </p:sp>
          </mc:Choice>
          <mc:Fallback xmlns="">
            <p:sp>
              <p:nvSpPr>
                <p:cNvPr id="7" name="Freeform: Shape 6">
                  <a:extLst>
                    <a:ext uri="{FF2B5EF4-FFF2-40B4-BE49-F238E27FC236}">
                      <a16:creationId xmlns:a16="http://schemas.microsoft.com/office/drawing/2014/main" id="{F8846F45-E43D-FA8C-292D-02FC5E67071F}"/>
                    </a:ext>
                  </a:extLst>
                </p:cNvPr>
                <p:cNvSpPr>
                  <a:spLocks noRot="1" noChangeAspect="1" noMove="1" noResize="1" noEditPoints="1" noAdjustHandles="1" noChangeArrowheads="1" noChangeShapeType="1" noTextEdit="1"/>
                </p:cNvSpPr>
                <p:nvPr/>
              </p:nvSpPr>
              <p:spPr>
                <a:xfrm>
                  <a:off x="5207516" y="1676400"/>
                  <a:ext cx="3174484" cy="1216028"/>
                </a:xfrm>
                <a:custGeom>
                  <a:avLst/>
                  <a:gdLst>
                    <a:gd name="connsiteX0" fmla="*/ 0 w 3142496"/>
                    <a:gd name="connsiteY0" fmla="*/ 353766 h 2122552"/>
                    <a:gd name="connsiteX1" fmla="*/ 353766 w 3142496"/>
                    <a:gd name="connsiteY1" fmla="*/ 0 h 2122552"/>
                    <a:gd name="connsiteX2" fmla="*/ 2788730 w 3142496"/>
                    <a:gd name="connsiteY2" fmla="*/ 0 h 2122552"/>
                    <a:gd name="connsiteX3" fmla="*/ 3142496 w 3142496"/>
                    <a:gd name="connsiteY3" fmla="*/ 353766 h 2122552"/>
                    <a:gd name="connsiteX4" fmla="*/ 3142496 w 3142496"/>
                    <a:gd name="connsiteY4" fmla="*/ 1768786 h 2122552"/>
                    <a:gd name="connsiteX5" fmla="*/ 2788730 w 3142496"/>
                    <a:gd name="connsiteY5" fmla="*/ 2122552 h 2122552"/>
                    <a:gd name="connsiteX6" fmla="*/ 353766 w 3142496"/>
                    <a:gd name="connsiteY6" fmla="*/ 2122552 h 2122552"/>
                    <a:gd name="connsiteX7" fmla="*/ 0 w 3142496"/>
                    <a:gd name="connsiteY7" fmla="*/ 1768786 h 2122552"/>
                    <a:gd name="connsiteX8" fmla="*/ 0 w 3142496"/>
                    <a:gd name="connsiteY8" fmla="*/ 353766 h 212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42496" h="2122552">
                      <a:moveTo>
                        <a:pt x="0" y="353766"/>
                      </a:moveTo>
                      <a:cubicBezTo>
                        <a:pt x="0" y="158386"/>
                        <a:pt x="158386" y="0"/>
                        <a:pt x="353766" y="0"/>
                      </a:cubicBezTo>
                      <a:lnTo>
                        <a:pt x="2788730" y="0"/>
                      </a:lnTo>
                      <a:cubicBezTo>
                        <a:pt x="2984110" y="0"/>
                        <a:pt x="3142496" y="158386"/>
                        <a:pt x="3142496" y="353766"/>
                      </a:cubicBezTo>
                      <a:lnTo>
                        <a:pt x="3142496" y="1768786"/>
                      </a:lnTo>
                      <a:cubicBezTo>
                        <a:pt x="3142496" y="1964166"/>
                        <a:pt x="2984110" y="2122552"/>
                        <a:pt x="2788730" y="2122552"/>
                      </a:cubicBezTo>
                      <a:lnTo>
                        <a:pt x="353766" y="2122552"/>
                      </a:lnTo>
                      <a:cubicBezTo>
                        <a:pt x="158386" y="2122552"/>
                        <a:pt x="0" y="1964166"/>
                        <a:pt x="0" y="1768786"/>
                      </a:cubicBezTo>
                      <a:lnTo>
                        <a:pt x="0" y="353766"/>
                      </a:lnTo>
                      <a:close/>
                    </a:path>
                  </a:pathLst>
                </a:custGeom>
                <a:blipFill>
                  <a:blip r:embed="rId3"/>
                  <a:stretch>
                    <a:fillRect t="-5970"/>
                  </a:stretch>
                </a:blipFill>
              </p:spPr>
              <p:txBody>
                <a:bodyPr/>
                <a:lstStyle/>
                <a:p>
                  <a:r>
                    <a:rPr lang="en-US">
                      <a:noFill/>
                    </a:rPr>
                    <a:t> </a:t>
                  </a:r>
                </a:p>
              </p:txBody>
            </p:sp>
          </mc:Fallback>
        </mc:AlternateContent>
        <p:sp>
          <p:nvSpPr>
            <p:cNvPr id="5" name="Cross 4">
              <a:extLst>
                <a:ext uri="{FF2B5EF4-FFF2-40B4-BE49-F238E27FC236}">
                  <a16:creationId xmlns:a16="http://schemas.microsoft.com/office/drawing/2014/main" id="{5ED469A2-3E33-4204-B1C5-2D50F4C69902}"/>
                </a:ext>
              </a:extLst>
            </p:cNvPr>
            <p:cNvSpPr/>
            <p:nvPr/>
          </p:nvSpPr>
          <p:spPr>
            <a:xfrm>
              <a:off x="4114800" y="1978028"/>
              <a:ext cx="635515" cy="609600"/>
            </a:xfrm>
            <a:prstGeom prst="plus">
              <a:avLst>
                <a:gd name="adj" fmla="val 43293"/>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14824760-C71E-8564-F481-6C4325170E2B}"/>
              </a:ext>
            </a:extLst>
          </p:cNvPr>
          <p:cNvGrpSpPr/>
          <p:nvPr/>
        </p:nvGrpSpPr>
        <p:grpSpPr>
          <a:xfrm>
            <a:off x="867152" y="4556125"/>
            <a:ext cx="7562094" cy="1216028"/>
            <a:chOff x="717790" y="4557711"/>
            <a:chExt cx="7562094" cy="1216028"/>
          </a:xfrm>
        </p:grpSpPr>
        <p:sp>
          <p:nvSpPr>
            <p:cNvPr id="8" name="Freeform: Shape 7">
              <a:extLst>
                <a:ext uri="{FF2B5EF4-FFF2-40B4-BE49-F238E27FC236}">
                  <a16:creationId xmlns:a16="http://schemas.microsoft.com/office/drawing/2014/main" id="{1230E871-6E5A-4924-7A46-C5B2A995E9E8}"/>
                </a:ext>
              </a:extLst>
            </p:cNvPr>
            <p:cNvSpPr/>
            <p:nvPr/>
          </p:nvSpPr>
          <p:spPr>
            <a:xfrm>
              <a:off x="717790" y="4557711"/>
              <a:ext cx="2868113" cy="1216028"/>
            </a:xfrm>
            <a:custGeom>
              <a:avLst/>
              <a:gdLst>
                <a:gd name="connsiteX0" fmla="*/ 0 w 2839212"/>
                <a:gd name="connsiteY0" fmla="*/ 353766 h 2122552"/>
                <a:gd name="connsiteX1" fmla="*/ 353766 w 2839212"/>
                <a:gd name="connsiteY1" fmla="*/ 0 h 2122552"/>
                <a:gd name="connsiteX2" fmla="*/ 2485446 w 2839212"/>
                <a:gd name="connsiteY2" fmla="*/ 0 h 2122552"/>
                <a:gd name="connsiteX3" fmla="*/ 2839212 w 2839212"/>
                <a:gd name="connsiteY3" fmla="*/ 353766 h 2122552"/>
                <a:gd name="connsiteX4" fmla="*/ 2839212 w 2839212"/>
                <a:gd name="connsiteY4" fmla="*/ 1768786 h 2122552"/>
                <a:gd name="connsiteX5" fmla="*/ 2485446 w 2839212"/>
                <a:gd name="connsiteY5" fmla="*/ 2122552 h 2122552"/>
                <a:gd name="connsiteX6" fmla="*/ 353766 w 2839212"/>
                <a:gd name="connsiteY6" fmla="*/ 2122552 h 2122552"/>
                <a:gd name="connsiteX7" fmla="*/ 0 w 2839212"/>
                <a:gd name="connsiteY7" fmla="*/ 1768786 h 2122552"/>
                <a:gd name="connsiteX8" fmla="*/ 0 w 2839212"/>
                <a:gd name="connsiteY8" fmla="*/ 353766 h 212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39212" h="2122552">
                  <a:moveTo>
                    <a:pt x="0" y="353766"/>
                  </a:moveTo>
                  <a:cubicBezTo>
                    <a:pt x="0" y="158386"/>
                    <a:pt x="158386" y="0"/>
                    <a:pt x="353766" y="0"/>
                  </a:cubicBezTo>
                  <a:lnTo>
                    <a:pt x="2485446" y="0"/>
                  </a:lnTo>
                  <a:cubicBezTo>
                    <a:pt x="2680826" y="0"/>
                    <a:pt x="2839212" y="158386"/>
                    <a:pt x="2839212" y="353766"/>
                  </a:cubicBezTo>
                  <a:lnTo>
                    <a:pt x="2839212" y="1768786"/>
                  </a:lnTo>
                  <a:cubicBezTo>
                    <a:pt x="2839212" y="1964166"/>
                    <a:pt x="2680826" y="2122552"/>
                    <a:pt x="2485446" y="2122552"/>
                  </a:cubicBezTo>
                  <a:lnTo>
                    <a:pt x="353766" y="2122552"/>
                  </a:lnTo>
                  <a:cubicBezTo>
                    <a:pt x="158386" y="2122552"/>
                    <a:pt x="0" y="1964166"/>
                    <a:pt x="0" y="1768786"/>
                  </a:cubicBezTo>
                  <a:lnTo>
                    <a:pt x="0" y="353766"/>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2684" tIns="193149" rIns="282684" bIns="193149" numCol="1" spcCol="1270" anchor="ctr" anchorCtr="0">
              <a:noAutofit/>
            </a:bodyPr>
            <a:lstStyle/>
            <a:p>
              <a:pPr marL="0" lvl="0" indent="0" algn="ctr" defTabSz="2089150">
                <a:lnSpc>
                  <a:spcPct val="90000"/>
                </a:lnSpc>
                <a:spcBef>
                  <a:spcPct val="0"/>
                </a:spcBef>
                <a:spcAft>
                  <a:spcPct val="35000"/>
                </a:spcAft>
                <a:buNone/>
              </a:pPr>
              <a:r>
                <a:rPr lang="en-US" sz="4700" kern="1200" dirty="0"/>
                <a:t>Best-First Search</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E9138DA5-B2BE-934F-D73A-30BB99F511D4}"/>
                    </a:ext>
                  </a:extLst>
                </p:cNvPr>
                <p:cNvSpPr/>
                <p:nvPr/>
              </p:nvSpPr>
              <p:spPr>
                <a:xfrm>
                  <a:off x="5105400" y="4557711"/>
                  <a:ext cx="3174484" cy="1216028"/>
                </a:xfrm>
                <a:custGeom>
                  <a:avLst/>
                  <a:gdLst>
                    <a:gd name="connsiteX0" fmla="*/ 0 w 3142496"/>
                    <a:gd name="connsiteY0" fmla="*/ 353766 h 2122552"/>
                    <a:gd name="connsiteX1" fmla="*/ 353766 w 3142496"/>
                    <a:gd name="connsiteY1" fmla="*/ 0 h 2122552"/>
                    <a:gd name="connsiteX2" fmla="*/ 2788730 w 3142496"/>
                    <a:gd name="connsiteY2" fmla="*/ 0 h 2122552"/>
                    <a:gd name="connsiteX3" fmla="*/ 3142496 w 3142496"/>
                    <a:gd name="connsiteY3" fmla="*/ 353766 h 2122552"/>
                    <a:gd name="connsiteX4" fmla="*/ 3142496 w 3142496"/>
                    <a:gd name="connsiteY4" fmla="*/ 1768786 h 2122552"/>
                    <a:gd name="connsiteX5" fmla="*/ 2788730 w 3142496"/>
                    <a:gd name="connsiteY5" fmla="*/ 2122552 h 2122552"/>
                    <a:gd name="connsiteX6" fmla="*/ 353766 w 3142496"/>
                    <a:gd name="connsiteY6" fmla="*/ 2122552 h 2122552"/>
                    <a:gd name="connsiteX7" fmla="*/ 0 w 3142496"/>
                    <a:gd name="connsiteY7" fmla="*/ 1768786 h 2122552"/>
                    <a:gd name="connsiteX8" fmla="*/ 0 w 3142496"/>
                    <a:gd name="connsiteY8" fmla="*/ 353766 h 212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42496" h="2122552">
                      <a:moveTo>
                        <a:pt x="0" y="353766"/>
                      </a:moveTo>
                      <a:cubicBezTo>
                        <a:pt x="0" y="158386"/>
                        <a:pt x="158386" y="0"/>
                        <a:pt x="353766" y="0"/>
                      </a:cubicBezTo>
                      <a:lnTo>
                        <a:pt x="2788730" y="0"/>
                      </a:lnTo>
                      <a:cubicBezTo>
                        <a:pt x="2984110" y="0"/>
                        <a:pt x="3142496" y="158386"/>
                        <a:pt x="3142496" y="353766"/>
                      </a:cubicBezTo>
                      <a:lnTo>
                        <a:pt x="3142496" y="1768786"/>
                      </a:lnTo>
                      <a:cubicBezTo>
                        <a:pt x="3142496" y="1964166"/>
                        <a:pt x="2984110" y="2122552"/>
                        <a:pt x="2788730" y="2122552"/>
                      </a:cubicBezTo>
                      <a:lnTo>
                        <a:pt x="353766" y="2122552"/>
                      </a:lnTo>
                      <a:cubicBezTo>
                        <a:pt x="158386" y="2122552"/>
                        <a:pt x="0" y="1964166"/>
                        <a:pt x="0" y="1768786"/>
                      </a:cubicBezTo>
                      <a:lnTo>
                        <a:pt x="0" y="353766"/>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95054" tIns="149334" rIns="195054" bIns="149334" numCol="1" spcCol="1270" anchor="ctr" anchorCtr="0">
                  <a:noAutofit/>
                </a:bodyPr>
                <a:lstStyle/>
                <a:p>
                  <a:pPr marL="0" lvl="0" indent="0" algn="ctr" defTabSz="1066800">
                    <a:lnSpc>
                      <a:spcPct val="90000"/>
                    </a:lnSpc>
                    <a:spcBef>
                      <a:spcPct val="0"/>
                    </a:spcBef>
                    <a:spcAft>
                      <a:spcPct val="35000"/>
                    </a:spcAft>
                    <a:buNone/>
                  </a:pPr>
                  <a:r>
                    <a:rPr lang="en-US" sz="2400" kern="1200" dirty="0"/>
                    <a:t>Expand the frontier using</a:t>
                  </a:r>
                  <a:br>
                    <a:rPr lang="en-US" sz="2400" kern="1200" dirty="0"/>
                  </a:br>
                  <a14:m>
                    <m:oMath xmlns:m="http://schemas.openxmlformats.org/officeDocument/2006/math">
                      <m:r>
                        <a:rPr lang="en-US" sz="2400" b="0" i="1" kern="1200" smtClean="0">
                          <a:latin typeface="Cambria Math" panose="02040503050406030204" pitchFamily="18" charset="0"/>
                        </a:rPr>
                        <m:t> </m:t>
                      </m:r>
                      <m:r>
                        <a:rPr lang="en-US" sz="2400" b="0" i="1" kern="1200" smtClean="0">
                          <a:latin typeface="Cambria Math" panose="02040503050406030204" pitchFamily="18" charset="0"/>
                        </a:rPr>
                        <m:t>𝑓</m:t>
                      </m:r>
                      <m:d>
                        <m:dPr>
                          <m:ctrlPr>
                            <a:rPr lang="en-US" sz="2400" b="0" i="1" kern="1200" smtClean="0">
                              <a:latin typeface="Cambria Math" panose="02040503050406030204" pitchFamily="18" charset="0"/>
                            </a:rPr>
                          </m:ctrlPr>
                        </m:dPr>
                        <m:e>
                          <m:r>
                            <a:rPr lang="en-US" sz="2400" b="0" i="1" kern="1200" smtClean="0">
                              <a:latin typeface="Cambria Math" panose="02040503050406030204" pitchFamily="18" charset="0"/>
                            </a:rPr>
                            <m:t>𝑛</m:t>
                          </m:r>
                        </m:e>
                      </m:d>
                      <m:r>
                        <a:rPr lang="en-US" sz="2400" b="0" i="1" kern="1200" smtClean="0">
                          <a:latin typeface="Cambria Math" panose="02040503050406030204" pitchFamily="18" charset="0"/>
                        </a:rPr>
                        <m:t>=</m:t>
                      </m:r>
                      <m:r>
                        <a:rPr lang="en-US" sz="2400" b="0" i="1" kern="1200" smtClean="0">
                          <a:latin typeface="Cambria Math" panose="02040503050406030204" pitchFamily="18" charset="0"/>
                        </a:rPr>
                        <m:t>h</m:t>
                      </m:r>
                      <m:d>
                        <m:dPr>
                          <m:ctrlPr>
                            <a:rPr lang="en-US" sz="2400" b="0" i="1" kern="1200" smtClean="0">
                              <a:latin typeface="Cambria Math" panose="02040503050406030204" pitchFamily="18" charset="0"/>
                            </a:rPr>
                          </m:ctrlPr>
                        </m:dPr>
                        <m:e>
                          <m:r>
                            <a:rPr lang="en-US" sz="2400" b="0" i="1" kern="1200" smtClean="0">
                              <a:latin typeface="Cambria Math" panose="02040503050406030204" pitchFamily="18" charset="0"/>
                            </a:rPr>
                            <m:t>𝑛</m:t>
                          </m:r>
                        </m:e>
                      </m:d>
                      <m:r>
                        <a:rPr lang="en-US" sz="2400" b="1" i="1" kern="1200" smtClean="0">
                          <a:solidFill>
                            <a:srgbClr val="FF0000"/>
                          </a:solidFill>
                          <a:latin typeface="Cambria Math" panose="02040503050406030204" pitchFamily="18" charset="0"/>
                        </a:rPr>
                        <m:t>+</m:t>
                      </m:r>
                      <m:r>
                        <a:rPr lang="en-US" sz="2400" b="1" i="1" kern="1200" smtClean="0">
                          <a:solidFill>
                            <a:srgbClr val="FF0000"/>
                          </a:solidFill>
                          <a:latin typeface="Cambria Math" panose="02040503050406030204" pitchFamily="18" charset="0"/>
                        </a:rPr>
                        <m:t>𝒈</m:t>
                      </m:r>
                      <m:r>
                        <a:rPr lang="en-US" sz="2400" b="1" i="1" kern="1200" smtClean="0">
                          <a:solidFill>
                            <a:srgbClr val="FF0000"/>
                          </a:solidFill>
                          <a:latin typeface="Cambria Math" panose="02040503050406030204" pitchFamily="18" charset="0"/>
                        </a:rPr>
                        <m:t>(</m:t>
                      </m:r>
                      <m:r>
                        <a:rPr lang="en-US" sz="2400" b="1" i="1" kern="1200" smtClean="0">
                          <a:solidFill>
                            <a:srgbClr val="FF0000"/>
                          </a:solidFill>
                          <a:latin typeface="Cambria Math" panose="02040503050406030204" pitchFamily="18" charset="0"/>
                        </a:rPr>
                        <m:t>𝒏</m:t>
                      </m:r>
                      <m:r>
                        <a:rPr lang="en-US" sz="2400" b="1" i="1" kern="1200" smtClean="0">
                          <a:solidFill>
                            <a:srgbClr val="FF0000"/>
                          </a:solidFill>
                          <a:latin typeface="Cambria Math" panose="02040503050406030204" pitchFamily="18" charset="0"/>
                        </a:rPr>
                        <m:t>)</m:t>
                      </m:r>
                    </m:oMath>
                  </a14:m>
                  <a:r>
                    <a:rPr lang="en-US" sz="2400" b="1" kern="1200" dirty="0">
                      <a:solidFill>
                        <a:srgbClr val="FF0000"/>
                      </a:solidFill>
                    </a:rPr>
                    <a:t> </a:t>
                  </a:r>
                  <a:endParaRPr lang="en-US" sz="2400" b="1" kern="1200" dirty="0"/>
                </a:p>
              </p:txBody>
            </p:sp>
          </mc:Choice>
          <mc:Fallback xmlns="">
            <p:sp>
              <p:nvSpPr>
                <p:cNvPr id="9" name="Freeform: Shape 8">
                  <a:extLst>
                    <a:ext uri="{FF2B5EF4-FFF2-40B4-BE49-F238E27FC236}">
                      <a16:creationId xmlns:a16="http://schemas.microsoft.com/office/drawing/2014/main" id="{E9138DA5-B2BE-934F-D73A-30BB99F511D4}"/>
                    </a:ext>
                  </a:extLst>
                </p:cNvPr>
                <p:cNvSpPr>
                  <a:spLocks noRot="1" noChangeAspect="1" noMove="1" noResize="1" noEditPoints="1" noAdjustHandles="1" noChangeArrowheads="1" noChangeShapeType="1" noTextEdit="1"/>
                </p:cNvSpPr>
                <p:nvPr/>
              </p:nvSpPr>
              <p:spPr>
                <a:xfrm>
                  <a:off x="5105400" y="4557711"/>
                  <a:ext cx="3174484" cy="1216028"/>
                </a:xfrm>
                <a:custGeom>
                  <a:avLst/>
                  <a:gdLst>
                    <a:gd name="connsiteX0" fmla="*/ 0 w 3142496"/>
                    <a:gd name="connsiteY0" fmla="*/ 353766 h 2122552"/>
                    <a:gd name="connsiteX1" fmla="*/ 353766 w 3142496"/>
                    <a:gd name="connsiteY1" fmla="*/ 0 h 2122552"/>
                    <a:gd name="connsiteX2" fmla="*/ 2788730 w 3142496"/>
                    <a:gd name="connsiteY2" fmla="*/ 0 h 2122552"/>
                    <a:gd name="connsiteX3" fmla="*/ 3142496 w 3142496"/>
                    <a:gd name="connsiteY3" fmla="*/ 353766 h 2122552"/>
                    <a:gd name="connsiteX4" fmla="*/ 3142496 w 3142496"/>
                    <a:gd name="connsiteY4" fmla="*/ 1768786 h 2122552"/>
                    <a:gd name="connsiteX5" fmla="*/ 2788730 w 3142496"/>
                    <a:gd name="connsiteY5" fmla="*/ 2122552 h 2122552"/>
                    <a:gd name="connsiteX6" fmla="*/ 353766 w 3142496"/>
                    <a:gd name="connsiteY6" fmla="*/ 2122552 h 2122552"/>
                    <a:gd name="connsiteX7" fmla="*/ 0 w 3142496"/>
                    <a:gd name="connsiteY7" fmla="*/ 1768786 h 2122552"/>
                    <a:gd name="connsiteX8" fmla="*/ 0 w 3142496"/>
                    <a:gd name="connsiteY8" fmla="*/ 353766 h 212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42496" h="2122552">
                      <a:moveTo>
                        <a:pt x="0" y="353766"/>
                      </a:moveTo>
                      <a:cubicBezTo>
                        <a:pt x="0" y="158386"/>
                        <a:pt x="158386" y="0"/>
                        <a:pt x="353766" y="0"/>
                      </a:cubicBezTo>
                      <a:lnTo>
                        <a:pt x="2788730" y="0"/>
                      </a:lnTo>
                      <a:cubicBezTo>
                        <a:pt x="2984110" y="0"/>
                        <a:pt x="3142496" y="158386"/>
                        <a:pt x="3142496" y="353766"/>
                      </a:cubicBezTo>
                      <a:lnTo>
                        <a:pt x="3142496" y="1768786"/>
                      </a:lnTo>
                      <a:cubicBezTo>
                        <a:pt x="3142496" y="1964166"/>
                        <a:pt x="2984110" y="2122552"/>
                        <a:pt x="2788730" y="2122552"/>
                      </a:cubicBezTo>
                      <a:lnTo>
                        <a:pt x="353766" y="2122552"/>
                      </a:lnTo>
                      <a:cubicBezTo>
                        <a:pt x="158386" y="2122552"/>
                        <a:pt x="0" y="1964166"/>
                        <a:pt x="0" y="1768786"/>
                      </a:cubicBezTo>
                      <a:lnTo>
                        <a:pt x="0" y="353766"/>
                      </a:lnTo>
                      <a:close/>
                    </a:path>
                  </a:pathLst>
                </a:custGeom>
                <a:blipFill>
                  <a:blip r:embed="rId4"/>
                  <a:stretch>
                    <a:fillRect t="-495" b="-990"/>
                  </a:stretch>
                </a:blipFill>
              </p:spPr>
              <p:txBody>
                <a:bodyPr/>
                <a:lstStyle/>
                <a:p>
                  <a:r>
                    <a:rPr lang="en-US">
                      <a:noFill/>
                    </a:rPr>
                    <a:t> </a:t>
                  </a:r>
                </a:p>
              </p:txBody>
            </p:sp>
          </mc:Fallback>
        </mc:AlternateContent>
        <p:sp>
          <p:nvSpPr>
            <p:cNvPr id="10" name="Cross 9">
              <a:extLst>
                <a:ext uri="{FF2B5EF4-FFF2-40B4-BE49-F238E27FC236}">
                  <a16:creationId xmlns:a16="http://schemas.microsoft.com/office/drawing/2014/main" id="{0C101B1A-7CC3-DFA0-70B6-120F75C5DA98}"/>
                </a:ext>
              </a:extLst>
            </p:cNvPr>
            <p:cNvSpPr/>
            <p:nvPr/>
          </p:nvSpPr>
          <p:spPr>
            <a:xfrm>
              <a:off x="4012684" y="4859339"/>
              <a:ext cx="635515" cy="609600"/>
            </a:xfrm>
            <a:prstGeom prst="plus">
              <a:avLst>
                <a:gd name="adj" fmla="val 43293"/>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grpSp>
      <p:sp>
        <p:nvSpPr>
          <p:cNvPr id="11" name="Title 1">
            <a:extLst>
              <a:ext uri="{FF2B5EF4-FFF2-40B4-BE49-F238E27FC236}">
                <a16:creationId xmlns:a16="http://schemas.microsoft.com/office/drawing/2014/main" id="{F15FD8C6-1635-6761-7836-E19829187DD7}"/>
              </a:ext>
            </a:extLst>
          </p:cNvPr>
          <p:cNvSpPr txBox="1">
            <a:spLocks/>
          </p:cNvSpPr>
          <p:nvPr/>
        </p:nvSpPr>
        <p:spPr>
          <a:xfrm>
            <a:off x="635276" y="3429000"/>
            <a:ext cx="788670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2800" dirty="0"/>
              <a:t>A* Search</a:t>
            </a:r>
          </a:p>
        </p:txBody>
      </p:sp>
      <p:sp>
        <p:nvSpPr>
          <p:cNvPr id="12" name="Title 1">
            <a:extLst>
              <a:ext uri="{FF2B5EF4-FFF2-40B4-BE49-F238E27FC236}">
                <a16:creationId xmlns:a16="http://schemas.microsoft.com/office/drawing/2014/main" id="{5228C7B4-384E-0C22-4D50-173E541AF9E6}"/>
              </a:ext>
            </a:extLst>
          </p:cNvPr>
          <p:cNvSpPr txBox="1">
            <a:spLocks/>
          </p:cNvSpPr>
          <p:nvPr/>
        </p:nvSpPr>
        <p:spPr>
          <a:xfrm>
            <a:off x="495300" y="1027907"/>
            <a:ext cx="788670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2800" dirty="0"/>
              <a:t>Greedy Best-First search</a:t>
            </a:r>
          </a:p>
        </p:txBody>
      </p:sp>
    </p:spTree>
    <p:extLst>
      <p:ext uri="{BB962C8B-B14F-4D97-AF65-F5344CB8AC3E}">
        <p14:creationId xmlns:p14="http://schemas.microsoft.com/office/powerpoint/2010/main" val="8786653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Heuristics from Relaxed Problems</a:t>
            </a:r>
          </a:p>
        </p:txBody>
      </p:sp>
      <p:sp>
        <p:nvSpPr>
          <p:cNvPr id="3" name="Content Placeholder 2"/>
          <p:cNvSpPr>
            <a:spLocks noGrp="1"/>
          </p:cNvSpPr>
          <p:nvPr>
            <p:ph idx="1"/>
          </p:nvPr>
        </p:nvSpPr>
        <p:spPr>
          <a:xfrm>
            <a:off x="457200" y="1219200"/>
            <a:ext cx="8229600" cy="4525963"/>
          </a:xfrm>
        </p:spPr>
        <p:txBody>
          <a:bodyPr>
            <a:normAutofit/>
          </a:bodyPr>
          <a:lstStyle/>
          <a:p>
            <a:pPr marL="0" indent="0" algn="ctr">
              <a:buNone/>
            </a:pPr>
            <a:r>
              <a:rPr lang="en-US" sz="2400" b="1" dirty="0"/>
              <a:t>What relaxations are used in these two cases?</a:t>
            </a:r>
          </a:p>
        </p:txBody>
      </p:sp>
      <p:pic>
        <p:nvPicPr>
          <p:cNvPr id="5"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652534" y="2678960"/>
            <a:ext cx="3272163" cy="3272163"/>
          </a:xfrm>
          <a:prstGeom prst="rect">
            <a:avLst/>
          </a:prstGeom>
          <a:noFill/>
          <a:ln w="9525">
            <a:noFill/>
            <a:miter lim="800000"/>
            <a:headEnd/>
            <a:tailEnd/>
          </a:ln>
        </p:spPr>
      </p:pic>
      <p:sp>
        <p:nvSpPr>
          <p:cNvPr id="6" name="Down Arrow 5"/>
          <p:cNvSpPr/>
          <p:nvPr/>
        </p:nvSpPr>
        <p:spPr>
          <a:xfrm>
            <a:off x="834321" y="2427299"/>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457200" y="2133600"/>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4068898" y="5547973"/>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59747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49209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85637" y="5042189"/>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4843534" y="2650385"/>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25321" y="2398724"/>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200" y="21050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236888" y="5519398"/>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59612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48924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0136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828800"/>
            <a:ext cx="1952779" cy="369332"/>
          </a:xfrm>
          <a:prstGeom prst="rect">
            <a:avLst/>
          </a:prstGeom>
        </p:spPr>
        <p:txBody>
          <a:bodyPr wrap="none">
            <a:spAutoFit/>
          </a:bodyPr>
          <a:lstStyle/>
          <a:p>
            <a:r>
              <a:rPr lang="en-US" b="1" dirty="0"/>
              <a:t>Euclidean distance</a:t>
            </a:r>
          </a:p>
        </p:txBody>
      </p:sp>
      <p:sp>
        <p:nvSpPr>
          <p:cNvPr id="19" name="Rectangle 18">
            <a:extLst>
              <a:ext uri="{FF2B5EF4-FFF2-40B4-BE49-F238E27FC236}">
                <a16:creationId xmlns:a16="http://schemas.microsoft.com/office/drawing/2014/main" id="{6B0D99D0-DFBD-4069-8820-82E7E0CAE9B6}"/>
              </a:ext>
            </a:extLst>
          </p:cNvPr>
          <p:cNvSpPr/>
          <p:nvPr/>
        </p:nvSpPr>
        <p:spPr>
          <a:xfrm>
            <a:off x="5514821" y="1840468"/>
            <a:ext cx="2099614" cy="369332"/>
          </a:xfrm>
          <a:prstGeom prst="rect">
            <a:avLst/>
          </a:prstGeom>
        </p:spPr>
        <p:txBody>
          <a:bodyPr wrap="none">
            <a:spAutoFit/>
          </a:bodyPr>
          <a:lstStyle/>
          <a:p>
            <a:r>
              <a:rPr lang="en-US" b="1" dirty="0"/>
              <a:t>Manhattan distance</a:t>
            </a:r>
          </a:p>
        </p:txBody>
      </p:sp>
      <p:sp>
        <p:nvSpPr>
          <p:cNvPr id="21" name="TextBox 20">
            <a:extLst>
              <a:ext uri="{FF2B5EF4-FFF2-40B4-BE49-F238E27FC236}">
                <a16:creationId xmlns:a16="http://schemas.microsoft.com/office/drawing/2014/main" id="{47BB72C0-4DFE-5997-5FAD-F8E06F9281B2}"/>
              </a:ext>
            </a:extLst>
          </p:cNvPr>
          <p:cNvSpPr txBox="1"/>
          <p:nvPr/>
        </p:nvSpPr>
        <p:spPr>
          <a:xfrm>
            <a:off x="2362200" y="6372536"/>
            <a:ext cx="4572000" cy="369332"/>
          </a:xfrm>
          <a:prstGeom prst="rect">
            <a:avLst/>
          </a:prstGeom>
          <a:noFill/>
        </p:spPr>
        <p:txBody>
          <a:bodyPr wrap="square">
            <a:spAutoFit/>
          </a:bodyPr>
          <a:lstStyle/>
          <a:p>
            <a:pPr marL="0" indent="0" algn="ctr">
              <a:buNone/>
            </a:pPr>
            <a:r>
              <a:rPr lang="en-US" sz="1800" b="1" dirty="0"/>
              <a:t>Which heuristic is admissible for A* search?</a:t>
            </a:r>
          </a:p>
        </p:txBody>
      </p:sp>
    </p:spTree>
    <p:extLst>
      <p:ext uri="{BB962C8B-B14F-4D97-AF65-F5344CB8AC3E}">
        <p14:creationId xmlns:p14="http://schemas.microsoft.com/office/powerpoint/2010/main" val="746709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dirty="0"/>
              <a:t>A* Search Optimality: Admissible Heuristics</a:t>
            </a:r>
          </a:p>
        </p:txBody>
      </p:sp>
      <mc:AlternateContent xmlns:mc="http://schemas.openxmlformats.org/markup-compatibility/2006" xmlns:a14="http://schemas.microsoft.com/office/drawing/2010/main">
        <mc:Choice Requires="a14">
          <p:sp>
            <p:nvSpPr>
              <p:cNvPr id="22531" name="Rectangle 3"/>
              <p:cNvSpPr>
                <a:spLocks noGrp="1" noChangeArrowheads="1"/>
              </p:cNvSpPr>
              <p:nvPr>
                <p:ph idx="1"/>
              </p:nvPr>
            </p:nvSpPr>
            <p:spPr/>
            <p:txBody>
              <a:bodyPr>
                <a:normAutofit/>
              </a:bodyPr>
              <a:lstStyle/>
              <a:p>
                <a:pPr marL="0" indent="0">
                  <a:buNone/>
                </a:pPr>
                <a:r>
                  <a:rPr lang="en-US" sz="2400" b="1" dirty="0"/>
                  <a:t>Definition: </a:t>
                </a:r>
                <a:r>
                  <a:rPr lang="en-US" sz="2400" dirty="0"/>
                  <a:t>A heuristic </a:t>
                </a:r>
                <a14:m>
                  <m:oMath xmlns:m="http://schemas.openxmlformats.org/officeDocument/2006/math">
                    <m:r>
                      <a:rPr lang="en-US" sz="2400" b="0" i="1" dirty="0" smtClean="0">
                        <a:latin typeface="Cambria Math" panose="02040503050406030204" pitchFamily="18" charset="0"/>
                        <a:cs typeface="Arial" pitchFamily="34" charset="0"/>
                      </a:rPr>
                      <m:t>h</m:t>
                    </m:r>
                  </m:oMath>
                </a14:m>
                <a:r>
                  <a:rPr lang="en-US" sz="2400" dirty="0"/>
                  <a:t> is </a:t>
                </a:r>
                <a:r>
                  <a:rPr lang="en-US" sz="2400" b="1" dirty="0">
                    <a:solidFill>
                      <a:srgbClr val="FF0000"/>
                    </a:solidFill>
                  </a:rPr>
                  <a:t>admissible</a:t>
                </a:r>
                <a:r>
                  <a:rPr lang="en-US" sz="2400" dirty="0"/>
                  <a:t> if for every node </a:t>
                </a:r>
                <a14:m>
                  <m:oMath xmlns:m="http://schemas.openxmlformats.org/officeDocument/2006/math">
                    <m:r>
                      <a:rPr lang="en-US" sz="2400" i="1" dirty="0" smtClean="0">
                        <a:latin typeface="Cambria Math" panose="02040503050406030204" pitchFamily="18" charset="0"/>
                      </a:rPr>
                      <m:t>𝑛</m:t>
                    </m:r>
                  </m:oMath>
                </a14:m>
                <a:r>
                  <a:rPr lang="en-US" sz="2400" dirty="0"/>
                  <a:t>, </a:t>
                </a:r>
                <a14:m>
                  <m:oMath xmlns:m="http://schemas.openxmlformats.org/officeDocument/2006/math">
                    <m:r>
                      <a:rPr lang="en-US" sz="2400" i="1" dirty="0" smtClean="0">
                        <a:latin typeface="Cambria Math" panose="02040503050406030204" pitchFamily="18" charset="0"/>
                      </a:rPr>
                      <m:t>h</m:t>
                    </m:r>
                    <m:d>
                      <m:dPr>
                        <m:ctrlPr>
                          <a:rPr lang="en-US" sz="2400" i="1" dirty="0" smtClean="0">
                            <a:latin typeface="Cambria Math" panose="02040503050406030204" pitchFamily="18" charset="0"/>
                          </a:rPr>
                        </m:ctrlPr>
                      </m:dPr>
                      <m:e>
                        <m:r>
                          <a:rPr lang="en-US" sz="2400" i="1" dirty="0" smtClean="0">
                            <a:latin typeface="Cambria Math" panose="02040503050406030204" pitchFamily="18" charset="0"/>
                          </a:rPr>
                          <m:t>𝑛</m:t>
                        </m:r>
                      </m:e>
                    </m:d>
                    <m:r>
                      <a:rPr lang="en-US" sz="2400" i="1" dirty="0">
                        <a:latin typeface="Cambria Math" panose="02040503050406030204" pitchFamily="18" charset="0"/>
                        <a:cs typeface="Arial" pitchFamily="34" charset="0"/>
                      </a:rPr>
                      <m:t>≤</m:t>
                    </m:r>
                    <m:r>
                      <a:rPr lang="en-US" sz="2400" i="1" dirty="0">
                        <a:latin typeface="Cambria Math" panose="02040503050406030204" pitchFamily="18" charset="0"/>
                      </a:rPr>
                      <m:t> </m:t>
                    </m:r>
                    <m:sSup>
                      <m:sSupPr>
                        <m:ctrlPr>
                          <a:rPr lang="en-US" sz="2400" b="0" i="1" dirty="0" smtClean="0">
                            <a:latin typeface="Cambria Math" panose="02040503050406030204" pitchFamily="18" charset="0"/>
                            <a:cs typeface="Arial" pitchFamily="34" charset="0"/>
                          </a:rPr>
                        </m:ctrlPr>
                      </m:sSupPr>
                      <m:e>
                        <m:r>
                          <a:rPr lang="en-US" sz="2400" i="1" dirty="0">
                            <a:latin typeface="Cambria Math" panose="02040503050406030204" pitchFamily="18" charset="0"/>
                          </a:rPr>
                          <m:t>h</m:t>
                        </m:r>
                      </m:e>
                      <m:sup>
                        <m:r>
                          <a:rPr lang="en-US" sz="2400" b="0" i="1" dirty="0" smtClean="0">
                            <a:latin typeface="Cambria Math" panose="02040503050406030204" pitchFamily="18" charset="0"/>
                          </a:rPr>
                          <m:t>∗</m:t>
                        </m:r>
                      </m:sup>
                    </m:sSup>
                    <m:r>
                      <a:rPr lang="en-US" sz="2400" i="1" dirty="0">
                        <a:latin typeface="Cambria Math" panose="02040503050406030204" pitchFamily="18" charset="0"/>
                      </a:rPr>
                      <m:t>(</m:t>
                    </m:r>
                    <m:r>
                      <a:rPr lang="en-US" sz="2400" i="1" dirty="0">
                        <a:latin typeface="Cambria Math" panose="02040503050406030204" pitchFamily="18" charset="0"/>
                      </a:rPr>
                      <m:t>𝑛</m:t>
                    </m:r>
                    <m:r>
                      <a:rPr lang="en-US" sz="2400" i="1" dirty="0">
                        <a:latin typeface="Cambria Math" panose="02040503050406030204" pitchFamily="18" charset="0"/>
                      </a:rPr>
                      <m:t>)</m:t>
                    </m:r>
                  </m:oMath>
                </a14:m>
                <a:r>
                  <a:rPr lang="en-US" sz="2400" i="1" dirty="0"/>
                  <a:t>, </a:t>
                </a:r>
                <a:r>
                  <a:rPr lang="en-US" sz="2400" dirty="0"/>
                  <a:t>where </a:t>
                </a:r>
                <a14:m>
                  <m:oMath xmlns:m="http://schemas.openxmlformats.org/officeDocument/2006/math">
                    <m:sSup>
                      <m:sSupPr>
                        <m:ctrlPr>
                          <a:rPr lang="en-US" sz="2400" i="1" dirty="0">
                            <a:latin typeface="Cambria Math" panose="02040503050406030204" pitchFamily="18" charset="0"/>
                            <a:cs typeface="Arial" pitchFamily="34" charset="0"/>
                          </a:rPr>
                        </m:ctrlPr>
                      </m:sSupPr>
                      <m:e>
                        <m:r>
                          <a:rPr lang="en-US" sz="2400" i="1" dirty="0">
                            <a:latin typeface="Cambria Math" panose="02040503050406030204" pitchFamily="18" charset="0"/>
                          </a:rPr>
                          <m:t>h</m:t>
                        </m:r>
                      </m:e>
                      <m:sup>
                        <m:r>
                          <a:rPr lang="en-US" sz="2400" i="1" dirty="0">
                            <a:latin typeface="Cambria Math" panose="02040503050406030204" pitchFamily="18" charset="0"/>
                          </a:rPr>
                          <m:t>∗</m:t>
                        </m:r>
                      </m:sup>
                    </m:sSup>
                    <m:r>
                      <a:rPr lang="en-US" sz="2400" i="1" dirty="0">
                        <a:latin typeface="Cambria Math" panose="02040503050406030204" pitchFamily="18" charset="0"/>
                      </a:rPr>
                      <m:t>(</m:t>
                    </m:r>
                    <m:r>
                      <a:rPr lang="en-US" sz="2400" i="1" dirty="0">
                        <a:latin typeface="Cambria Math" panose="02040503050406030204" pitchFamily="18" charset="0"/>
                      </a:rPr>
                      <m:t>𝑛</m:t>
                    </m:r>
                    <m:r>
                      <a:rPr lang="en-US" sz="2400" i="1" dirty="0">
                        <a:latin typeface="Cambria Math" panose="02040503050406030204" pitchFamily="18" charset="0"/>
                      </a:rPr>
                      <m:t>)</m:t>
                    </m:r>
                  </m:oMath>
                </a14:m>
                <a:r>
                  <a:rPr lang="en-US" sz="2400" dirty="0"/>
                  <a:t> is the true cost to reach the goal state from </a:t>
                </a:r>
                <a14:m>
                  <m:oMath xmlns:m="http://schemas.openxmlformats.org/officeDocument/2006/math">
                    <m:r>
                      <a:rPr lang="en-US" sz="2400" i="1" dirty="0" smtClean="0">
                        <a:latin typeface="Cambria Math" panose="02040503050406030204" pitchFamily="18" charset="0"/>
                      </a:rPr>
                      <m:t>𝑛</m:t>
                    </m:r>
                  </m:oMath>
                </a14:m>
                <a:r>
                  <a:rPr lang="en-US" sz="2400" i="1" dirty="0"/>
                  <a:t>.</a:t>
                </a:r>
                <a:endParaRPr lang="en-US" sz="2400" dirty="0"/>
              </a:p>
              <a:p>
                <a:pPr marL="0" indent="0">
                  <a:buNone/>
                </a:pPr>
                <a:r>
                  <a:rPr lang="en-US" sz="2400" dirty="0"/>
                  <a:t>I.e., an admissible heuristic is a </a:t>
                </a:r>
                <a:r>
                  <a:rPr lang="en-US" sz="2400" b="1" dirty="0">
                    <a:solidFill>
                      <a:srgbClr val="FF0000"/>
                    </a:solidFill>
                  </a:rPr>
                  <a:t>lower bound</a:t>
                </a:r>
                <a:r>
                  <a:rPr lang="en-US" sz="2400" dirty="0"/>
                  <a:t> and never overestimates the true cost to reach the goal.</a:t>
                </a:r>
              </a:p>
              <a:p>
                <a:pPr marL="0" indent="0">
                  <a:buNone/>
                </a:pPr>
                <a:endParaRPr lang="en-US" sz="2400" dirty="0"/>
              </a:p>
              <a:p>
                <a:pPr marL="0" indent="0">
                  <a:buNone/>
                </a:pPr>
                <a:r>
                  <a:rPr lang="en-US" sz="2400" b="1" dirty="0"/>
                  <a:t>Example</a:t>
                </a:r>
                <a:r>
                  <a:rPr lang="en-US" sz="2400" dirty="0"/>
                  <a:t>: Straight line distance never overestimates the actual road distance.</a:t>
                </a:r>
              </a:p>
              <a:p>
                <a:endParaRPr lang="en-US" sz="2400" b="1" dirty="0">
                  <a:solidFill>
                    <a:srgbClr val="CC0099"/>
                  </a:solidFill>
                </a:endParaRPr>
              </a:p>
              <a:p>
                <a:pPr marL="0" indent="0">
                  <a:buNone/>
                </a:pPr>
                <a:r>
                  <a:rPr lang="en-US" sz="2400" b="1" dirty="0">
                    <a:solidFill>
                      <a:srgbClr val="FF0000"/>
                    </a:solidFill>
                  </a:rPr>
                  <a:t>Theorem:</a:t>
                </a:r>
                <a:r>
                  <a:rPr lang="en-US" sz="2400" dirty="0">
                    <a:solidFill>
                      <a:srgbClr val="FF0000"/>
                    </a:solidFill>
                  </a:rPr>
                  <a:t> </a:t>
                </a:r>
                <a:r>
                  <a:rPr lang="en-US" sz="2400" dirty="0"/>
                  <a:t>If </a:t>
                </a:r>
                <a14:m>
                  <m:oMath xmlns:m="http://schemas.openxmlformats.org/officeDocument/2006/math">
                    <m:r>
                      <a:rPr lang="en-US" sz="2400" i="1" dirty="0">
                        <a:latin typeface="Cambria Math" panose="02040503050406030204" pitchFamily="18" charset="0"/>
                        <a:cs typeface="Arial" pitchFamily="34" charset="0"/>
                      </a:rPr>
                      <m:t>h</m:t>
                    </m:r>
                  </m:oMath>
                </a14:m>
                <a:r>
                  <a:rPr lang="en-US" sz="2400" i="1" dirty="0"/>
                  <a:t> </a:t>
                </a:r>
                <a:r>
                  <a:rPr lang="en-US" sz="2400" dirty="0"/>
                  <a:t>is admissible, A</a:t>
                </a:r>
                <a:r>
                  <a:rPr lang="en-US" sz="2400" baseline="30000" dirty="0"/>
                  <a:t>*</a:t>
                </a:r>
                <a:r>
                  <a:rPr lang="en-US" sz="2400" dirty="0"/>
                  <a:t> is optimal.</a:t>
                </a:r>
              </a:p>
              <a:p>
                <a:pPr marL="0" indent="0">
                  <a:buNone/>
                </a:pPr>
                <a:endParaRPr lang="en-US" sz="2400" dirty="0"/>
              </a:p>
            </p:txBody>
          </p:sp>
        </mc:Choice>
        <mc:Fallback xmlns="">
          <p:sp>
            <p:nvSpPr>
              <p:cNvPr id="22531" name="Rectangle 3"/>
              <p:cNvSpPr>
                <a:spLocks noGrp="1" noRot="1" noChangeAspect="1" noMove="1" noResize="1" noEditPoints="1" noAdjustHandles="1" noChangeArrowheads="1" noChangeShapeType="1" noTextEdit="1"/>
              </p:cNvSpPr>
              <p:nvPr>
                <p:ph idx="1"/>
              </p:nvPr>
            </p:nvSpPr>
            <p:spPr>
              <a:blipFill>
                <a:blip r:embed="rId3"/>
                <a:stretch>
                  <a:fillRect l="-1159" t="-1961" r="-193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25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53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53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53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Satisficing Search: Weighted 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2289175"/>
              </a:xfrm>
            </p:spPr>
            <p:txBody>
              <a:bodyPr>
                <a:normAutofit fontScale="92500" lnSpcReduction="20000"/>
              </a:bodyPr>
              <a:lstStyle/>
              <a:p>
                <a:r>
                  <a:rPr lang="en-US" dirty="0"/>
                  <a:t>Often it is sufficient to find a </a:t>
                </a:r>
                <a:r>
                  <a:rPr lang="en-US" b="1" dirty="0">
                    <a:solidFill>
                      <a:srgbClr val="FF0000"/>
                    </a:solidFill>
                  </a:rPr>
                  <a:t>“good enough” solution </a:t>
                </a:r>
                <a:r>
                  <a:rPr lang="en-US" dirty="0"/>
                  <a:t>if it can be found very quickly or with way less computational resources. I.e., </a:t>
                </a:r>
                <a:r>
                  <a:rPr lang="en-US" dirty="0">
                    <a:solidFill>
                      <a:srgbClr val="FF0000"/>
                    </a:solidFill>
                  </a:rPr>
                  <a:t>expanding fewer nodes</a:t>
                </a:r>
                <a:r>
                  <a:rPr lang="en-US" dirty="0"/>
                  <a:t>.</a:t>
                </a:r>
              </a:p>
              <a:p>
                <a:endParaRPr lang="en-US" dirty="0"/>
              </a:p>
              <a:p>
                <a:r>
                  <a:rPr lang="en-US" dirty="0"/>
                  <a:t>We could use inadmissible heuristics in A* search (e.g., by multiplying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a14:m>
                <a:r>
                  <a:rPr lang="en-US" dirty="0"/>
                  <a:t> with a factor </a:t>
                </a:r>
                <a14:m>
                  <m:oMath xmlns:m="http://schemas.openxmlformats.org/officeDocument/2006/math">
                    <m:r>
                      <a:rPr lang="en-US" i="1" dirty="0" smtClean="0">
                        <a:latin typeface="Cambria Math" panose="02040503050406030204" pitchFamily="18" charset="0"/>
                      </a:rPr>
                      <m:t>𝑊</m:t>
                    </m:r>
                  </m:oMath>
                </a14:m>
                <a:r>
                  <a:rPr lang="en-US" dirty="0"/>
                  <a:t>) that sometimes overestimate the optimal cost to the goal slightly. </a:t>
                </a:r>
              </a:p>
              <a:p>
                <a:pPr marL="685800" lvl="1" indent="-342900">
                  <a:buFont typeface="+mj-lt"/>
                  <a:buAutoNum type="arabicPeriod"/>
                </a:pPr>
                <a:r>
                  <a:rPr lang="en-US" dirty="0"/>
                  <a:t>It potentially reduces the number of expanded nodes significantly.</a:t>
                </a:r>
              </a:p>
              <a:p>
                <a:pPr marL="685800" lvl="1" indent="-342900">
                  <a:buFont typeface="+mj-lt"/>
                  <a:buAutoNum type="arabicPeriod"/>
                </a:pPr>
                <a:r>
                  <a:rPr lang="en-US" b="1" dirty="0">
                    <a:solidFill>
                      <a:srgbClr val="FF0000"/>
                    </a:solidFill>
                  </a:rPr>
                  <a:t>This will break the algorithm’s optimality guaranty!</a:t>
                </a:r>
              </a:p>
              <a:p>
                <a:pPr lvl="1"/>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2289175"/>
              </a:xfrm>
              <a:blipFill>
                <a:blip r:embed="rId3"/>
                <a:stretch>
                  <a:fillRect l="-541" t="-45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0B30838-AD7A-4533-8D6F-5E87E3D8C415}"/>
                  </a:ext>
                </a:extLst>
              </p:cNvPr>
              <p:cNvSpPr txBox="1"/>
              <p:nvPr/>
            </p:nvSpPr>
            <p:spPr>
              <a:xfrm>
                <a:off x="990600" y="4191000"/>
                <a:ext cx="7162800" cy="95410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pPr marL="342900" lvl="1" indent="0" algn="ctr">
                  <a:buNone/>
                </a:pPr>
                <a14:m>
                  <m:oMathPara xmlns:m="http://schemas.openxmlformats.org/officeDocument/2006/math">
                    <m:oMathParaPr>
                      <m:jc m:val="center"/>
                    </m:oMathParaPr>
                    <m:oMath xmlns:m="http://schemas.openxmlformats.org/officeDocument/2006/math">
                      <m:r>
                        <m:rPr>
                          <m:sty m:val="p"/>
                        </m:rPr>
                        <a:rPr lang="en-US" sz="2000" b="0" i="0" smtClean="0">
                          <a:latin typeface="Cambria Math" panose="02040503050406030204" pitchFamily="18" charset="0"/>
                        </a:rPr>
                        <m:t>f</m:t>
                      </m:r>
                      <m:d>
                        <m:dPr>
                          <m:ctrlPr>
                            <a:rPr lang="en-US" sz="2000" i="1" smtClean="0">
                              <a:latin typeface="Cambria Math" panose="02040503050406030204" pitchFamily="18" charset="0"/>
                            </a:rPr>
                          </m:ctrlPr>
                        </m:dPr>
                        <m:e>
                          <m:r>
                            <a:rPr lang="en-US" sz="2000" b="0" i="1" smtClean="0">
                              <a:latin typeface="Cambria Math" panose="02040503050406030204" pitchFamily="18" charset="0"/>
                            </a:rPr>
                            <m:t>𝑛</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i="1" smtClean="0">
                              <a:latin typeface="Cambria Math" panose="02040503050406030204" pitchFamily="18" charset="0"/>
                            </a:rPr>
                          </m:ctrlPr>
                        </m:dPr>
                        <m:e>
                          <m:r>
                            <a:rPr lang="en-US" sz="2000" b="0" i="1" smtClean="0">
                              <a:latin typeface="Cambria Math" panose="02040503050406030204" pitchFamily="18" charset="0"/>
                            </a:rPr>
                            <m:t>𝑛</m:t>
                          </m:r>
                        </m:e>
                      </m:d>
                      <m:r>
                        <a:rPr lang="en-US" sz="2000" b="0" i="1" smtClean="0">
                          <a:latin typeface="Cambria Math" panose="02040503050406030204" pitchFamily="18" charset="0"/>
                        </a:rPr>
                        <m:t>+</m:t>
                      </m:r>
                      <m:r>
                        <a:rPr lang="en-US" sz="2000" b="0" i="1" smtClean="0">
                          <a:latin typeface="Cambria Math" panose="02040503050406030204" pitchFamily="18" charset="0"/>
                        </a:rPr>
                        <m:t>𝑊</m:t>
                      </m:r>
                      <m:r>
                        <a:rPr lang="en-US" sz="2000" b="0" i="1" smtClean="0">
                          <a:latin typeface="Cambria Math" panose="02040503050406030204" pitchFamily="18" charset="0"/>
                        </a:rPr>
                        <m:t>×</m:t>
                      </m:r>
                      <m:r>
                        <a:rPr lang="en-US" sz="2000" b="0" i="1" smtClean="0">
                          <a:latin typeface="Cambria Math" panose="02040503050406030204" pitchFamily="18" charset="0"/>
                        </a:rPr>
                        <m:t>h</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1400" dirty="0"/>
              </a:p>
              <a:p>
                <a:endParaRPr lang="en-US" b="1" dirty="0"/>
              </a:p>
              <a:p>
                <a:r>
                  <a:rPr lang="en-US" b="1" dirty="0"/>
                  <a:t>Weighted A* search:	</a:t>
                </a:r>
                <a14:m>
                  <m:oMath xmlns:m="http://schemas.openxmlformats.org/officeDocument/2006/math">
                    <m:r>
                      <a:rPr lang="en-US" b="1" i="1">
                        <a:latin typeface="Cambria Math" panose="02040503050406030204" pitchFamily="18" charset="0"/>
                      </a:rPr>
                      <m:t>𝒈</m:t>
                    </m:r>
                    <m:d>
                      <m:dPr>
                        <m:ctrlPr>
                          <a:rPr lang="en-US" b="1" i="1">
                            <a:latin typeface="Cambria Math" panose="02040503050406030204" pitchFamily="18" charset="0"/>
                          </a:rPr>
                        </m:ctrlPr>
                      </m:dPr>
                      <m:e>
                        <m:r>
                          <a:rPr lang="en-US" b="1" i="1">
                            <a:latin typeface="Cambria Math" panose="02040503050406030204" pitchFamily="18" charset="0"/>
                          </a:rPr>
                          <m:t>𝒏</m:t>
                        </m:r>
                      </m:e>
                    </m:d>
                    <m:r>
                      <a:rPr lang="en-US" b="1" i="1">
                        <a:latin typeface="Cambria Math" panose="02040503050406030204" pitchFamily="18" charset="0"/>
                      </a:rPr>
                      <m:t>+</m:t>
                    </m:r>
                    <m:r>
                      <a:rPr lang="en-US" b="1" i="1" smtClean="0">
                        <a:latin typeface="Cambria Math" panose="02040503050406030204" pitchFamily="18" charset="0"/>
                      </a:rPr>
                      <m:t>𝑾</m:t>
                    </m:r>
                    <m:r>
                      <a:rPr lang="en-US" b="1" i="1" smtClean="0">
                        <a:latin typeface="Cambria Math" panose="02040503050406030204" pitchFamily="18" charset="0"/>
                      </a:rPr>
                      <m:t>×</m:t>
                    </m:r>
                    <m:r>
                      <a:rPr lang="en-US" b="1" i="1">
                        <a:latin typeface="Cambria Math" panose="02040503050406030204" pitchFamily="18" charset="0"/>
                      </a:rPr>
                      <m:t>𝒉</m:t>
                    </m:r>
                    <m:d>
                      <m:dPr>
                        <m:ctrlPr>
                          <a:rPr lang="en-US" b="1" i="1">
                            <a:latin typeface="Cambria Math" panose="02040503050406030204" pitchFamily="18" charset="0"/>
                          </a:rPr>
                        </m:ctrlPr>
                      </m:dPr>
                      <m:e>
                        <m:r>
                          <a:rPr lang="en-US" b="1" i="1">
                            <a:latin typeface="Cambria Math" panose="02040503050406030204" pitchFamily="18" charset="0"/>
                          </a:rPr>
                          <m:t>𝒏</m:t>
                        </m:r>
                      </m:e>
                    </m:d>
                  </m:oMath>
                </a14:m>
                <a:r>
                  <a:rPr lang="en-US" b="1" dirty="0"/>
                  <a:t>		</a:t>
                </a:r>
                <a14:m>
                  <m:oMath xmlns:m="http://schemas.openxmlformats.org/officeDocument/2006/math">
                    <m:r>
                      <a:rPr lang="en-US" b="1" i="1">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a:latin typeface="Cambria Math" panose="02040503050406030204" pitchFamily="18" charset="0"/>
                      </a:rPr>
                      <m:t>𝑾</m:t>
                    </m:r>
                    <m:r>
                      <a:rPr lang="en-US" b="1" i="1" smtClean="0">
                        <a:latin typeface="Cambria Math" panose="02040503050406030204" pitchFamily="18" charset="0"/>
                      </a:rPr>
                      <m:t>&lt;∞)</m:t>
                    </m:r>
                  </m:oMath>
                </a14:m>
                <a:endParaRPr lang="en-US" b="1" dirty="0"/>
              </a:p>
            </p:txBody>
          </p:sp>
        </mc:Choice>
        <mc:Fallback xmlns="">
          <p:sp>
            <p:nvSpPr>
              <p:cNvPr id="6" name="TextBox 5">
                <a:extLst>
                  <a:ext uri="{FF2B5EF4-FFF2-40B4-BE49-F238E27FC236}">
                    <a16:creationId xmlns:a16="http://schemas.microsoft.com/office/drawing/2014/main" id="{50B30838-AD7A-4533-8D6F-5E87E3D8C415}"/>
                  </a:ext>
                </a:extLst>
              </p:cNvPr>
              <p:cNvSpPr txBox="1">
                <a:spLocks noRot="1" noChangeAspect="1" noMove="1" noResize="1" noEditPoints="1" noAdjustHandles="1" noChangeArrowheads="1" noChangeShapeType="1" noTextEdit="1"/>
              </p:cNvSpPr>
              <p:nvPr/>
            </p:nvSpPr>
            <p:spPr>
              <a:xfrm>
                <a:off x="990600" y="4191000"/>
                <a:ext cx="7162800" cy="954107"/>
              </a:xfrm>
              <a:prstGeom prst="rect">
                <a:avLst/>
              </a:prstGeom>
              <a:blipFill>
                <a:blip r:embed="rId4"/>
                <a:stretch>
                  <a:fillRect l="-680" b="-82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AB469F3-CD7F-44FA-97E0-41223E774AE1}"/>
                  </a:ext>
                </a:extLst>
              </p:cNvPr>
              <p:cNvSpPr txBox="1"/>
              <p:nvPr/>
            </p:nvSpPr>
            <p:spPr>
              <a:xfrm>
                <a:off x="990600" y="5145107"/>
                <a:ext cx="7162800" cy="1477328"/>
              </a:xfrm>
              <a:prstGeom prst="rect">
                <a:avLst/>
              </a:prstGeom>
              <a:noFill/>
            </p:spPr>
            <p:txBody>
              <a:bodyPr wrap="square">
                <a:spAutoFit/>
              </a:bodyPr>
              <a:lstStyle/>
              <a:p>
                <a:pPr marL="0" indent="0">
                  <a:buNone/>
                </a:pPr>
                <a:endParaRPr lang="en-US" dirty="0"/>
              </a:p>
              <a:p>
                <a:pPr marL="0" indent="0">
                  <a:buNone/>
                </a:pPr>
                <a:r>
                  <a:rPr lang="en-US" dirty="0"/>
                  <a:t>The presented algorithms are special cases:</a:t>
                </a:r>
              </a:p>
              <a:p>
                <a:pPr marL="0" indent="0">
                  <a:buNone/>
                </a:pPr>
                <a:r>
                  <a:rPr lang="en-US" dirty="0"/>
                  <a:t>A* search:		</a:t>
                </a:r>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=1)</m:t>
                    </m:r>
                  </m:oMath>
                </a14:m>
                <a:endParaRPr lang="en-US" dirty="0"/>
              </a:p>
              <a:p>
                <a:pPr marL="0" indent="0">
                  <a:buNone/>
                </a:pPr>
                <a:r>
                  <a:rPr lang="en-US" dirty="0"/>
                  <a:t>Uniform cost search/BFS:	</a:t>
                </a:r>
                <a14:m>
                  <m:oMath xmlns:m="http://schemas.openxmlformats.org/officeDocument/2006/math">
                    <m:r>
                      <a:rPr lang="en-US" i="1">
                        <a:latin typeface="Cambria Math" panose="02040503050406030204" pitchFamily="18" charset="0"/>
                      </a:rPr>
                      <m:t>𝑔</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𝑊</m:t>
                    </m:r>
                    <m:r>
                      <a:rPr lang="en-US" i="1">
                        <a:latin typeface="Cambria Math" panose="02040503050406030204" pitchFamily="18" charset="0"/>
                      </a:rPr>
                      <m:t>=0)</m:t>
                    </m:r>
                  </m:oMath>
                </a14:m>
                <a:endParaRPr lang="en-US" dirty="0"/>
              </a:p>
              <a:p>
                <a:pPr marL="0" indent="0">
                  <a:buNone/>
                </a:pPr>
                <a:r>
                  <a:rPr lang="en-US" dirty="0"/>
                  <a:t>Greedy best-first search:	</a:t>
                </a: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𝑊</m:t>
                        </m:r>
                        <m:r>
                          <a:rPr lang="en-US" i="1">
                            <a:latin typeface="Cambria Math" panose="02040503050406030204" pitchFamily="18" charset="0"/>
                          </a:rPr>
                          <m:t>=∞</m:t>
                        </m:r>
                      </m:e>
                    </m:d>
                  </m:oMath>
                </a14:m>
                <a:endParaRPr lang="en-US" dirty="0"/>
              </a:p>
            </p:txBody>
          </p:sp>
        </mc:Choice>
        <mc:Fallback xmlns="">
          <p:sp>
            <p:nvSpPr>
              <p:cNvPr id="7" name="TextBox 6">
                <a:extLst>
                  <a:ext uri="{FF2B5EF4-FFF2-40B4-BE49-F238E27FC236}">
                    <a16:creationId xmlns:a16="http://schemas.microsoft.com/office/drawing/2014/main" id="{4AB469F3-CD7F-44FA-97E0-41223E774AE1}"/>
                  </a:ext>
                </a:extLst>
              </p:cNvPr>
              <p:cNvSpPr txBox="1">
                <a:spLocks noRot="1" noChangeAspect="1" noMove="1" noResize="1" noEditPoints="1" noAdjustHandles="1" noChangeArrowheads="1" noChangeShapeType="1" noTextEdit="1"/>
              </p:cNvSpPr>
              <p:nvPr/>
            </p:nvSpPr>
            <p:spPr>
              <a:xfrm>
                <a:off x="990600" y="5145107"/>
                <a:ext cx="7162800" cy="1477328"/>
              </a:xfrm>
              <a:prstGeom prst="rect">
                <a:avLst/>
              </a:prstGeom>
              <a:blipFill>
                <a:blip r:embed="rId5"/>
                <a:stretch>
                  <a:fillRect l="-766" b="-578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C89C00-93C9-2008-6BCD-97A963432E13}"/>
              </a:ext>
            </a:extLst>
          </p:cNvPr>
          <p:cNvSpPr>
            <a:spLocks noGrp="1"/>
          </p:cNvSpPr>
          <p:nvPr>
            <p:ph type="title"/>
          </p:nvPr>
        </p:nvSpPr>
        <p:spPr>
          <a:xfrm>
            <a:off x="628650" y="365126"/>
            <a:ext cx="4629150" cy="1325563"/>
          </a:xfrm>
        </p:spPr>
        <p:txBody>
          <a:bodyPr/>
          <a:lstStyle/>
          <a:p>
            <a:r>
              <a:rPr lang="en-US" dirty="0"/>
              <a:t>Case Study: A Heuristic for Tic-Tac-Toe</a:t>
            </a:r>
          </a:p>
        </p:txBody>
      </p:sp>
      <p:sp>
        <p:nvSpPr>
          <p:cNvPr id="3" name="Content Placeholder 2">
            <a:extLst>
              <a:ext uri="{FF2B5EF4-FFF2-40B4-BE49-F238E27FC236}">
                <a16:creationId xmlns:a16="http://schemas.microsoft.com/office/drawing/2014/main" id="{6A70D98F-5CCB-E759-5107-43E17418E681}"/>
              </a:ext>
            </a:extLst>
          </p:cNvPr>
          <p:cNvSpPr>
            <a:spLocks noGrp="1"/>
          </p:cNvSpPr>
          <p:nvPr>
            <p:ph idx="1"/>
          </p:nvPr>
        </p:nvSpPr>
        <p:spPr>
          <a:xfrm>
            <a:off x="628650" y="1524000"/>
            <a:ext cx="7886700" cy="4932778"/>
          </a:xfrm>
        </p:spPr>
        <p:txBody>
          <a:bodyPr>
            <a:normAutofit/>
          </a:bodyPr>
          <a:lstStyle/>
          <a:p>
            <a:r>
              <a:rPr lang="en-US" sz="1600" dirty="0"/>
              <a:t>Define the goal states:</a:t>
            </a:r>
          </a:p>
          <a:p>
            <a:endParaRPr lang="en-US" sz="1600" dirty="0"/>
          </a:p>
          <a:p>
            <a:r>
              <a:rPr lang="en-US" sz="1600" dirty="0"/>
              <a:t>What is the cost that needs to be estimated?</a:t>
            </a:r>
          </a:p>
          <a:p>
            <a:pPr marL="0" indent="0">
              <a:buNone/>
            </a:pPr>
            <a:endParaRPr lang="en-US" sz="1600" dirty="0"/>
          </a:p>
          <a:p>
            <a:r>
              <a:rPr lang="en-US" sz="1600" dirty="0"/>
              <a:t>What could be used as a heuristic value for these boards (assume you play x):</a:t>
            </a:r>
          </a:p>
          <a:p>
            <a:endParaRPr lang="en-US" sz="1600" dirty="0"/>
          </a:p>
          <a:p>
            <a:endParaRPr lang="en-US" sz="1600" dirty="0"/>
          </a:p>
          <a:p>
            <a:endParaRPr lang="en-US" sz="1600" dirty="0"/>
          </a:p>
          <a:p>
            <a:endParaRPr lang="en-US" sz="1600" dirty="0"/>
          </a:p>
          <a:p>
            <a:endParaRPr lang="en-US" sz="1600" dirty="0"/>
          </a:p>
          <a:p>
            <a:r>
              <a:rPr lang="en-US" sz="1600" dirty="0"/>
              <a:t>How do you calculate the heuristic value?</a:t>
            </a:r>
          </a:p>
          <a:p>
            <a:endParaRPr lang="en-US" sz="1600" dirty="0"/>
          </a:p>
          <a:p>
            <a:r>
              <a:rPr lang="en-US" sz="1600" dirty="0"/>
              <a:t>Is the heuristic admissible?</a:t>
            </a:r>
          </a:p>
          <a:p>
            <a:endParaRPr lang="en-US" sz="1600" dirty="0"/>
          </a:p>
          <a:p>
            <a:r>
              <a:rPr lang="en-US" sz="1600" dirty="0"/>
              <a:t>Does the heuristic use a relaxation? </a:t>
            </a:r>
          </a:p>
          <a:p>
            <a:pPr marL="0" indent="0">
              <a:buNone/>
            </a:pPr>
            <a:endParaRPr lang="en-US" sz="1600" dirty="0"/>
          </a:p>
        </p:txBody>
      </p:sp>
      <p:pic>
        <p:nvPicPr>
          <p:cNvPr id="4" name="Picture 2">
            <a:extLst>
              <a:ext uri="{FF2B5EF4-FFF2-40B4-BE49-F238E27FC236}">
                <a16:creationId xmlns:a16="http://schemas.microsoft.com/office/drawing/2014/main" id="{7BB5D8EA-F691-FFBF-E2D2-6C156B1EEFFF}"/>
              </a:ex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13555" y="401222"/>
            <a:ext cx="1601795" cy="142440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470E4FC5-7661-B6A8-F1ED-7A81EB6B745B}"/>
                  </a:ext>
                </a:extLst>
              </p14:cNvPr>
              <p14:cNvContentPartPr/>
              <p14:nvPr/>
            </p14:nvContentPartPr>
            <p14:xfrm>
              <a:off x="1485000" y="3882070"/>
              <a:ext cx="150120" cy="177120"/>
            </p14:xfrm>
          </p:contentPart>
        </mc:Choice>
        <mc:Fallback xmlns="">
          <p:pic>
            <p:nvPicPr>
              <p:cNvPr id="16" name="Ink 15">
                <a:extLst>
                  <a:ext uri="{FF2B5EF4-FFF2-40B4-BE49-F238E27FC236}">
                    <a16:creationId xmlns:a16="http://schemas.microsoft.com/office/drawing/2014/main" id="{470E4FC5-7661-B6A8-F1ED-7A81EB6B745B}"/>
                  </a:ext>
                </a:extLst>
              </p:cNvPr>
              <p:cNvPicPr/>
              <p:nvPr/>
            </p:nvPicPr>
            <p:blipFill>
              <a:blip r:embed="rId4"/>
              <a:stretch>
                <a:fillRect/>
              </a:stretch>
            </p:blipFill>
            <p:spPr>
              <a:xfrm>
                <a:off x="1467000" y="3864430"/>
                <a:ext cx="185760" cy="212760"/>
              </a:xfrm>
              <a:prstGeom prst="rect">
                <a:avLst/>
              </a:prstGeom>
            </p:spPr>
          </p:pic>
        </mc:Fallback>
      </mc:AlternateContent>
      <p:grpSp>
        <p:nvGrpSpPr>
          <p:cNvPr id="19" name="Group 18">
            <a:extLst>
              <a:ext uri="{FF2B5EF4-FFF2-40B4-BE49-F238E27FC236}">
                <a16:creationId xmlns:a16="http://schemas.microsoft.com/office/drawing/2014/main" id="{857FDD65-45DF-110C-FECD-9FC7F49B94A3}"/>
              </a:ext>
            </a:extLst>
          </p:cNvPr>
          <p:cNvGrpSpPr/>
          <p:nvPr/>
        </p:nvGrpSpPr>
        <p:grpSpPr>
          <a:xfrm>
            <a:off x="892080" y="3373750"/>
            <a:ext cx="1420920" cy="1173960"/>
            <a:chOff x="892080" y="3373750"/>
            <a:chExt cx="1420920" cy="1173960"/>
          </a:xfrm>
        </p:grpSpPr>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59F92192-EF55-EE04-A71A-BF09A65BE2D1}"/>
                    </a:ext>
                  </a:extLst>
                </p14:cNvPr>
                <p14:cNvContentPartPr/>
                <p14:nvPr/>
              </p14:nvContentPartPr>
              <p14:xfrm>
                <a:off x="1330200" y="3373750"/>
                <a:ext cx="33840" cy="983160"/>
              </p14:xfrm>
            </p:contentPart>
          </mc:Choice>
          <mc:Fallback xmlns="">
            <p:pic>
              <p:nvPicPr>
                <p:cNvPr id="5" name="Ink 4">
                  <a:extLst>
                    <a:ext uri="{FF2B5EF4-FFF2-40B4-BE49-F238E27FC236}">
                      <a16:creationId xmlns:a16="http://schemas.microsoft.com/office/drawing/2014/main" id="{59F92192-EF55-EE04-A71A-BF09A65BE2D1}"/>
                    </a:ext>
                  </a:extLst>
                </p:cNvPr>
                <p:cNvPicPr/>
                <p:nvPr/>
              </p:nvPicPr>
              <p:blipFill>
                <a:blip r:embed="rId6"/>
                <a:stretch>
                  <a:fillRect/>
                </a:stretch>
              </p:blipFill>
              <p:spPr>
                <a:xfrm>
                  <a:off x="1312560" y="3356110"/>
                  <a:ext cx="69480" cy="10188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8D367862-5AFC-7862-60CF-35485CF6063F}"/>
                    </a:ext>
                  </a:extLst>
                </p14:cNvPr>
                <p14:cNvContentPartPr/>
                <p14:nvPr/>
              </p14:nvContentPartPr>
              <p14:xfrm>
                <a:off x="1776240" y="3427750"/>
                <a:ext cx="42480" cy="998280"/>
              </p14:xfrm>
            </p:contentPart>
          </mc:Choice>
          <mc:Fallback xmlns="">
            <p:pic>
              <p:nvPicPr>
                <p:cNvPr id="6" name="Ink 5">
                  <a:extLst>
                    <a:ext uri="{FF2B5EF4-FFF2-40B4-BE49-F238E27FC236}">
                      <a16:creationId xmlns:a16="http://schemas.microsoft.com/office/drawing/2014/main" id="{8D367862-5AFC-7862-60CF-35485CF6063F}"/>
                    </a:ext>
                  </a:extLst>
                </p:cNvPr>
                <p:cNvPicPr/>
                <p:nvPr/>
              </p:nvPicPr>
              <p:blipFill>
                <a:blip r:embed="rId8"/>
                <a:stretch>
                  <a:fillRect/>
                </a:stretch>
              </p:blipFill>
              <p:spPr>
                <a:xfrm>
                  <a:off x="1758600" y="3410110"/>
                  <a:ext cx="78120" cy="103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7" name="Ink 6">
                  <a:extLst>
                    <a:ext uri="{FF2B5EF4-FFF2-40B4-BE49-F238E27FC236}">
                      <a16:creationId xmlns:a16="http://schemas.microsoft.com/office/drawing/2014/main" id="{6AD2626D-5BDD-F944-E730-1B73565AFCF3}"/>
                    </a:ext>
                  </a:extLst>
                </p14:cNvPr>
                <p14:cNvContentPartPr/>
                <p14:nvPr/>
              </p14:nvContentPartPr>
              <p14:xfrm>
                <a:off x="892080" y="3663910"/>
                <a:ext cx="1406160" cy="191520"/>
              </p14:xfrm>
            </p:contentPart>
          </mc:Choice>
          <mc:Fallback xmlns="">
            <p:pic>
              <p:nvPicPr>
                <p:cNvPr id="7" name="Ink 6">
                  <a:extLst>
                    <a:ext uri="{FF2B5EF4-FFF2-40B4-BE49-F238E27FC236}">
                      <a16:creationId xmlns:a16="http://schemas.microsoft.com/office/drawing/2014/main" id="{6AD2626D-5BDD-F944-E730-1B73565AFCF3}"/>
                    </a:ext>
                  </a:extLst>
                </p:cNvPr>
                <p:cNvPicPr/>
                <p:nvPr/>
              </p:nvPicPr>
              <p:blipFill>
                <a:blip r:embed="rId10"/>
                <a:stretch>
                  <a:fillRect/>
                </a:stretch>
              </p:blipFill>
              <p:spPr>
                <a:xfrm>
                  <a:off x="874440" y="3645910"/>
                  <a:ext cx="1441800" cy="2271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8" name="Ink 7">
                  <a:extLst>
                    <a:ext uri="{FF2B5EF4-FFF2-40B4-BE49-F238E27FC236}">
                      <a16:creationId xmlns:a16="http://schemas.microsoft.com/office/drawing/2014/main" id="{4F2E6162-00C3-7782-72DB-7CA8BC3EAD15}"/>
                    </a:ext>
                  </a:extLst>
                </p14:cNvPr>
                <p14:cNvContentPartPr/>
                <p14:nvPr/>
              </p14:nvContentPartPr>
              <p14:xfrm>
                <a:off x="945000" y="3977110"/>
                <a:ext cx="1368000" cy="312480"/>
              </p14:xfrm>
            </p:contentPart>
          </mc:Choice>
          <mc:Fallback xmlns="">
            <p:pic>
              <p:nvPicPr>
                <p:cNvPr id="8" name="Ink 7">
                  <a:extLst>
                    <a:ext uri="{FF2B5EF4-FFF2-40B4-BE49-F238E27FC236}">
                      <a16:creationId xmlns:a16="http://schemas.microsoft.com/office/drawing/2014/main" id="{4F2E6162-00C3-7782-72DB-7CA8BC3EAD15}"/>
                    </a:ext>
                  </a:extLst>
                </p:cNvPr>
                <p:cNvPicPr/>
                <p:nvPr/>
              </p:nvPicPr>
              <p:blipFill>
                <a:blip r:embed="rId12"/>
                <a:stretch>
                  <a:fillRect/>
                </a:stretch>
              </p:blipFill>
              <p:spPr>
                <a:xfrm>
                  <a:off x="927000" y="3959470"/>
                  <a:ext cx="1403640" cy="348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D97A87EE-6539-4BAB-4B8C-DC09466F56EA}"/>
                    </a:ext>
                  </a:extLst>
                </p14:cNvPr>
                <p14:cNvContentPartPr/>
                <p14:nvPr/>
              </p14:nvContentPartPr>
              <p14:xfrm>
                <a:off x="1019520" y="3505870"/>
                <a:ext cx="182520" cy="169560"/>
              </p14:xfrm>
            </p:contentPart>
          </mc:Choice>
          <mc:Fallback xmlns="">
            <p:pic>
              <p:nvPicPr>
                <p:cNvPr id="10" name="Ink 9">
                  <a:extLst>
                    <a:ext uri="{FF2B5EF4-FFF2-40B4-BE49-F238E27FC236}">
                      <a16:creationId xmlns:a16="http://schemas.microsoft.com/office/drawing/2014/main" id="{D97A87EE-6539-4BAB-4B8C-DC09466F56EA}"/>
                    </a:ext>
                  </a:extLst>
                </p:cNvPr>
                <p:cNvPicPr/>
                <p:nvPr/>
              </p:nvPicPr>
              <p:blipFill>
                <a:blip r:embed="rId14"/>
                <a:stretch>
                  <a:fillRect/>
                </a:stretch>
              </p:blipFill>
              <p:spPr>
                <a:xfrm>
                  <a:off x="1001520" y="3487870"/>
                  <a:ext cx="21816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D1D272D5-810D-60CB-135F-259889E91B17}"/>
                    </a:ext>
                  </a:extLst>
                </p14:cNvPr>
                <p14:cNvContentPartPr/>
                <p14:nvPr/>
              </p14:nvContentPartPr>
              <p14:xfrm>
                <a:off x="1032120" y="3504430"/>
                <a:ext cx="196560" cy="190440"/>
              </p14:xfrm>
            </p:contentPart>
          </mc:Choice>
          <mc:Fallback xmlns="">
            <p:pic>
              <p:nvPicPr>
                <p:cNvPr id="11" name="Ink 10">
                  <a:extLst>
                    <a:ext uri="{FF2B5EF4-FFF2-40B4-BE49-F238E27FC236}">
                      <a16:creationId xmlns:a16="http://schemas.microsoft.com/office/drawing/2014/main" id="{D1D272D5-810D-60CB-135F-259889E91B17}"/>
                    </a:ext>
                  </a:extLst>
                </p:cNvPr>
                <p:cNvPicPr/>
                <p:nvPr/>
              </p:nvPicPr>
              <p:blipFill>
                <a:blip r:embed="rId16"/>
                <a:stretch>
                  <a:fillRect/>
                </a:stretch>
              </p:blipFill>
              <p:spPr>
                <a:xfrm>
                  <a:off x="1014480" y="3486790"/>
                  <a:ext cx="23220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5DD65B0D-928D-B364-A5C6-0B2FAF216173}"/>
                    </a:ext>
                  </a:extLst>
                </p14:cNvPr>
                <p14:cNvContentPartPr/>
                <p14:nvPr/>
              </p14:nvContentPartPr>
              <p14:xfrm>
                <a:off x="1521000" y="3506230"/>
                <a:ext cx="101520" cy="154800"/>
              </p14:xfrm>
            </p:contentPart>
          </mc:Choice>
          <mc:Fallback xmlns="">
            <p:pic>
              <p:nvPicPr>
                <p:cNvPr id="13" name="Ink 12">
                  <a:extLst>
                    <a:ext uri="{FF2B5EF4-FFF2-40B4-BE49-F238E27FC236}">
                      <a16:creationId xmlns:a16="http://schemas.microsoft.com/office/drawing/2014/main" id="{5DD65B0D-928D-B364-A5C6-0B2FAF216173}"/>
                    </a:ext>
                  </a:extLst>
                </p:cNvPr>
                <p:cNvPicPr/>
                <p:nvPr/>
              </p:nvPicPr>
              <p:blipFill>
                <a:blip r:embed="rId18"/>
                <a:stretch>
                  <a:fillRect/>
                </a:stretch>
              </p:blipFill>
              <p:spPr>
                <a:xfrm>
                  <a:off x="1503000" y="3488590"/>
                  <a:ext cx="13716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9467BDD5-7E5B-5EDD-8174-AA77F10AFC55}"/>
                    </a:ext>
                  </a:extLst>
                </p14:cNvPr>
                <p14:cNvContentPartPr/>
                <p14:nvPr/>
              </p14:nvContentPartPr>
              <p14:xfrm>
                <a:off x="1511640" y="3495430"/>
                <a:ext cx="124200" cy="160560"/>
              </p14:xfrm>
            </p:contentPart>
          </mc:Choice>
          <mc:Fallback xmlns="">
            <p:pic>
              <p:nvPicPr>
                <p:cNvPr id="14" name="Ink 13">
                  <a:extLst>
                    <a:ext uri="{FF2B5EF4-FFF2-40B4-BE49-F238E27FC236}">
                      <a16:creationId xmlns:a16="http://schemas.microsoft.com/office/drawing/2014/main" id="{9467BDD5-7E5B-5EDD-8174-AA77F10AFC55}"/>
                    </a:ext>
                  </a:extLst>
                </p:cNvPr>
                <p:cNvPicPr/>
                <p:nvPr/>
              </p:nvPicPr>
              <p:blipFill>
                <a:blip r:embed="rId20"/>
                <a:stretch>
                  <a:fillRect/>
                </a:stretch>
              </p:blipFill>
              <p:spPr>
                <a:xfrm>
                  <a:off x="1493640" y="3477430"/>
                  <a:ext cx="15984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8" name="Ink 17">
                  <a:extLst>
                    <a:ext uri="{FF2B5EF4-FFF2-40B4-BE49-F238E27FC236}">
                      <a16:creationId xmlns:a16="http://schemas.microsoft.com/office/drawing/2014/main" id="{6D90A01A-1316-810C-FD9A-ABF5B857B49C}"/>
                    </a:ext>
                  </a:extLst>
                </p14:cNvPr>
                <p14:cNvContentPartPr/>
                <p14:nvPr/>
              </p14:nvContentPartPr>
              <p14:xfrm>
                <a:off x="1040400" y="4327390"/>
                <a:ext cx="244800" cy="220320"/>
              </p14:xfrm>
            </p:contentPart>
          </mc:Choice>
          <mc:Fallback xmlns="">
            <p:pic>
              <p:nvPicPr>
                <p:cNvPr id="18" name="Ink 17">
                  <a:extLst>
                    <a:ext uri="{FF2B5EF4-FFF2-40B4-BE49-F238E27FC236}">
                      <a16:creationId xmlns:a16="http://schemas.microsoft.com/office/drawing/2014/main" id="{6D90A01A-1316-810C-FD9A-ABF5B857B49C}"/>
                    </a:ext>
                  </a:extLst>
                </p:cNvPr>
                <p:cNvPicPr/>
                <p:nvPr/>
              </p:nvPicPr>
              <p:blipFill>
                <a:blip r:embed="rId22"/>
                <a:stretch>
                  <a:fillRect/>
                </a:stretch>
              </p:blipFill>
              <p:spPr>
                <a:xfrm>
                  <a:off x="1022400" y="4309390"/>
                  <a:ext cx="280440" cy="255960"/>
                </a:xfrm>
                <a:prstGeom prst="rect">
                  <a:avLst/>
                </a:prstGeom>
              </p:spPr>
            </p:pic>
          </mc:Fallback>
        </mc:AlternateContent>
      </p:grpSp>
      <p:grpSp>
        <p:nvGrpSpPr>
          <p:cNvPr id="29" name="Group 28">
            <a:extLst>
              <a:ext uri="{FF2B5EF4-FFF2-40B4-BE49-F238E27FC236}">
                <a16:creationId xmlns:a16="http://schemas.microsoft.com/office/drawing/2014/main" id="{19F4FC3F-A78D-965F-0FB6-8FF54B50510C}"/>
              </a:ext>
            </a:extLst>
          </p:cNvPr>
          <p:cNvGrpSpPr/>
          <p:nvPr/>
        </p:nvGrpSpPr>
        <p:grpSpPr>
          <a:xfrm>
            <a:off x="3562200" y="3432790"/>
            <a:ext cx="1346400" cy="957600"/>
            <a:chOff x="3562200" y="3432790"/>
            <a:chExt cx="1346400" cy="957600"/>
          </a:xfrm>
        </p:grpSpPr>
        <mc:AlternateContent xmlns:mc="http://schemas.openxmlformats.org/markup-compatibility/2006" xmlns:p14="http://schemas.microsoft.com/office/powerpoint/2010/main">
          <mc:Choice Requires="p14">
            <p:contentPart p14:bwMode="auto" r:id="rId23">
              <p14:nvContentPartPr>
                <p14:cNvPr id="20" name="Ink 19">
                  <a:extLst>
                    <a:ext uri="{FF2B5EF4-FFF2-40B4-BE49-F238E27FC236}">
                      <a16:creationId xmlns:a16="http://schemas.microsoft.com/office/drawing/2014/main" id="{1BD8BB71-A483-D62A-5532-B7AFC3443C3C}"/>
                    </a:ext>
                  </a:extLst>
                </p14:cNvPr>
                <p14:cNvContentPartPr/>
                <p14:nvPr/>
              </p14:nvContentPartPr>
              <p14:xfrm>
                <a:off x="3962160" y="3432790"/>
                <a:ext cx="74160" cy="857520"/>
              </p14:xfrm>
            </p:contentPart>
          </mc:Choice>
          <mc:Fallback xmlns="">
            <p:pic>
              <p:nvPicPr>
                <p:cNvPr id="20" name="Ink 19">
                  <a:extLst>
                    <a:ext uri="{FF2B5EF4-FFF2-40B4-BE49-F238E27FC236}">
                      <a16:creationId xmlns:a16="http://schemas.microsoft.com/office/drawing/2014/main" id="{1BD8BB71-A483-D62A-5532-B7AFC3443C3C}"/>
                    </a:ext>
                  </a:extLst>
                </p:cNvPr>
                <p:cNvPicPr/>
                <p:nvPr/>
              </p:nvPicPr>
              <p:blipFill>
                <a:blip r:embed="rId24"/>
                <a:stretch>
                  <a:fillRect/>
                </a:stretch>
              </p:blipFill>
              <p:spPr>
                <a:xfrm>
                  <a:off x="3944160" y="3415150"/>
                  <a:ext cx="109800" cy="8931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1" name="Ink 20">
                  <a:extLst>
                    <a:ext uri="{FF2B5EF4-FFF2-40B4-BE49-F238E27FC236}">
                      <a16:creationId xmlns:a16="http://schemas.microsoft.com/office/drawing/2014/main" id="{9F9156FA-400D-6E53-A302-751E754B732F}"/>
                    </a:ext>
                  </a:extLst>
                </p14:cNvPr>
                <p14:cNvContentPartPr/>
                <p14:nvPr/>
              </p14:nvContentPartPr>
              <p14:xfrm>
                <a:off x="4275000" y="3449710"/>
                <a:ext cx="92880" cy="940680"/>
              </p14:xfrm>
            </p:contentPart>
          </mc:Choice>
          <mc:Fallback xmlns="">
            <p:pic>
              <p:nvPicPr>
                <p:cNvPr id="21" name="Ink 20">
                  <a:extLst>
                    <a:ext uri="{FF2B5EF4-FFF2-40B4-BE49-F238E27FC236}">
                      <a16:creationId xmlns:a16="http://schemas.microsoft.com/office/drawing/2014/main" id="{9F9156FA-400D-6E53-A302-751E754B732F}"/>
                    </a:ext>
                  </a:extLst>
                </p:cNvPr>
                <p:cNvPicPr/>
                <p:nvPr/>
              </p:nvPicPr>
              <p:blipFill>
                <a:blip r:embed="rId26"/>
                <a:stretch>
                  <a:fillRect/>
                </a:stretch>
              </p:blipFill>
              <p:spPr>
                <a:xfrm>
                  <a:off x="4257360" y="3432070"/>
                  <a:ext cx="128520" cy="976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2" name="Ink 21">
                  <a:extLst>
                    <a:ext uri="{FF2B5EF4-FFF2-40B4-BE49-F238E27FC236}">
                      <a16:creationId xmlns:a16="http://schemas.microsoft.com/office/drawing/2014/main" id="{2A95A9EC-C801-524A-6203-9CE43A5C31B9}"/>
                    </a:ext>
                  </a:extLst>
                </p14:cNvPr>
                <p14:cNvContentPartPr/>
                <p14:nvPr/>
              </p14:nvContentPartPr>
              <p14:xfrm>
                <a:off x="3562200" y="3819070"/>
                <a:ext cx="1209960" cy="52560"/>
              </p14:xfrm>
            </p:contentPart>
          </mc:Choice>
          <mc:Fallback xmlns="">
            <p:pic>
              <p:nvPicPr>
                <p:cNvPr id="22" name="Ink 21">
                  <a:extLst>
                    <a:ext uri="{FF2B5EF4-FFF2-40B4-BE49-F238E27FC236}">
                      <a16:creationId xmlns:a16="http://schemas.microsoft.com/office/drawing/2014/main" id="{2A95A9EC-C801-524A-6203-9CE43A5C31B9}"/>
                    </a:ext>
                  </a:extLst>
                </p:cNvPr>
                <p:cNvPicPr/>
                <p:nvPr/>
              </p:nvPicPr>
              <p:blipFill>
                <a:blip r:embed="rId28"/>
                <a:stretch>
                  <a:fillRect/>
                </a:stretch>
              </p:blipFill>
              <p:spPr>
                <a:xfrm>
                  <a:off x="3544560" y="3801070"/>
                  <a:ext cx="124560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3" name="Ink 22">
                  <a:extLst>
                    <a:ext uri="{FF2B5EF4-FFF2-40B4-BE49-F238E27FC236}">
                      <a16:creationId xmlns:a16="http://schemas.microsoft.com/office/drawing/2014/main" id="{A5EF5BC4-37CF-9CDE-EA2D-57FF7A60A458}"/>
                    </a:ext>
                  </a:extLst>
                </p14:cNvPr>
                <p14:cNvContentPartPr/>
                <p14:nvPr/>
              </p14:nvContentPartPr>
              <p14:xfrm>
                <a:off x="3569760" y="4056310"/>
                <a:ext cx="1338840" cy="80280"/>
              </p14:xfrm>
            </p:contentPart>
          </mc:Choice>
          <mc:Fallback xmlns="">
            <p:pic>
              <p:nvPicPr>
                <p:cNvPr id="23" name="Ink 22">
                  <a:extLst>
                    <a:ext uri="{FF2B5EF4-FFF2-40B4-BE49-F238E27FC236}">
                      <a16:creationId xmlns:a16="http://schemas.microsoft.com/office/drawing/2014/main" id="{A5EF5BC4-37CF-9CDE-EA2D-57FF7A60A458}"/>
                    </a:ext>
                  </a:extLst>
                </p:cNvPr>
                <p:cNvPicPr/>
                <p:nvPr/>
              </p:nvPicPr>
              <p:blipFill>
                <a:blip r:embed="rId30"/>
                <a:stretch>
                  <a:fillRect/>
                </a:stretch>
              </p:blipFill>
              <p:spPr>
                <a:xfrm>
                  <a:off x="3552120" y="4038670"/>
                  <a:ext cx="137448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5" name="Ink 24">
                  <a:extLst>
                    <a:ext uri="{FF2B5EF4-FFF2-40B4-BE49-F238E27FC236}">
                      <a16:creationId xmlns:a16="http://schemas.microsoft.com/office/drawing/2014/main" id="{E80E5085-8A8B-90C9-30ED-D8937126B4A6}"/>
                    </a:ext>
                  </a:extLst>
                </p14:cNvPr>
                <p14:cNvContentPartPr/>
                <p14:nvPr/>
              </p14:nvContentPartPr>
              <p14:xfrm>
                <a:off x="3752640" y="3514510"/>
                <a:ext cx="149400" cy="209880"/>
              </p14:xfrm>
            </p:contentPart>
          </mc:Choice>
          <mc:Fallback xmlns="">
            <p:pic>
              <p:nvPicPr>
                <p:cNvPr id="25" name="Ink 24">
                  <a:extLst>
                    <a:ext uri="{FF2B5EF4-FFF2-40B4-BE49-F238E27FC236}">
                      <a16:creationId xmlns:a16="http://schemas.microsoft.com/office/drawing/2014/main" id="{E80E5085-8A8B-90C9-30ED-D8937126B4A6}"/>
                    </a:ext>
                  </a:extLst>
                </p:cNvPr>
                <p:cNvPicPr/>
                <p:nvPr/>
              </p:nvPicPr>
              <p:blipFill>
                <a:blip r:embed="rId32"/>
                <a:stretch>
                  <a:fillRect/>
                </a:stretch>
              </p:blipFill>
              <p:spPr>
                <a:xfrm>
                  <a:off x="3734640" y="3496870"/>
                  <a:ext cx="185040" cy="245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6" name="Ink 25">
                  <a:extLst>
                    <a:ext uri="{FF2B5EF4-FFF2-40B4-BE49-F238E27FC236}">
                      <a16:creationId xmlns:a16="http://schemas.microsoft.com/office/drawing/2014/main" id="{77D0064B-781E-DD56-9EC9-A14DA03FB11F}"/>
                    </a:ext>
                  </a:extLst>
                </p14:cNvPr>
                <p14:cNvContentPartPr/>
                <p14:nvPr/>
              </p14:nvContentPartPr>
              <p14:xfrm>
                <a:off x="3749400" y="3554830"/>
                <a:ext cx="143280" cy="168840"/>
              </p14:xfrm>
            </p:contentPart>
          </mc:Choice>
          <mc:Fallback xmlns="">
            <p:pic>
              <p:nvPicPr>
                <p:cNvPr id="26" name="Ink 25">
                  <a:extLst>
                    <a:ext uri="{FF2B5EF4-FFF2-40B4-BE49-F238E27FC236}">
                      <a16:creationId xmlns:a16="http://schemas.microsoft.com/office/drawing/2014/main" id="{77D0064B-781E-DD56-9EC9-A14DA03FB11F}"/>
                    </a:ext>
                  </a:extLst>
                </p:cNvPr>
                <p:cNvPicPr/>
                <p:nvPr/>
              </p:nvPicPr>
              <p:blipFill>
                <a:blip r:embed="rId34"/>
                <a:stretch>
                  <a:fillRect/>
                </a:stretch>
              </p:blipFill>
              <p:spPr>
                <a:xfrm>
                  <a:off x="3731760" y="3537190"/>
                  <a:ext cx="178920" cy="204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8" name="Ink 27">
                  <a:extLst>
                    <a:ext uri="{FF2B5EF4-FFF2-40B4-BE49-F238E27FC236}">
                      <a16:creationId xmlns:a16="http://schemas.microsoft.com/office/drawing/2014/main" id="{600B9DA1-ECBF-48D9-6A3D-CEF2C54E7F12}"/>
                    </a:ext>
                  </a:extLst>
                </p14:cNvPr>
                <p14:cNvContentPartPr/>
                <p14:nvPr/>
              </p14:nvContentPartPr>
              <p14:xfrm>
                <a:off x="4106880" y="3549790"/>
                <a:ext cx="158040" cy="197640"/>
              </p14:xfrm>
            </p:contentPart>
          </mc:Choice>
          <mc:Fallback xmlns="">
            <p:pic>
              <p:nvPicPr>
                <p:cNvPr id="28" name="Ink 27">
                  <a:extLst>
                    <a:ext uri="{FF2B5EF4-FFF2-40B4-BE49-F238E27FC236}">
                      <a16:creationId xmlns:a16="http://schemas.microsoft.com/office/drawing/2014/main" id="{600B9DA1-ECBF-48D9-6A3D-CEF2C54E7F12}"/>
                    </a:ext>
                  </a:extLst>
                </p:cNvPr>
                <p:cNvPicPr/>
                <p:nvPr/>
              </p:nvPicPr>
              <p:blipFill>
                <a:blip r:embed="rId36"/>
                <a:stretch>
                  <a:fillRect/>
                </a:stretch>
              </p:blipFill>
              <p:spPr>
                <a:xfrm>
                  <a:off x="4088880" y="3531790"/>
                  <a:ext cx="193680" cy="233280"/>
                </a:xfrm>
                <a:prstGeom prst="rect">
                  <a:avLst/>
                </a:prstGeom>
              </p:spPr>
            </p:pic>
          </mc:Fallback>
        </mc:AlternateContent>
      </p:grpSp>
    </p:spTree>
    <p:extLst>
      <p:ext uri="{BB962C8B-B14F-4D97-AF65-F5344CB8AC3E}">
        <p14:creationId xmlns:p14="http://schemas.microsoft.com/office/powerpoint/2010/main" val="1778181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21039</TotalTime>
  <Words>2797</Words>
  <Application>Microsoft Office PowerPoint</Application>
  <PresentationFormat>On-screen Show (4:3)</PresentationFormat>
  <Paragraphs>425</Paragraphs>
  <Slides>32</Slides>
  <Notes>13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vt:lpstr>
      <vt:lpstr>Calibri Light</vt:lpstr>
      <vt:lpstr>Cambria Math</vt:lpstr>
      <vt:lpstr>Wingdings</vt:lpstr>
      <vt:lpstr>Office Theme</vt:lpstr>
      <vt:lpstr>CS 5/7320  Artificial Intelligence  Solving problems by searching AIMA Chapter 3</vt:lpstr>
      <vt:lpstr>Assignment 1</vt:lpstr>
      <vt:lpstr>Module Review</vt:lpstr>
      <vt:lpstr>Definition of a Search Problem</vt:lpstr>
      <vt:lpstr>Complete Planning Agent to Solve a Maze</vt:lpstr>
      <vt:lpstr>Solving Search Problems</vt:lpstr>
      <vt:lpstr>Creating a Search Tree</vt:lpstr>
      <vt:lpstr>Differences Between Typical Tree Search and AI Search</vt:lpstr>
      <vt:lpstr>State Space</vt:lpstr>
      <vt:lpstr>State Space vs. Search Tree Size</vt:lpstr>
      <vt:lpstr>State Space Size Estimation</vt:lpstr>
      <vt:lpstr>Examples: What is the State Space Size?</vt:lpstr>
      <vt:lpstr>Examples: What is the State Space Size?</vt:lpstr>
      <vt:lpstr>Example: What determines the Search Tree Size?</vt:lpstr>
      <vt:lpstr>Examples: What determines the  Search Tree Size?</vt:lpstr>
      <vt:lpstr>Examples: What determines the  Search Tree Size?</vt:lpstr>
      <vt:lpstr>Uninformed Algorithms</vt:lpstr>
      <vt:lpstr>Breadth-First Search (BFS)</vt:lpstr>
      <vt:lpstr>Implementation: Best-First Search Strategy</vt:lpstr>
      <vt:lpstr>Depth-First Search (DFS)</vt:lpstr>
      <vt:lpstr>Iterative Deepening Search (IDS)</vt:lpstr>
      <vt:lpstr>Implementation: DFS (called iteratively by IDS)</vt:lpstr>
      <vt:lpstr>Summary:  All Search Strategies</vt:lpstr>
      <vt:lpstr>Module Review</vt:lpstr>
      <vt:lpstr>Assignment 2</vt:lpstr>
      <vt:lpstr>Summary:  All Search Strategies</vt:lpstr>
      <vt:lpstr>Properties of Heuristic Functions</vt:lpstr>
      <vt:lpstr>Implementation</vt:lpstr>
      <vt:lpstr>Heuristics from Relaxed Problems</vt:lpstr>
      <vt:lpstr>A* Search Optimality: Admissible Heuristics</vt:lpstr>
      <vt:lpstr>Satisficing Search: Weighted A* Search</vt:lpstr>
      <vt:lpstr>Case Study: A Heuristic for Tic-Tac-Toe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problems by searching</dc:title>
  <dc:creator>michael</dc:creator>
  <cp:lastModifiedBy>Hahsler, Michael</cp:lastModifiedBy>
  <cp:revision>170</cp:revision>
  <dcterms:created xsi:type="dcterms:W3CDTF">2020-09-15T14:04:03Z</dcterms:created>
  <dcterms:modified xsi:type="dcterms:W3CDTF">2026-02-13T16:34:04Z</dcterms:modified>
</cp:coreProperties>
</file>